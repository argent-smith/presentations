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JetBrains Mono SemiBold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SemiBold-bold.fntdata"/><Relationship Id="rId11" Type="http://schemas.openxmlformats.org/officeDocument/2006/relationships/slide" Target="slides/slide7.xml"/><Relationship Id="rId22" Type="http://schemas.openxmlformats.org/officeDocument/2006/relationships/font" Target="fonts/JetBrainsMonoSemiBold-boldItalic.fntdata"/><Relationship Id="rId10" Type="http://schemas.openxmlformats.org/officeDocument/2006/relationships/slide" Target="slides/slide6.xml"/><Relationship Id="rId21" Type="http://schemas.openxmlformats.org/officeDocument/2006/relationships/font" Target="fonts/JetBrainsMonoSemiBold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slide" Target="slides/slide1.xml"/><Relationship Id="rId19" Type="http://schemas.openxmlformats.org/officeDocument/2006/relationships/font" Target="fonts/JetBrainsMonoSemiBold-regular.fntdata"/><Relationship Id="rId6" Type="http://schemas.openxmlformats.org/officeDocument/2006/relationships/slide" Target="slides/slide2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88dccd53a6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88dccd53a6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g388dccd53a6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8dccd53a6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88dccd53a6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g388dccd53a6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8dccd53a6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88dccd53a6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g388dccd53a6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8dccd53a6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88dccd53a6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88dccd53a6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8dccd53a6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88dccd53a6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88dccd53a6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8dccd53a6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88dccd53a6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388dccd53a6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8dccd53a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88dccd53a6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88dccd53a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8.jp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7.jp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7.jpg"/><Relationship Id="rId5" Type="http://schemas.openxmlformats.org/officeDocument/2006/relationships/image" Target="../media/image5.png"/><Relationship Id="rId6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7.jp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7.jpg"/><Relationship Id="rId5" Type="http://schemas.openxmlformats.org/officeDocument/2006/relationships/image" Target="../media/image5.png"/><Relationship Id="rId6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7.jpg"/><Relationship Id="rId5" Type="http://schemas.openxmlformats.org/officeDocument/2006/relationships/image" Target="../media/image5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7.jpg"/><Relationship Id="rId5" Type="http://schemas.openxmlformats.org/officeDocument/2006/relationships/image" Target="../media/image5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7.jpg"/><Relationship Id="rId5" Type="http://schemas.openxmlformats.org/officeDocument/2006/relationships/image" Target="../media/image5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8.jp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725" y="4438650"/>
            <a:ext cx="1620441" cy="518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063" y="242888"/>
            <a:ext cx="4062412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6712" y="0"/>
            <a:ext cx="496728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466725" y="2446823"/>
            <a:ext cx="54578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614"/>
              </a:lnSpc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2833"/>
              <a:buFont typeface="Montserrat"/>
              <a:buNone/>
            </a:pPr>
            <a:r>
              <a:rPr b="1" i="0" lang="en-US" sz="2833" u="none" cap="none" strike="noStrike">
                <a:solidFill>
                  <a:srgbClr val="00C8FF"/>
                </a:solidFill>
                <a:latin typeface="Montserrat"/>
                <a:ea typeface="Montserrat"/>
                <a:cs typeface="Montserrat"/>
                <a:sym typeface="Montserrat"/>
              </a:rPr>
              <a:t>IT-КОНФЕРЕНЦИЯ MERGE</a:t>
            </a:r>
            <a:endParaRPr b="0" i="0" sz="28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66725" y="2280697"/>
            <a:ext cx="4976813" cy="233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7"/>
              </a:lnSpc>
              <a:spcBef>
                <a:spcPts val="0"/>
              </a:spcBef>
              <a:spcAft>
                <a:spcPts val="0"/>
              </a:spcAft>
              <a:buClr>
                <a:srgbClr val="34343C"/>
              </a:buClr>
              <a:buSzPts val="1455"/>
              <a:buFont typeface="Montserrat"/>
              <a:buNone/>
            </a:pPr>
            <a:r>
              <a:rPr b="1" i="0" lang="en-US" sz="1455" u="none" cap="none" strike="noStrike">
                <a:solidFill>
                  <a:srgbClr val="34343C"/>
                </a:solidFill>
                <a:latin typeface="Montserrat"/>
                <a:ea typeface="Montserrat"/>
                <a:cs typeface="Montserrat"/>
                <a:sym typeface="Montserrat"/>
              </a:rPr>
              <a:t>ПРОФЕССИОНАЛЬНАЯ МЕЖРЕГИОНАЛЬНАЯ 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/>
          <p:nvPr/>
        </p:nvSpPr>
        <p:spPr>
          <a:xfrm>
            <a:off x="6557963" y="209550"/>
            <a:ext cx="2514600" cy="185738"/>
          </a:xfrm>
          <a:prstGeom prst="roundRect">
            <a:avLst>
              <a:gd fmla="val 24328" name="adj"/>
            </a:avLst>
          </a:prstGeom>
          <a:solidFill>
            <a:srgbClr val="00C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4" title="DSC07303.jpeg"/>
          <p:cNvPicPr preferRelativeResize="0"/>
          <p:nvPr/>
        </p:nvPicPr>
        <p:blipFill rotWithShape="1">
          <a:blip r:embed="rId4">
            <a:alphaModFix/>
          </a:blip>
          <a:srcRect b="0" l="26300" r="26295" t="0"/>
          <a:stretch/>
        </p:blipFill>
        <p:spPr>
          <a:xfrm>
            <a:off x="6557963" y="1595438"/>
            <a:ext cx="2409825" cy="3395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" name="Google Shape;2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425" y="204788"/>
            <a:ext cx="5172075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" name="Google Shape;3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875" y="4405313"/>
            <a:ext cx="1390650" cy="445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" name="Google Shape;31;p4"/>
          <p:cNvPicPr preferRelativeResize="0"/>
          <p:nvPr/>
        </p:nvPicPr>
        <p:blipFill rotWithShape="1">
          <a:blip r:embed="rId7">
            <a:alphaModFix/>
          </a:blip>
          <a:srcRect b="50646" l="0" r="0" t="0"/>
          <a:stretch/>
        </p:blipFill>
        <p:spPr>
          <a:xfrm>
            <a:off x="2318850" y="4224696"/>
            <a:ext cx="3663350" cy="91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352425" y="1500188"/>
            <a:ext cx="62817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C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34343C"/>
                </a:solidFill>
                <a:latin typeface="Montserrat"/>
                <a:ea typeface="Montserrat"/>
                <a:cs typeface="Montserrat"/>
                <a:sym typeface="Montserrat"/>
              </a:rPr>
              <a:t>КАПЛЯ ФП В МИРЕ ЛОШАДЕЙ</a:t>
            </a:r>
            <a:endParaRPr b="1" sz="2400">
              <a:solidFill>
                <a:srgbClr val="34343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C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34343C"/>
                </a:solidFill>
                <a:latin typeface="Montserrat"/>
                <a:ea typeface="Montserrat"/>
                <a:cs typeface="Montserrat"/>
                <a:sym typeface="Montserrat"/>
              </a:rPr>
              <a:t>И ХОМЯЧКОВ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52425" y="3205175"/>
            <a:ext cx="55551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722"/>
              </a:lnSpc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800"/>
              <a:buFont typeface="Montserrat"/>
              <a:buNone/>
            </a:pPr>
            <a:r>
              <a:rPr b="1" i="1" lang="en-US" sz="1800">
                <a:solidFill>
                  <a:srgbClr val="00C8FF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Программирование — это то, что вы делаете неправильно (Дж. Маккарти)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76254" y="1343025"/>
            <a:ext cx="27099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28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1"/>
              <a:buFont typeface="Montserrat"/>
              <a:buNone/>
            </a:pPr>
            <a:r>
              <a:rPr b="1" lang="en-US" sz="1101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Алгебра и промышленность</a:t>
            </a:r>
            <a:endParaRPr b="0" i="0" sz="11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495088" y="492925"/>
            <a:ext cx="20766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8417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63"/>
              <a:buFont typeface="Montserrat"/>
              <a:buNone/>
            </a:pPr>
            <a:r>
              <a:rPr b="1" lang="en-US" sz="1163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Разработчик, ментор</a:t>
            </a:r>
            <a:endParaRPr b="0" i="0" sz="11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475075" y="709625"/>
            <a:ext cx="1964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00C8FF"/>
                </a:solidFill>
                <a:latin typeface="Montserrat"/>
                <a:ea typeface="Montserrat"/>
                <a:cs typeface="Montserrat"/>
                <a:sym typeface="Montserrat"/>
              </a:rPr>
              <a:t>Аргентов</a:t>
            </a:r>
            <a:endParaRPr b="1" sz="2400">
              <a:solidFill>
                <a:srgbClr val="00C8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34343C"/>
                </a:solidFill>
                <a:latin typeface="Montserrat"/>
                <a:ea typeface="Montserrat"/>
                <a:cs typeface="Montserrat"/>
                <a:sym typeface="Montserrat"/>
              </a:rPr>
              <a:t>Павел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557975" y="209550"/>
            <a:ext cx="2514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2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Montserrat"/>
              <a:buNone/>
            </a:pPr>
            <a:r>
              <a:rPr b="1" lang="en-US" sz="91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EVRONE</a:t>
            </a:r>
            <a:endParaRPr b="0" i="0" sz="9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3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5" title="Evrone-42.jpeg"/>
          <p:cNvPicPr preferRelativeResize="0"/>
          <p:nvPr/>
        </p:nvPicPr>
        <p:blipFill rotWithShape="1">
          <a:blip r:embed="rId4">
            <a:alphaModFix/>
          </a:blip>
          <a:srcRect b="52031" l="51243" r="17127" t="-4058"/>
          <a:stretch/>
        </p:blipFill>
        <p:spPr>
          <a:xfrm>
            <a:off x="6292700" y="40775"/>
            <a:ext cx="426675" cy="4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6796088" y="300038"/>
            <a:ext cx="1709738" cy="119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1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Montserrat"/>
              <a:buNone/>
            </a:pPr>
            <a:r>
              <a:rPr b="1" lang="en-US" sz="9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FP Guru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796088" y="157163"/>
            <a:ext cx="1085850" cy="119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1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Montserrat"/>
              <a:buNone/>
            </a:pPr>
            <a:r>
              <a:rPr b="1" lang="en-US" sz="9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Evrone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" name="Google Shape;4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90488"/>
            <a:ext cx="9144001" cy="5053013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/>
          <p:nvPr/>
        </p:nvSpPr>
        <p:spPr>
          <a:xfrm>
            <a:off x="338138" y="769812"/>
            <a:ext cx="6281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916"/>
              </a:lnSpc>
              <a:spcBef>
                <a:spcPts val="0"/>
              </a:spcBef>
              <a:spcAft>
                <a:spcPts val="0"/>
              </a:spcAft>
              <a:buClr>
                <a:srgbClr val="34343C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34343C"/>
                </a:solidFill>
                <a:latin typeface="Montserrat"/>
                <a:ea typeface="Montserrat"/>
                <a:cs typeface="Montserrat"/>
                <a:sym typeface="Montserrat"/>
              </a:rPr>
              <a:t>ЧТО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338150" y="1277600"/>
            <a:ext cx="4703100" cy="3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625"/>
              <a:buFont typeface="Montserrat"/>
              <a:buAutoNum type="arabicPeriod"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Проблемы машин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625"/>
              <a:buFont typeface="Montserrat"/>
              <a:buAutoNum type="arabicPeriod"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Проблемы людей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625"/>
              <a:buFont typeface="Montserrat"/>
              <a:buAutoNum type="arabicPeriod"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Капля ФП расширяет сознание лошади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625"/>
              <a:buFont typeface="Montserrat"/>
              <a:buAutoNum type="arabicPeriod"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А хомячка разрывает на части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625"/>
              <a:buFont typeface="Montserrat"/>
              <a:buAutoNum type="arabicPeriod"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ФП в реальности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625"/>
              <a:buFont typeface="Montserrat"/>
              <a:buAutoNum type="arabicPeriod"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De beneficia mentis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Montserrat"/>
              <a:buNone/>
            </a:pPr>
            <a:r>
              <a:t/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" name="Google Shape;50;p5"/>
          <p:cNvPicPr preferRelativeResize="0"/>
          <p:nvPr/>
        </p:nvPicPr>
        <p:blipFill rotWithShape="1">
          <a:blip r:embed="rId6">
            <a:alphaModFix/>
          </a:blip>
          <a:srcRect b="0" l="6707" r="0" t="0"/>
          <a:stretch/>
        </p:blipFill>
        <p:spPr>
          <a:xfrm>
            <a:off x="5142247" y="769800"/>
            <a:ext cx="3673778" cy="413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3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 title="Evrone-42.jpeg"/>
          <p:cNvPicPr preferRelativeResize="0"/>
          <p:nvPr/>
        </p:nvPicPr>
        <p:blipFill rotWithShape="1">
          <a:blip r:embed="rId4">
            <a:alphaModFix/>
          </a:blip>
          <a:srcRect b="52031" l="51243" r="17127" t="-4058"/>
          <a:stretch/>
        </p:blipFill>
        <p:spPr>
          <a:xfrm>
            <a:off x="6292700" y="40775"/>
            <a:ext cx="426675" cy="4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/>
          <p:nvPr/>
        </p:nvSpPr>
        <p:spPr>
          <a:xfrm>
            <a:off x="6796088" y="300038"/>
            <a:ext cx="17097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1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Montserrat"/>
              <a:buNone/>
            </a:pPr>
            <a:r>
              <a:rPr b="1" lang="en-US" sz="9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FP Guru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6796088" y="157163"/>
            <a:ext cx="10860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1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Montserrat"/>
              <a:buNone/>
            </a:pPr>
            <a:r>
              <a:rPr b="1" lang="en-US" sz="9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Evrone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90488"/>
            <a:ext cx="9144001" cy="505301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/>
          <p:nvPr/>
        </p:nvSpPr>
        <p:spPr>
          <a:xfrm>
            <a:off x="338138" y="769812"/>
            <a:ext cx="6281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916"/>
              </a:lnSpc>
              <a:spcBef>
                <a:spcPts val="0"/>
              </a:spcBef>
              <a:spcAft>
                <a:spcPts val="0"/>
              </a:spcAft>
              <a:buClr>
                <a:srgbClr val="34343C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34343C"/>
                </a:solidFill>
                <a:latin typeface="Montserrat"/>
                <a:ea typeface="Montserrat"/>
                <a:cs typeface="Montserrat"/>
                <a:sym typeface="Montserrat"/>
              </a:rPr>
              <a:t>ПРОБЛЕМЫ МАШИН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338150" y="1277600"/>
            <a:ext cx="4703100" cy="3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625"/>
              <a:buFont typeface="Montserrat"/>
              <a:buChar char="●"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Аппаратура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625"/>
              <a:buFont typeface="Montserrat"/>
              <a:buChar char="●"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Люди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" name="Google Shape;63;p6"/>
          <p:cNvPicPr preferRelativeResize="0"/>
          <p:nvPr/>
        </p:nvPicPr>
        <p:blipFill rotWithShape="1">
          <a:blip r:embed="rId6">
            <a:alphaModFix/>
          </a:blip>
          <a:srcRect b="2589" l="4765" r="3051" t="1145"/>
          <a:stretch/>
        </p:blipFill>
        <p:spPr>
          <a:xfrm>
            <a:off x="5426086" y="769800"/>
            <a:ext cx="3535514" cy="413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3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" title="Evrone-42.jpeg"/>
          <p:cNvPicPr preferRelativeResize="0"/>
          <p:nvPr/>
        </p:nvPicPr>
        <p:blipFill rotWithShape="1">
          <a:blip r:embed="rId4">
            <a:alphaModFix/>
          </a:blip>
          <a:srcRect b="52031" l="51243" r="17127" t="-4058"/>
          <a:stretch/>
        </p:blipFill>
        <p:spPr>
          <a:xfrm>
            <a:off x="6292700" y="40775"/>
            <a:ext cx="426675" cy="4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7"/>
          <p:cNvSpPr/>
          <p:nvPr/>
        </p:nvSpPr>
        <p:spPr>
          <a:xfrm>
            <a:off x="6796088" y="300038"/>
            <a:ext cx="17097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1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Montserrat"/>
              <a:buNone/>
            </a:pPr>
            <a:r>
              <a:rPr b="1" lang="en-US" sz="9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FP Guru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6796088" y="157163"/>
            <a:ext cx="10860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1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Montserrat"/>
              <a:buNone/>
            </a:pPr>
            <a:r>
              <a:rPr b="1" lang="en-US" sz="9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Evrone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90488"/>
            <a:ext cx="9144001" cy="505301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7"/>
          <p:cNvSpPr/>
          <p:nvPr/>
        </p:nvSpPr>
        <p:spPr>
          <a:xfrm>
            <a:off x="338138" y="769812"/>
            <a:ext cx="6281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916"/>
              </a:lnSpc>
              <a:spcBef>
                <a:spcPts val="0"/>
              </a:spcBef>
              <a:spcAft>
                <a:spcPts val="0"/>
              </a:spcAft>
              <a:buClr>
                <a:srgbClr val="34343C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34343C"/>
                </a:solidFill>
                <a:latin typeface="Montserrat"/>
                <a:ea typeface="Montserrat"/>
                <a:cs typeface="Montserrat"/>
                <a:sym typeface="Montserrat"/>
              </a:rPr>
              <a:t>ПРОБЛЕМЫ ЛЮДЕЙ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338150" y="1277600"/>
            <a:ext cx="4703100" cy="3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625"/>
              <a:buFont typeface="Montserrat"/>
              <a:buChar char="●"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Когнитивная сложность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625"/>
              <a:buFont typeface="Montserrat"/>
              <a:buChar char="●"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Сложность алгоритмов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625"/>
              <a:buFont typeface="Montserrat"/>
              <a:buChar char="●"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Сложность данных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625"/>
              <a:buFont typeface="Montserrat"/>
              <a:buChar char="●"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Сложность состояний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625"/>
              <a:buFont typeface="Montserrat"/>
              <a:buChar char="●"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Сложность параллелизма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625"/>
              <a:buFont typeface="Montserrat"/>
              <a:buChar char="●"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Сложность задачи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625"/>
              <a:buFont typeface="Montserrat"/>
              <a:buChar char="●"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(собственная и привнесенная)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Montserrat"/>
              <a:buNone/>
            </a:pPr>
            <a:r>
              <a:t/>
            </a:r>
            <a:endParaRPr b="1" sz="1125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" name="Google Shape;76;p7"/>
          <p:cNvPicPr preferRelativeResize="0"/>
          <p:nvPr/>
        </p:nvPicPr>
        <p:blipFill rotWithShape="1">
          <a:blip r:embed="rId6">
            <a:alphaModFix/>
          </a:blip>
          <a:srcRect b="0" l="2163" r="7322" t="0"/>
          <a:stretch/>
        </p:blipFill>
        <p:spPr>
          <a:xfrm>
            <a:off x="5255173" y="726025"/>
            <a:ext cx="3673802" cy="413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2" name="Google Shape;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3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8" title="Evrone-42.jpeg"/>
          <p:cNvPicPr preferRelativeResize="0"/>
          <p:nvPr/>
        </p:nvPicPr>
        <p:blipFill rotWithShape="1">
          <a:blip r:embed="rId4">
            <a:alphaModFix/>
          </a:blip>
          <a:srcRect b="52031" l="51243" r="17127" t="-4058"/>
          <a:stretch/>
        </p:blipFill>
        <p:spPr>
          <a:xfrm>
            <a:off x="6292700" y="40775"/>
            <a:ext cx="426675" cy="4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/>
          <p:nvPr/>
        </p:nvSpPr>
        <p:spPr>
          <a:xfrm>
            <a:off x="6796088" y="300038"/>
            <a:ext cx="17097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1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Montserrat"/>
              <a:buNone/>
            </a:pPr>
            <a:r>
              <a:rPr b="1" lang="en-US" sz="9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FP Guru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6796088" y="157163"/>
            <a:ext cx="10860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1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Montserrat"/>
              <a:buNone/>
            </a:pPr>
            <a:r>
              <a:rPr b="1" lang="en-US" sz="9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Evrone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90488"/>
            <a:ext cx="9144001" cy="505301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/>
          <p:nvPr/>
        </p:nvSpPr>
        <p:spPr>
          <a:xfrm>
            <a:off x="338138" y="769812"/>
            <a:ext cx="6281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916"/>
              </a:lnSpc>
              <a:spcBef>
                <a:spcPts val="0"/>
              </a:spcBef>
              <a:spcAft>
                <a:spcPts val="0"/>
              </a:spcAft>
              <a:buClr>
                <a:srgbClr val="34343C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34343C"/>
                </a:solidFill>
                <a:latin typeface="Montserrat"/>
                <a:ea typeface="Montserrat"/>
                <a:cs typeface="Montserrat"/>
                <a:sym typeface="Montserrat"/>
              </a:rPr>
              <a:t>ЧТО В ФП ВИДИТ ЛОШАДЬ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338150" y="1277600"/>
            <a:ext cx="4703100" cy="3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Когнитивная сложность</a:t>
            </a:r>
            <a:endParaRPr b="1" sz="1625">
              <a:solidFill>
                <a:srgbClr val="77777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ДЕКЛАРАТИВНОСТЬ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А</a:t>
            </a:r>
            <a:r>
              <a:rPr b="1" lang="en-US" sz="1625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лгоритмы</a:t>
            </a:r>
            <a:endParaRPr b="1" sz="1625">
              <a:solidFill>
                <a:srgbClr val="77777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ФУНКЦИИ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Данные</a:t>
            </a:r>
            <a:endParaRPr b="1" sz="1625">
              <a:solidFill>
                <a:srgbClr val="77777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ИММУТАБЕЛЬНОСТЬ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С</a:t>
            </a:r>
            <a:r>
              <a:rPr b="1" lang="en-US" sz="1625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остояния и параллелизм</a:t>
            </a:r>
            <a:endParaRPr b="1" sz="1625">
              <a:solidFill>
                <a:srgbClr val="77777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ЭФФЕКТЫ и МОНАДЫ *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Задачи</a:t>
            </a:r>
            <a:endParaRPr b="1" sz="1625">
              <a:solidFill>
                <a:srgbClr val="77777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2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ФУНКЦИОНАЛЬНАЯ ДЕКОМПОЗИЦИЯ</a:t>
            </a:r>
            <a:endParaRPr b="1" sz="162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6">
            <a:alphaModFix/>
          </a:blip>
          <a:srcRect b="11871" l="0" r="5633" t="8511"/>
          <a:stretch/>
        </p:blipFill>
        <p:spPr>
          <a:xfrm>
            <a:off x="5244825" y="769800"/>
            <a:ext cx="3673780" cy="413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3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9" title="Evrone-42.jpeg"/>
          <p:cNvPicPr preferRelativeResize="0"/>
          <p:nvPr/>
        </p:nvPicPr>
        <p:blipFill rotWithShape="1">
          <a:blip r:embed="rId4">
            <a:alphaModFix/>
          </a:blip>
          <a:srcRect b="52031" l="51243" r="17127" t="-4058"/>
          <a:stretch/>
        </p:blipFill>
        <p:spPr>
          <a:xfrm>
            <a:off x="6292700" y="40775"/>
            <a:ext cx="426675" cy="4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9"/>
          <p:cNvSpPr/>
          <p:nvPr/>
        </p:nvSpPr>
        <p:spPr>
          <a:xfrm>
            <a:off x="6796088" y="300038"/>
            <a:ext cx="17097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1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Montserrat"/>
              <a:buNone/>
            </a:pPr>
            <a:r>
              <a:rPr b="1" lang="en-US" sz="9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FP Guru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6796088" y="157163"/>
            <a:ext cx="10860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1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Montserrat"/>
              <a:buNone/>
            </a:pPr>
            <a:r>
              <a:rPr b="1" lang="en-US" sz="9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Evrone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90488"/>
            <a:ext cx="9144001" cy="5053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/>
          <p:cNvSpPr/>
          <p:nvPr/>
        </p:nvSpPr>
        <p:spPr>
          <a:xfrm>
            <a:off x="338138" y="769812"/>
            <a:ext cx="6281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916"/>
              </a:lnSpc>
              <a:spcBef>
                <a:spcPts val="0"/>
              </a:spcBef>
              <a:spcAft>
                <a:spcPts val="0"/>
              </a:spcAft>
              <a:buClr>
                <a:srgbClr val="34343C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34343C"/>
                </a:solidFill>
                <a:latin typeface="Montserrat"/>
                <a:ea typeface="Montserrat"/>
                <a:cs typeface="Montserrat"/>
                <a:sym typeface="Montserrat"/>
              </a:rPr>
              <a:t>ЧТО В ФП ВИДИТ ХОМЯК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338150" y="1277600"/>
            <a:ext cx="4703100" cy="3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Алгебра, семантика, композиция</a:t>
            </a:r>
            <a:endParaRPr b="1" sz="1625">
              <a:solidFill>
                <a:srgbClr val="77777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НАЛОГ НА МОЗГ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Самообучение</a:t>
            </a:r>
            <a:endParaRPr b="1" sz="1625">
              <a:solidFill>
                <a:srgbClr val="77777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УЛЬТРАНАСИЛИЕ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Позиционирование на рынке труда</a:t>
            </a:r>
            <a:endParaRPr b="1" sz="1625">
              <a:solidFill>
                <a:srgbClr val="77777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ВАКУУМ</a:t>
            </a:r>
            <a:endParaRPr b="1" sz="1625"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Бизнес и администрация</a:t>
            </a:r>
            <a:endParaRPr b="1" sz="1625">
              <a:solidFill>
                <a:srgbClr val="77777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25">
                <a:latin typeface="Montserrat"/>
                <a:ea typeface="Montserrat"/>
                <a:cs typeface="Montserrat"/>
                <a:sym typeface="Montserrat"/>
              </a:rPr>
              <a:t>ШОК ХОРРОР ГРОБ МОГИЛА</a:t>
            </a:r>
            <a:endParaRPr b="1" sz="162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" name="Google Shape;102;p9"/>
          <p:cNvPicPr preferRelativeResize="0"/>
          <p:nvPr/>
        </p:nvPicPr>
        <p:blipFill rotWithShape="1">
          <a:blip r:embed="rId6">
            <a:alphaModFix/>
          </a:blip>
          <a:srcRect b="0" l="17309" r="15886" t="0"/>
          <a:stretch/>
        </p:blipFill>
        <p:spPr>
          <a:xfrm>
            <a:off x="5280475" y="769800"/>
            <a:ext cx="3673794" cy="413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8" name="Google Shape;10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3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0" title="Evrone-42.jpeg"/>
          <p:cNvPicPr preferRelativeResize="0"/>
          <p:nvPr/>
        </p:nvPicPr>
        <p:blipFill rotWithShape="1">
          <a:blip r:embed="rId4">
            <a:alphaModFix/>
          </a:blip>
          <a:srcRect b="52031" l="51243" r="17127" t="-4058"/>
          <a:stretch/>
        </p:blipFill>
        <p:spPr>
          <a:xfrm>
            <a:off x="6292700" y="40775"/>
            <a:ext cx="426675" cy="4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0"/>
          <p:cNvSpPr/>
          <p:nvPr/>
        </p:nvSpPr>
        <p:spPr>
          <a:xfrm>
            <a:off x="6796088" y="300038"/>
            <a:ext cx="17097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1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Montserrat"/>
              <a:buNone/>
            </a:pPr>
            <a:r>
              <a:rPr b="1" lang="en-US" sz="9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FP Guru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6796088" y="157163"/>
            <a:ext cx="10860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1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Montserrat"/>
              <a:buNone/>
            </a:pPr>
            <a:r>
              <a:rPr b="1" lang="en-US" sz="9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Evrone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90488"/>
            <a:ext cx="9144001" cy="5053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0"/>
          <p:cNvSpPr/>
          <p:nvPr/>
        </p:nvSpPr>
        <p:spPr>
          <a:xfrm>
            <a:off x="338138" y="769812"/>
            <a:ext cx="6281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916"/>
              </a:lnSpc>
              <a:spcBef>
                <a:spcPts val="0"/>
              </a:spcBef>
              <a:spcAft>
                <a:spcPts val="0"/>
              </a:spcAft>
              <a:buClr>
                <a:srgbClr val="34343C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34343C"/>
                </a:solidFill>
                <a:latin typeface="Montserrat"/>
                <a:ea typeface="Montserrat"/>
                <a:cs typeface="Montserrat"/>
                <a:sym typeface="Montserrat"/>
              </a:rPr>
              <a:t>ФП В РЕАЛЬНОСТИ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338150" y="1277600"/>
            <a:ext cx="4703100" cy="3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Стиль проверен временем</a:t>
            </a:r>
            <a:endParaRPr b="1" sz="162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ФП есть в любом языке *</a:t>
            </a:r>
            <a:endParaRPr b="1" sz="162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ФП-языки легки и прекрасны</a:t>
            </a:r>
            <a:endParaRPr b="1" sz="162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DDD и DSL</a:t>
            </a:r>
            <a:endParaRPr b="1" sz="162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Документация и пособия в открытом доступе</a:t>
            </a:r>
            <a:endParaRPr b="1" sz="162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2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6">
            <a:alphaModFix/>
          </a:blip>
          <a:srcRect b="5322" l="0" r="3846" t="807"/>
          <a:stretch/>
        </p:blipFill>
        <p:spPr>
          <a:xfrm>
            <a:off x="5291050" y="769800"/>
            <a:ext cx="3673769" cy="413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3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1" title="Evrone-42.jpeg"/>
          <p:cNvPicPr preferRelativeResize="0"/>
          <p:nvPr/>
        </p:nvPicPr>
        <p:blipFill rotWithShape="1">
          <a:blip r:embed="rId4">
            <a:alphaModFix/>
          </a:blip>
          <a:srcRect b="52031" l="51243" r="17127" t="-4058"/>
          <a:stretch/>
        </p:blipFill>
        <p:spPr>
          <a:xfrm>
            <a:off x="6292700" y="40775"/>
            <a:ext cx="426675" cy="4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1"/>
          <p:cNvSpPr/>
          <p:nvPr/>
        </p:nvSpPr>
        <p:spPr>
          <a:xfrm>
            <a:off x="6796088" y="300038"/>
            <a:ext cx="17097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1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Montserrat"/>
              <a:buNone/>
            </a:pPr>
            <a:r>
              <a:rPr b="1" lang="en-US" sz="9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FP Guru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6796088" y="157163"/>
            <a:ext cx="10860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1333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Montserrat"/>
              <a:buNone/>
            </a:pPr>
            <a:r>
              <a:rPr b="1" lang="en-US" sz="900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Evrone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90488"/>
            <a:ext cx="9144001" cy="505301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/>
          <p:nvPr/>
        </p:nvSpPr>
        <p:spPr>
          <a:xfrm>
            <a:off x="338138" y="769812"/>
            <a:ext cx="6281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916"/>
              </a:lnSpc>
              <a:spcBef>
                <a:spcPts val="0"/>
              </a:spcBef>
              <a:spcAft>
                <a:spcPts val="0"/>
              </a:spcAft>
              <a:buClr>
                <a:srgbClr val="34343C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34343C"/>
                </a:solidFill>
                <a:latin typeface="Montserrat"/>
                <a:ea typeface="Montserrat"/>
                <a:cs typeface="Montserrat"/>
                <a:sym typeface="Montserrat"/>
              </a:rPr>
              <a:t>DE BENEFICIA MENTIS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1"/>
          <p:cNvSpPr/>
          <p:nvPr/>
        </p:nvSpPr>
        <p:spPr>
          <a:xfrm>
            <a:off x="338150" y="1277600"/>
            <a:ext cx="4703100" cy="3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Мозг полезен</a:t>
            </a:r>
            <a:endParaRPr b="1" sz="162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Ум влечет последствия</a:t>
            </a:r>
            <a:endParaRPr b="1" sz="162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ФП — фабрика качества кода</a:t>
            </a:r>
            <a:endParaRPr b="1" sz="162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ФП — школа программирования</a:t>
            </a:r>
            <a:endParaRPr b="1" sz="162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1787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5"/>
              <a:buFont typeface="Montserrat"/>
              <a:buChar char="●"/>
            </a:pPr>
            <a:r>
              <a:rPr b="1" lang="en-US" sz="162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Ум программиста — это актив</a:t>
            </a:r>
            <a:endParaRPr b="1" sz="162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2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8" name="Google Shape;128;p11"/>
          <p:cNvPicPr preferRelativeResize="0"/>
          <p:nvPr/>
        </p:nvPicPr>
        <p:blipFill rotWithShape="1">
          <a:blip r:embed="rId6">
            <a:alphaModFix/>
          </a:blip>
          <a:srcRect b="5322" l="0" r="3846" t="807"/>
          <a:stretch/>
        </p:blipFill>
        <p:spPr>
          <a:xfrm>
            <a:off x="5291050" y="769800"/>
            <a:ext cx="3673769" cy="413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4" name="Google Shape;13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2"/>
          <p:cNvSpPr/>
          <p:nvPr/>
        </p:nvSpPr>
        <p:spPr>
          <a:xfrm>
            <a:off x="6557963" y="209550"/>
            <a:ext cx="2514600" cy="185700"/>
          </a:xfrm>
          <a:prstGeom prst="roundRect">
            <a:avLst>
              <a:gd fmla="val 24328" name="adj"/>
            </a:avLst>
          </a:prstGeom>
          <a:solidFill>
            <a:srgbClr val="00C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2" title="DSC07303.jpeg"/>
          <p:cNvPicPr preferRelativeResize="0"/>
          <p:nvPr/>
        </p:nvPicPr>
        <p:blipFill rotWithShape="1">
          <a:blip r:embed="rId4">
            <a:alphaModFix/>
          </a:blip>
          <a:srcRect b="0" l="26300" r="26295" t="0"/>
          <a:stretch/>
        </p:blipFill>
        <p:spPr>
          <a:xfrm>
            <a:off x="6557963" y="1595438"/>
            <a:ext cx="2409825" cy="3395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425" y="204788"/>
            <a:ext cx="5172075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875" y="4405313"/>
            <a:ext cx="1390650" cy="445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12"/>
          <p:cNvPicPr preferRelativeResize="0"/>
          <p:nvPr/>
        </p:nvPicPr>
        <p:blipFill rotWithShape="1">
          <a:blip r:embed="rId7">
            <a:alphaModFix/>
          </a:blip>
          <a:srcRect b="50646" l="0" r="0" t="0"/>
          <a:stretch/>
        </p:blipFill>
        <p:spPr>
          <a:xfrm>
            <a:off x="2318850" y="4224696"/>
            <a:ext cx="3663350" cy="91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2"/>
          <p:cNvSpPr/>
          <p:nvPr/>
        </p:nvSpPr>
        <p:spPr>
          <a:xfrm>
            <a:off x="352425" y="3205175"/>
            <a:ext cx="55551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722"/>
              </a:lnSpc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800"/>
              <a:buFont typeface="Montserrat"/>
              <a:buNone/>
            </a:pPr>
            <a:r>
              <a:rPr b="1" i="1" lang="en-US" sz="1800">
                <a:solidFill>
                  <a:srgbClr val="00C8FF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Программирование — это то, что вы делаете неправильно (Дж. Маккарти)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6495088" y="492925"/>
            <a:ext cx="20766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8417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63"/>
              <a:buFont typeface="Montserrat"/>
              <a:buNone/>
            </a:pPr>
            <a:r>
              <a:rPr b="1" lang="en-US" sz="1163">
                <a:solidFill>
                  <a:srgbClr val="777777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Разработчик, ментор</a:t>
            </a:r>
            <a:endParaRPr b="0" i="0" sz="11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6475075" y="709625"/>
            <a:ext cx="1964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00C8FF"/>
                </a:solidFill>
                <a:latin typeface="Montserrat"/>
                <a:ea typeface="Montserrat"/>
                <a:cs typeface="Montserrat"/>
                <a:sym typeface="Montserrat"/>
              </a:rPr>
              <a:t>Аргентов</a:t>
            </a:r>
            <a:endParaRPr b="1" sz="2400">
              <a:solidFill>
                <a:srgbClr val="00C8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34343C"/>
                </a:solidFill>
                <a:latin typeface="Montserrat"/>
                <a:ea typeface="Montserrat"/>
                <a:cs typeface="Montserrat"/>
                <a:sym typeface="Montserrat"/>
              </a:rPr>
              <a:t>Павел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6557975" y="209550"/>
            <a:ext cx="2514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92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4"/>
              <a:buFont typeface="Montserrat"/>
              <a:buNone/>
            </a:pPr>
            <a:r>
              <a:rPr b="1" lang="en-US" sz="91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EVRONE</a:t>
            </a:r>
            <a:endParaRPr b="0" i="0" sz="9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2584175" y="738200"/>
            <a:ext cx="26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7777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argentoff@evrone.team</a:t>
            </a:r>
            <a:endParaRPr>
              <a:solidFill>
                <a:srgbClr val="777777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</p:txBody>
      </p:sp>
      <p:pic>
        <p:nvPicPr>
          <p:cNvPr id="145" name="Google Shape;145;p12" title="qr-cod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6275" y="576300"/>
            <a:ext cx="1964100" cy="196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
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Col>
    <a:lastRow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154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5" name="Shape 155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Уровень текста 1…"/>
          <p:cNvSpPr txBox="1"/>
          <p:nvPr>
            <p:ph type="body" sz="quarter" idx="1"/>
          </p:nvPr>
        </p:nvSpPr>
        <p:spPr>
          <a:xfrm>
            <a:off x="546120" y="2482200"/>
            <a:ext cx="3300480" cy="280447"/>
          </a:xfrm>
          <a:prstGeom prst="rect">
            <a:avLst/>
          </a:prstGeom>
        </p:spPr>
        <p:txBody>
          <a:bodyPr lIns="45699" tIns="45699" rIns="45699" bIns="45699"/>
          <a:lstStyle>
            <a:lvl1pPr indent="-274320">
              <a:buSzPts val="1600"/>
              <a:defRPr sz="1600"/>
            </a:lvl1pPr>
            <a:lvl2pPr indent="-304800">
              <a:buSzPts val="1600"/>
              <a:defRPr sz="1600"/>
            </a:lvl2pPr>
            <a:lvl3pPr indent="-274319">
              <a:buSzPts val="1600"/>
              <a:defRPr sz="1600"/>
            </a:lvl3pPr>
            <a:lvl4pPr indent="-304800">
              <a:buSzPts val="1600"/>
              <a:defRPr sz="1600"/>
            </a:lvl4pPr>
            <a:lvl5pPr marL="2286000" indent="-274320">
              <a:buSzPts val="1600"/>
              <a:defRPr sz="16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3" name="Google Shape;8;p53"/>
          <p:cNvSpPr txBox="1"/>
          <p:nvPr>
            <p:ph type="body" sz="quarter" idx="21"/>
          </p:nvPr>
        </p:nvSpPr>
        <p:spPr>
          <a:xfrm>
            <a:off x="546120" y="3295439"/>
            <a:ext cx="3300480" cy="280447"/>
          </a:xfrm>
          <a:prstGeom prst="rect">
            <a:avLst/>
          </a:prstGeom>
        </p:spPr>
        <p:txBody>
          <a:bodyPr lIns="45699" tIns="45699" rIns="45699" bIns="45699"/>
          <a:lstStyle/>
          <a:p>
            <a:pPr marL="448055" indent="-263231" defTabSz="896111">
              <a:spcBef>
                <a:spcPts val="1300"/>
              </a:spcBef>
              <a:buSzPts val="1300"/>
              <a:defRPr sz="1372"/>
            </a:pPr>
          </a:p>
        </p:txBody>
      </p:sp>
      <p:sp>
        <p:nvSpPr>
          <p:cNvPr id="14" name="Google Shape;9;p53"/>
          <p:cNvSpPr txBox="1"/>
          <p:nvPr>
            <p:ph type="body" sz="quarter" idx="22"/>
          </p:nvPr>
        </p:nvSpPr>
        <p:spPr>
          <a:xfrm>
            <a:off x="546114" y="4108320"/>
            <a:ext cx="4857133" cy="1662842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</a:p>
        </p:txBody>
      </p:sp>
      <p:sp>
        <p:nvSpPr>
          <p:cNvPr id="15" name="Google Shape;10;p53"/>
          <p:cNvSpPr txBox="1"/>
          <p:nvPr>
            <p:ph type="body" sz="quarter" idx="23"/>
          </p:nvPr>
        </p:nvSpPr>
        <p:spPr>
          <a:xfrm>
            <a:off x="546120" y="2888638"/>
            <a:ext cx="3300480" cy="280447"/>
          </a:xfrm>
          <a:prstGeom prst="rect">
            <a:avLst/>
          </a:prstGeom>
        </p:spPr>
        <p:txBody>
          <a:bodyPr lIns="45699" tIns="45699" rIns="45699" bIns="45699"/>
          <a:lstStyle/>
          <a:p>
            <a:pPr marL="448055" indent="-263231" defTabSz="896111">
              <a:spcBef>
                <a:spcPts val="1300"/>
              </a:spcBef>
              <a:buSzPts val="1300"/>
              <a:defRPr sz="1372"/>
            </a:pPr>
          </a:p>
        </p:txBody>
      </p:sp>
      <p:sp>
        <p:nvSpPr>
          <p:cNvPr id="16" name="Google Shape;11;p53"/>
          <p:cNvSpPr/>
          <p:nvPr/>
        </p:nvSpPr>
        <p:spPr>
          <a:xfrm>
            <a:off x="257034" y="242994"/>
            <a:ext cx="8189930" cy="63288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87" h="21600" fill="norm" stroke="1" extrusionOk="0">
                <a:moveTo>
                  <a:pt x="0" y="745"/>
                </a:moveTo>
                <a:cubicBezTo>
                  <a:pt x="0" y="334"/>
                  <a:pt x="218" y="0"/>
                  <a:pt x="488" y="0"/>
                </a:cubicBezTo>
                <a:lnTo>
                  <a:pt x="21100" y="94"/>
                </a:lnTo>
                <a:cubicBezTo>
                  <a:pt x="21369" y="94"/>
                  <a:pt x="21600" y="510"/>
                  <a:pt x="21427" y="1061"/>
                </a:cubicBezTo>
                <a:lnTo>
                  <a:pt x="16145" y="20855"/>
                </a:lnTo>
                <a:cubicBezTo>
                  <a:pt x="16000" y="21435"/>
                  <a:pt x="15927" y="21600"/>
                  <a:pt x="15657" y="21600"/>
                </a:cubicBezTo>
                <a:lnTo>
                  <a:pt x="488" y="21600"/>
                </a:lnTo>
                <a:cubicBezTo>
                  <a:pt x="218" y="21600"/>
                  <a:pt x="0" y="21266"/>
                  <a:pt x="0" y="20855"/>
                </a:cubicBezTo>
                <a:lnTo>
                  <a:pt x="0" y="745"/>
                </a:lnTo>
                <a:close/>
              </a:path>
            </a:pathLst>
          </a:custGeom>
          <a:ln w="12700">
            <a:solidFill>
              <a:srgbClr val="000000"/>
            </a:solidFill>
            <a:miter lim="8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7" name="Google Shape;12;p53"/>
          <p:cNvSpPr/>
          <p:nvPr/>
        </p:nvSpPr>
        <p:spPr>
          <a:xfrm rot="10800000">
            <a:off x="14759142" y="286199"/>
            <a:ext cx="5006662" cy="632880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4" h="21600" fill="norm" stroke="1" extrusionOk="0">
                <a:moveTo>
                  <a:pt x="0" y="745"/>
                </a:moveTo>
                <a:cubicBezTo>
                  <a:pt x="0" y="334"/>
                  <a:pt x="219" y="0"/>
                  <a:pt x="489" y="0"/>
                </a:cubicBezTo>
                <a:lnTo>
                  <a:pt x="21146" y="94"/>
                </a:lnTo>
                <a:cubicBezTo>
                  <a:pt x="21415" y="94"/>
                  <a:pt x="21600" y="389"/>
                  <a:pt x="21426" y="940"/>
                </a:cubicBezTo>
                <a:lnTo>
                  <a:pt x="12909" y="20709"/>
                </a:lnTo>
                <a:cubicBezTo>
                  <a:pt x="12674" y="21287"/>
                  <a:pt x="12272" y="21517"/>
                  <a:pt x="12002" y="21517"/>
                </a:cubicBezTo>
                <a:lnTo>
                  <a:pt x="489" y="21600"/>
                </a:lnTo>
                <a:cubicBezTo>
                  <a:pt x="219" y="21600"/>
                  <a:pt x="0" y="21266"/>
                  <a:pt x="0" y="20855"/>
                </a:cubicBezTo>
                <a:lnTo>
                  <a:pt x="0" y="745"/>
                </a:lnTo>
                <a:close/>
              </a:path>
            </a:pathLst>
          </a:custGeom>
          <a:ln w="12700">
            <a:solidFill>
              <a:srgbClr val="000000"/>
            </a:solidFill>
            <a:miter lim="8000"/>
          </a:ln>
        </p:spPr>
        <p:txBody>
          <a:bodyPr lIns="0" tIns="0" rIns="0" bIns="0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8" name="Google Shape;13;p53"/>
          <p:cNvSpPr txBox="1"/>
          <p:nvPr>
            <p:ph type="body" sz="half" idx="24"/>
          </p:nvPr>
        </p:nvSpPr>
        <p:spPr>
          <a:xfrm>
            <a:off x="6658919" y="250195"/>
            <a:ext cx="5192647" cy="6321251"/>
          </a:xfrm>
          <a:prstGeom prst="rect">
            <a:avLst/>
          </a:prstGeom>
          <a:ln w="9525">
            <a:solidFill>
              <a:srgbClr val="000000"/>
            </a:solidFill>
            <a:round/>
          </a:ln>
        </p:spPr>
        <p:txBody>
          <a:bodyPr lIns="45699" tIns="45699" rIns="45699" bIns="45699"/>
          <a:lstStyle/>
          <a:p>
            <a:pPr/>
          </a:p>
        </p:txBody>
      </p:sp>
      <p:pic>
        <p:nvPicPr>
          <p:cNvPr id="19" name="Google Shape;14;p53" descr="Google Shape;14;p5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46120" y="699479"/>
            <a:ext cx="3524040" cy="385564"/>
          </a:xfrm>
          <a:prstGeom prst="rect">
            <a:avLst/>
          </a:prstGeom>
          <a:ln w="12700">
            <a:miter lim="400000"/>
          </a:ln>
        </p:spPr>
      </p:pic>
      <p:sp>
        <p:nvSpPr>
          <p:cNvPr id="20" name="Google Shape;15;p53"/>
          <p:cNvSpPr txBox="1"/>
          <p:nvPr>
            <p:ph type="body" sz="quarter" idx="25"/>
          </p:nvPr>
        </p:nvSpPr>
        <p:spPr>
          <a:xfrm>
            <a:off x="546119" y="1261438"/>
            <a:ext cx="3728162" cy="280447"/>
          </a:xfrm>
          <a:prstGeom prst="rect">
            <a:avLst/>
          </a:prstGeom>
        </p:spPr>
        <p:txBody>
          <a:bodyPr lIns="45699" tIns="45699" rIns="45699" bIns="45699"/>
          <a:lstStyle/>
          <a:p>
            <a:pPr marL="448055" indent="-263231" defTabSz="896111">
              <a:spcBef>
                <a:spcPts val="1300"/>
              </a:spcBef>
              <a:buSzPts val="1300"/>
              <a:defRPr sz="1372"/>
            </a:pPr>
          </a:p>
        </p:txBody>
      </p:sp>
      <p:sp>
        <p:nvSpPr>
          <p:cNvPr id="21" name="Текст заголовка"/>
          <p:cNvSpPr txBox="1"/>
          <p:nvPr>
            <p:ph type="title"/>
          </p:nvPr>
        </p:nvSpPr>
        <p:spPr>
          <a:xfrm>
            <a:off x="609478" y="273598"/>
            <a:ext cx="10972084" cy="1144445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22" name="Номер слайда"/>
          <p:cNvSpPr txBox="1"/>
          <p:nvPr>
            <p:ph type="sldNum" sz="quarter" idx="2"/>
          </p:nvPr>
        </p:nvSpPr>
        <p:spPr>
          <a:xfrm>
            <a:off x="8463951" y="6224225"/>
            <a:ext cx="273653" cy="264251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о спикер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18;p54" descr="Google Shape;18;p5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3341400">
            <a:off x="-5028840" y="-1390682"/>
            <a:ext cx="12016442" cy="11230924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Уровень текста 1…"/>
          <p:cNvSpPr txBox="1"/>
          <p:nvPr>
            <p:ph type="body" sz="quarter" idx="1"/>
          </p:nvPr>
        </p:nvSpPr>
        <p:spPr>
          <a:xfrm>
            <a:off x="831600" y="1387799"/>
            <a:ext cx="3885480" cy="3640683"/>
          </a:xfrm>
          <a:prstGeom prst="rect">
            <a:avLst/>
          </a:prstGeom>
        </p:spPr>
        <p:txBody>
          <a:bodyPr lIns="45699" tIns="45699" rIns="45699" bIns="45699"/>
          <a:lstStyle>
            <a:lvl1pPr indent="-308608">
              <a:buSzPts val="2800"/>
              <a:defRPr sz="2800"/>
            </a:lvl1pPr>
            <a:lvl2pPr indent="-361950">
              <a:buSzPts val="2800"/>
              <a:defRPr sz="2800"/>
            </a:lvl2pPr>
            <a:lvl3pPr indent="-308610">
              <a:buSzPts val="2800"/>
              <a:defRPr sz="2800"/>
            </a:lvl3pPr>
            <a:lvl4pPr indent="-361950">
              <a:buSzPts val="2800"/>
              <a:defRPr sz="2800"/>
            </a:lvl4pPr>
            <a:lvl5pPr marL="2286000" indent="-308610">
              <a:buSzPts val="2800"/>
              <a:defRPr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1" name="Текст заголовка"/>
          <p:cNvSpPr txBox="1"/>
          <p:nvPr>
            <p:ph type="title"/>
          </p:nvPr>
        </p:nvSpPr>
        <p:spPr>
          <a:xfrm>
            <a:off x="6656399" y="1138318"/>
            <a:ext cx="4696922" cy="1324803"/>
          </a:xfrm>
          <a:prstGeom prst="rect">
            <a:avLst/>
          </a:prstGeom>
        </p:spPr>
        <p:txBody>
          <a:bodyPr anchor="t"/>
          <a:lstStyle/>
          <a:p>
            <a:pPr/>
            <a:r>
              <a:t>Текст заголовка</a:t>
            </a:r>
          </a:p>
        </p:txBody>
      </p:sp>
      <p:sp>
        <p:nvSpPr>
          <p:cNvPr id="32" name="Google Shape;22;p54"/>
          <p:cNvSpPr txBox="1"/>
          <p:nvPr>
            <p:ph type="body" sz="quarter" idx="21"/>
          </p:nvPr>
        </p:nvSpPr>
        <p:spPr>
          <a:xfrm>
            <a:off x="6656399" y="2776680"/>
            <a:ext cx="4696922" cy="2512800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</a:p>
        </p:txBody>
      </p:sp>
      <p:pic>
        <p:nvPicPr>
          <p:cNvPr id="33" name="Google Shape;23;p54" descr="Google Shape;23;p5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38080" y="6356520"/>
            <a:ext cx="1750320" cy="191167"/>
          </a:xfrm>
          <a:prstGeom prst="rect">
            <a:avLst/>
          </a:prstGeom>
          <a:ln w="12700">
            <a:miter lim="400000"/>
          </a:ln>
        </p:spPr>
      </p:pic>
      <p:sp>
        <p:nvSpPr>
          <p:cNvPr id="3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Текст заголовка"/>
          <p:cNvSpPr txBox="1"/>
          <p:nvPr>
            <p:ph type="title"/>
          </p:nvPr>
        </p:nvSpPr>
        <p:spPr>
          <a:xfrm>
            <a:off x="6656399" y="1138318"/>
            <a:ext cx="4696922" cy="1324803"/>
          </a:xfrm>
          <a:prstGeom prst="rect">
            <a:avLst/>
          </a:prstGeom>
        </p:spPr>
        <p:txBody>
          <a:bodyPr anchor="t"/>
          <a:lstStyle/>
          <a:p>
            <a:pPr/>
            <a:r>
              <a:t>Текст заголовка</a:t>
            </a:r>
          </a:p>
        </p:txBody>
      </p:sp>
      <p:sp>
        <p:nvSpPr>
          <p:cNvPr id="42" name="Уровень текста 1…"/>
          <p:cNvSpPr txBox="1"/>
          <p:nvPr>
            <p:ph type="body" sz="quarter" idx="1"/>
          </p:nvPr>
        </p:nvSpPr>
        <p:spPr>
          <a:xfrm>
            <a:off x="6656399" y="2776677"/>
            <a:ext cx="4696922" cy="2512805"/>
          </a:xfrm>
          <a:prstGeom prst="rect">
            <a:avLst/>
          </a:prstGeom>
        </p:spPr>
        <p:txBody>
          <a:bodyPr lIns="45699" tIns="45699" rIns="45699" bIns="45699"/>
          <a:lstStyle>
            <a:lvl1pPr indent="-297179">
              <a:buSzPts val="2400"/>
              <a:defRPr sz="2400"/>
            </a:lvl1pPr>
            <a:lvl2pPr indent="-342900">
              <a:buSzPts val="2400"/>
              <a:defRPr sz="2400"/>
            </a:lvl2pPr>
            <a:lvl3pPr indent="-297180">
              <a:buSzPts val="2400"/>
              <a:defRPr sz="2400"/>
            </a:lvl3pPr>
            <a:lvl4pPr indent="-342900">
              <a:buSzPts val="2400"/>
              <a:defRPr sz="2400"/>
            </a:lvl4pPr>
            <a:lvl5pPr marL="2286000" indent="-297177">
              <a:buSzPts val="2400"/>
              <a:defRPr sz="24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pic>
        <p:nvPicPr>
          <p:cNvPr id="43" name="Google Shape;28;p55" descr="Google Shape;28;p5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5400000">
            <a:off x="-3450600" y="-3008160"/>
            <a:ext cx="9869042" cy="9223920"/>
          </a:xfrm>
          <a:prstGeom prst="rect">
            <a:avLst/>
          </a:prstGeom>
          <a:ln w="12700">
            <a:miter lim="400000"/>
          </a:ln>
        </p:spPr>
      </p:pic>
      <p:pic>
        <p:nvPicPr>
          <p:cNvPr id="44" name="Google Shape;29;p55" descr="Google Shape;29;p5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38080" y="6356520"/>
            <a:ext cx="1750320" cy="191167"/>
          </a:xfrm>
          <a:prstGeom prst="rect">
            <a:avLst/>
          </a:prstGeom>
          <a:ln w="12700">
            <a:miter lim="400000"/>
          </a:ln>
        </p:spPr>
      </p:pic>
      <p:sp>
        <p:nvSpPr>
          <p:cNvPr id="4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Текст заголовка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53" name="Уровень текста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5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Уровень текста 1…"/>
          <p:cNvSpPr txBox="1"/>
          <p:nvPr>
            <p:ph type="body" sz="quarter" idx="1"/>
          </p:nvPr>
        </p:nvSpPr>
        <p:spPr>
          <a:xfrm>
            <a:off x="838080" y="543960"/>
            <a:ext cx="10941840" cy="1218602"/>
          </a:xfrm>
          <a:prstGeom prst="rect">
            <a:avLst/>
          </a:prstGeom>
        </p:spPr>
        <p:txBody>
          <a:bodyPr lIns="45699" tIns="45699" rIns="45699" bIns="45699" anchor="ctr"/>
          <a:lstStyle>
            <a:lvl1pPr indent="-308608">
              <a:buSzPts val="2800"/>
              <a:defRPr sz="2800"/>
            </a:lvl1pPr>
            <a:lvl2pPr indent="-361950">
              <a:buSzPts val="2800"/>
              <a:defRPr sz="2800"/>
            </a:lvl2pPr>
            <a:lvl3pPr indent="-308610">
              <a:buSzPts val="2800"/>
              <a:defRPr sz="2800"/>
            </a:lvl3pPr>
            <a:lvl4pPr indent="-361950">
              <a:buSzPts val="2800"/>
              <a:defRPr sz="2800"/>
            </a:lvl4pPr>
            <a:lvl5pPr marL="2286000" indent="-308610">
              <a:buSzPts val="2800"/>
              <a:defRPr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62" name="Google Shape;38;p57"/>
          <p:cNvSpPr txBox="1"/>
          <p:nvPr>
            <p:ph type="body" idx="21"/>
          </p:nvPr>
        </p:nvSpPr>
        <p:spPr>
          <a:xfrm>
            <a:off x="838080" y="2170076"/>
            <a:ext cx="10941841" cy="3253688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</a:p>
        </p:txBody>
      </p:sp>
      <p:sp>
        <p:nvSpPr>
          <p:cNvPr id="63" name="Текст заголовка"/>
          <p:cNvSpPr txBox="1"/>
          <p:nvPr>
            <p:ph type="title"/>
          </p:nvPr>
        </p:nvSpPr>
        <p:spPr>
          <a:xfrm>
            <a:off x="609478" y="273598"/>
            <a:ext cx="10972084" cy="1144445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/>
            </a:lvl1pPr>
          </a:lstStyle>
          <a:p>
            <a:pPr/>
            <a:r>
              <a:t>Текст заголовка</a:t>
            </a:r>
          </a:p>
        </p:txBody>
      </p:sp>
      <p:sp>
        <p:nvSpPr>
          <p:cNvPr id="6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Уровень текста 1…"/>
          <p:cNvSpPr txBox="1"/>
          <p:nvPr>
            <p:ph type="body" sz="quarter" idx="1"/>
          </p:nvPr>
        </p:nvSpPr>
        <p:spPr>
          <a:xfrm>
            <a:off x="623879" y="523079"/>
            <a:ext cx="10941841" cy="1218602"/>
          </a:xfrm>
          <a:prstGeom prst="rect">
            <a:avLst/>
          </a:prstGeom>
        </p:spPr>
        <p:txBody>
          <a:bodyPr lIns="45699" tIns="45699" rIns="45699" bIns="45699" anchor="ctr"/>
          <a:lstStyle>
            <a:lvl1pPr indent="-308608">
              <a:buSzPts val="2800"/>
              <a:defRPr sz="2800"/>
            </a:lvl1pPr>
            <a:lvl2pPr indent="-361950">
              <a:buSzPts val="2800"/>
              <a:defRPr sz="2800"/>
            </a:lvl2pPr>
            <a:lvl3pPr indent="-308610">
              <a:buSzPts val="2800"/>
              <a:defRPr sz="2800"/>
            </a:lvl3pPr>
            <a:lvl4pPr indent="-361950">
              <a:buSzPts val="2800"/>
              <a:defRPr sz="2800"/>
            </a:lvl4pPr>
            <a:lvl5pPr marL="2286000" indent="-308610">
              <a:buSzPts val="2800"/>
              <a:defRPr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72" name="Номер слайда"/>
          <p:cNvSpPr txBox="1"/>
          <p:nvPr>
            <p:ph type="sldNum" sz="quarter" idx="2"/>
          </p:nvPr>
        </p:nvSpPr>
        <p:spPr>
          <a:xfrm>
            <a:off x="8463951" y="6224225"/>
            <a:ext cx="273653" cy="264251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главная мысль, разделитель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33;p56" descr="Google Shape;33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8080" y="6356520"/>
            <a:ext cx="1750320" cy="191167"/>
          </a:xfrm>
          <a:prstGeom prst="rect">
            <a:avLst/>
          </a:prstGeom>
          <a:ln w="12700">
            <a:miter lim="400000"/>
          </a:ln>
        </p:spPr>
      </p:pic>
      <p:sp>
        <p:nvSpPr>
          <p:cNvPr id="80" name="Текст заголовка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Текст заголовка</a:t>
            </a:r>
          </a:p>
        </p:txBody>
      </p:sp>
      <p:sp>
        <p:nvSpPr>
          <p:cNvPr id="8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Картинка + текст + рупоры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Текст заголовка"/>
          <p:cNvSpPr txBox="1"/>
          <p:nvPr>
            <p:ph type="title"/>
          </p:nvPr>
        </p:nvSpPr>
        <p:spPr>
          <a:xfrm>
            <a:off x="838080" y="365040"/>
            <a:ext cx="7085160" cy="1144080"/>
          </a:xfrm>
          <a:prstGeom prst="rect">
            <a:avLst/>
          </a:prstGeom>
        </p:spPr>
        <p:txBody>
          <a:bodyPr anchor="t"/>
          <a:lstStyle/>
          <a:p>
            <a:pPr/>
            <a:r>
              <a:t>Текст заголовка</a:t>
            </a:r>
          </a:p>
        </p:txBody>
      </p:sp>
      <p:pic>
        <p:nvPicPr>
          <p:cNvPr id="89" name="Google Shape;49;p60" descr="Google Shape;49;p6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4222440" y="1847519"/>
            <a:ext cx="13776121" cy="128757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0" name="Google Shape;50;p60" descr="Google Shape;50;p6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16200000">
            <a:off x="5833080" y="-2120401"/>
            <a:ext cx="13776121" cy="12875763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Уровень текста 1…"/>
          <p:cNvSpPr txBox="1"/>
          <p:nvPr>
            <p:ph type="body" sz="quarter" idx="1"/>
          </p:nvPr>
        </p:nvSpPr>
        <p:spPr>
          <a:xfrm>
            <a:off x="838080" y="3740398"/>
            <a:ext cx="4371122" cy="1998006"/>
          </a:xfrm>
          <a:prstGeom prst="rect">
            <a:avLst/>
          </a:prstGeom>
        </p:spPr>
        <p:txBody>
          <a:bodyPr lIns="45699" tIns="45699" rIns="45699" bIns="45699"/>
          <a:lstStyle>
            <a:lvl1pPr indent="-308608">
              <a:buClr>
                <a:srgbClr val="FFFFFF"/>
              </a:buClr>
              <a:buSzPts val="2800"/>
              <a:defRPr sz="2800"/>
            </a:lvl1pPr>
            <a:lvl2pPr indent="-361950">
              <a:buClr>
                <a:srgbClr val="FFFFFF"/>
              </a:buClr>
              <a:buSzPts val="2800"/>
              <a:defRPr sz="2800"/>
            </a:lvl2pPr>
            <a:lvl3pPr indent="-308610">
              <a:buClr>
                <a:srgbClr val="FFFFFF"/>
              </a:buClr>
              <a:buSzPts val="2800"/>
              <a:defRPr sz="2800"/>
            </a:lvl3pPr>
            <a:lvl4pPr indent="-361950">
              <a:buClr>
                <a:srgbClr val="FFFFFF"/>
              </a:buClr>
              <a:buSzPts val="2800"/>
              <a:defRPr sz="2800"/>
            </a:lvl4pPr>
            <a:lvl5pPr marL="2286000" indent="-308610">
              <a:buClr>
                <a:srgbClr val="FFFFFF"/>
              </a:buClr>
              <a:buSzPts val="2800"/>
              <a:defRPr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92" name="Google Shape;52;p60"/>
          <p:cNvSpPr txBox="1"/>
          <p:nvPr>
            <p:ph type="body" sz="quarter" idx="21"/>
          </p:nvPr>
        </p:nvSpPr>
        <p:spPr>
          <a:xfrm>
            <a:off x="7924320" y="2017800"/>
            <a:ext cx="3429006" cy="3720244"/>
          </a:xfrm>
          <a:prstGeom prst="rect">
            <a:avLst/>
          </a:prstGeom>
        </p:spPr>
        <p:txBody>
          <a:bodyPr lIns="44999" tIns="44999" rIns="44999" bIns="44999"/>
          <a:lstStyle/>
          <a:p>
            <a:pPr/>
          </a:p>
        </p:txBody>
      </p:sp>
      <p:pic>
        <p:nvPicPr>
          <p:cNvPr id="93" name="Google Shape;54;p60" descr="Google Shape;54;p6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38080" y="6356520"/>
            <a:ext cx="1750320" cy="191167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Картин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33;p56" descr="Google Shape;33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8080" y="6356520"/>
            <a:ext cx="1750320" cy="191167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Уровень текста 1…"/>
          <p:cNvSpPr txBox="1"/>
          <p:nvPr>
            <p:ph type="body" sz="half" idx="1"/>
          </p:nvPr>
        </p:nvSpPr>
        <p:spPr>
          <a:xfrm>
            <a:off x="838080" y="495359"/>
            <a:ext cx="5542923" cy="5542923"/>
          </a:xfrm>
          <a:prstGeom prst="rect">
            <a:avLst/>
          </a:prstGeom>
        </p:spPr>
        <p:txBody>
          <a:bodyPr lIns="44999" tIns="44999" rIns="44999" bIns="44999"/>
          <a:lstStyle>
            <a:lvl1pPr indent="-280033">
              <a:buSzPts val="1800"/>
              <a:defRPr sz="1800"/>
            </a:lvl1pPr>
            <a:lvl2pPr indent="-314325">
              <a:buSzPts val="1800"/>
              <a:defRPr sz="1800"/>
            </a:lvl2pPr>
            <a:lvl3pPr indent="-280035">
              <a:buSzPts val="1800"/>
              <a:defRPr sz="1800"/>
            </a:lvl3pPr>
            <a:lvl4pPr indent="-314325">
              <a:buSzPts val="1800"/>
              <a:defRPr sz="1800"/>
            </a:lvl4pPr>
            <a:lvl5pPr marL="2286000" indent="-280035">
              <a:buSzPts val="1800"/>
              <a:defRPr sz="1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03" name="Текст заголовка"/>
          <p:cNvSpPr txBox="1"/>
          <p:nvPr>
            <p:ph type="title"/>
          </p:nvPr>
        </p:nvSpPr>
        <p:spPr>
          <a:xfrm>
            <a:off x="6656399" y="495359"/>
            <a:ext cx="4696922" cy="1324802"/>
          </a:xfrm>
          <a:prstGeom prst="rect">
            <a:avLst/>
          </a:prstGeom>
        </p:spPr>
        <p:txBody>
          <a:bodyPr anchor="t"/>
          <a:lstStyle/>
          <a:p>
            <a:pPr/>
            <a:r>
              <a:t>Текст заголовка</a:t>
            </a:r>
          </a:p>
        </p:txBody>
      </p:sp>
      <p:sp>
        <p:nvSpPr>
          <p:cNvPr id="104" name="Google Shape;59;p61"/>
          <p:cNvSpPr txBox="1"/>
          <p:nvPr>
            <p:ph type="body" sz="quarter" idx="21"/>
          </p:nvPr>
        </p:nvSpPr>
        <p:spPr>
          <a:xfrm>
            <a:off x="6656399" y="2172240"/>
            <a:ext cx="4696922" cy="2512800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</a:p>
        </p:txBody>
      </p:sp>
      <p:sp>
        <p:nvSpPr>
          <p:cNvPr id="105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Заголовок + много картин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33;p56" descr="Google Shape;33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8080" y="6356520"/>
            <a:ext cx="1750320" cy="191167"/>
          </a:xfrm>
          <a:prstGeom prst="rect">
            <a:avLst/>
          </a:prstGeom>
          <a:ln w="12700">
            <a:miter lim="400000"/>
          </a:ln>
        </p:spPr>
      </p:pic>
      <p:sp>
        <p:nvSpPr>
          <p:cNvPr id="113" name="Уровень текста 1…"/>
          <p:cNvSpPr txBox="1"/>
          <p:nvPr>
            <p:ph type="body" sz="quarter" idx="1"/>
          </p:nvPr>
        </p:nvSpPr>
        <p:spPr>
          <a:xfrm>
            <a:off x="623879" y="1741320"/>
            <a:ext cx="2640965" cy="3988802"/>
          </a:xfrm>
          <a:prstGeom prst="rect">
            <a:avLst/>
          </a:prstGeom>
        </p:spPr>
        <p:txBody>
          <a:bodyPr lIns="44999" tIns="44999" rIns="44999" bIns="44999"/>
          <a:lstStyle>
            <a:lvl1pPr indent="-280033">
              <a:buSzPts val="1800"/>
              <a:defRPr sz="1800"/>
            </a:lvl1pPr>
            <a:lvl2pPr indent="-314325">
              <a:buSzPts val="1800"/>
              <a:defRPr sz="1800"/>
            </a:lvl2pPr>
            <a:lvl3pPr indent="-280035">
              <a:buSzPts val="1800"/>
              <a:defRPr sz="1800"/>
            </a:lvl3pPr>
            <a:lvl4pPr indent="-314325">
              <a:buSzPts val="1800"/>
              <a:defRPr sz="1800"/>
            </a:lvl4pPr>
            <a:lvl5pPr marL="2286000" indent="-280035">
              <a:buSzPts val="1800"/>
              <a:defRPr sz="1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14" name="Google Shape;64;p62"/>
          <p:cNvSpPr txBox="1"/>
          <p:nvPr>
            <p:ph type="body" sz="quarter" idx="21"/>
          </p:nvPr>
        </p:nvSpPr>
        <p:spPr>
          <a:xfrm>
            <a:off x="623877" y="523078"/>
            <a:ext cx="10729085" cy="1218608"/>
          </a:xfrm>
          <a:prstGeom prst="rect">
            <a:avLst/>
          </a:prstGeom>
        </p:spPr>
        <p:txBody>
          <a:bodyPr lIns="45699" tIns="45699" rIns="45699" bIns="45699" anchor="ctr"/>
          <a:lstStyle/>
          <a:p>
            <a:pPr/>
          </a:p>
        </p:txBody>
      </p:sp>
      <p:sp>
        <p:nvSpPr>
          <p:cNvPr id="115" name="Google Shape;65;p62"/>
          <p:cNvSpPr txBox="1"/>
          <p:nvPr>
            <p:ph type="body" sz="quarter" idx="22"/>
          </p:nvPr>
        </p:nvSpPr>
        <p:spPr>
          <a:xfrm>
            <a:off x="3453479" y="1741320"/>
            <a:ext cx="2640968" cy="3988804"/>
          </a:xfrm>
          <a:prstGeom prst="rect">
            <a:avLst/>
          </a:prstGeom>
        </p:spPr>
        <p:txBody>
          <a:bodyPr lIns="44999" tIns="44999" rIns="44999" bIns="44999"/>
          <a:lstStyle/>
          <a:p>
            <a:pPr/>
          </a:p>
        </p:txBody>
      </p:sp>
      <p:sp>
        <p:nvSpPr>
          <p:cNvPr id="116" name="Google Shape;66;p62"/>
          <p:cNvSpPr txBox="1"/>
          <p:nvPr>
            <p:ph type="body" sz="quarter" idx="23"/>
          </p:nvPr>
        </p:nvSpPr>
        <p:spPr>
          <a:xfrm>
            <a:off x="6283440" y="1741320"/>
            <a:ext cx="2640967" cy="3988804"/>
          </a:xfrm>
          <a:prstGeom prst="rect">
            <a:avLst/>
          </a:prstGeom>
        </p:spPr>
        <p:txBody>
          <a:bodyPr lIns="44999" tIns="44999" rIns="44999" bIns="44999"/>
          <a:lstStyle/>
          <a:p>
            <a:pPr/>
          </a:p>
        </p:txBody>
      </p:sp>
      <p:sp>
        <p:nvSpPr>
          <p:cNvPr id="117" name="Google Shape;67;p62"/>
          <p:cNvSpPr txBox="1"/>
          <p:nvPr>
            <p:ph type="body" sz="quarter" idx="24"/>
          </p:nvPr>
        </p:nvSpPr>
        <p:spPr>
          <a:xfrm>
            <a:off x="9113039" y="1741320"/>
            <a:ext cx="2640967" cy="3988804"/>
          </a:xfrm>
          <a:prstGeom prst="rect">
            <a:avLst/>
          </a:prstGeom>
        </p:spPr>
        <p:txBody>
          <a:bodyPr lIns="44999" tIns="44999" rIns="44999" bIns="44999"/>
          <a:lstStyle/>
          <a:p>
            <a:pPr/>
          </a:p>
        </p:txBody>
      </p:sp>
      <p:sp>
        <p:nvSpPr>
          <p:cNvPr id="118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Заголовок + 2 блока текста (без элементов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33;p56" descr="Google Shape;33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8080" y="6356520"/>
            <a:ext cx="1750320" cy="191167"/>
          </a:xfrm>
          <a:prstGeom prst="rect">
            <a:avLst/>
          </a:prstGeom>
          <a:ln w="12700">
            <a:miter lim="400000"/>
          </a:ln>
        </p:spPr>
      </p:pic>
      <p:sp>
        <p:nvSpPr>
          <p:cNvPr id="126" name="Уровень текста 1…"/>
          <p:cNvSpPr txBox="1"/>
          <p:nvPr>
            <p:ph type="body" sz="quarter" idx="1"/>
          </p:nvPr>
        </p:nvSpPr>
        <p:spPr>
          <a:xfrm>
            <a:off x="623879" y="523079"/>
            <a:ext cx="10941841" cy="1218602"/>
          </a:xfrm>
          <a:prstGeom prst="rect">
            <a:avLst/>
          </a:prstGeom>
        </p:spPr>
        <p:txBody>
          <a:bodyPr lIns="45699" tIns="45699" rIns="45699" bIns="45699" anchor="ctr"/>
          <a:lstStyle>
            <a:lvl1pPr indent="-308608">
              <a:buSzPts val="2800"/>
              <a:defRPr sz="2800"/>
            </a:lvl1pPr>
            <a:lvl2pPr indent="-361950">
              <a:buSzPts val="2800"/>
              <a:defRPr sz="2800"/>
            </a:lvl2pPr>
            <a:lvl3pPr indent="-308610">
              <a:buSzPts val="2800"/>
              <a:defRPr sz="2800"/>
            </a:lvl3pPr>
            <a:lvl4pPr indent="-361950">
              <a:buSzPts val="2800"/>
              <a:defRPr sz="2800"/>
            </a:lvl4pPr>
            <a:lvl5pPr marL="2286000" indent="-308610">
              <a:buSzPts val="2800"/>
              <a:defRPr sz="28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27" name="Google Shape;72;p63"/>
          <p:cNvSpPr txBox="1"/>
          <p:nvPr>
            <p:ph type="body" sz="quarter" idx="21"/>
          </p:nvPr>
        </p:nvSpPr>
        <p:spPr>
          <a:xfrm>
            <a:off x="623874" y="2170078"/>
            <a:ext cx="5069532" cy="3175924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</a:p>
        </p:txBody>
      </p:sp>
      <p:sp>
        <p:nvSpPr>
          <p:cNvPr id="128" name="Google Shape;73;p63"/>
          <p:cNvSpPr txBox="1"/>
          <p:nvPr>
            <p:ph type="body" sz="quarter" idx="22"/>
          </p:nvPr>
        </p:nvSpPr>
        <p:spPr>
          <a:xfrm>
            <a:off x="6496196" y="2170078"/>
            <a:ext cx="5069526" cy="3175924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</a:p>
        </p:txBody>
      </p:sp>
      <p:sp>
        <p:nvSpPr>
          <p:cNvPr id="129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Текст заголовка"/>
          <p:cNvSpPr txBox="1"/>
          <p:nvPr>
            <p:ph type="title"/>
          </p:nvPr>
        </p:nvSpPr>
        <p:spPr>
          <a:xfrm>
            <a:off x="1263958" y="1386720"/>
            <a:ext cx="4696925" cy="1324802"/>
          </a:xfrm>
          <a:prstGeom prst="rect">
            <a:avLst/>
          </a:prstGeom>
        </p:spPr>
        <p:txBody>
          <a:bodyPr anchor="t"/>
          <a:lstStyle/>
          <a:p>
            <a:pPr/>
            <a:r>
              <a:t>Текст заголовка</a:t>
            </a:r>
          </a:p>
        </p:txBody>
      </p:sp>
      <p:pic>
        <p:nvPicPr>
          <p:cNvPr id="137" name="Google Shape;78;p64" descr="Google Shape;78;p6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flipH="1">
            <a:off x="838798" y="1070639"/>
            <a:ext cx="5830924" cy="4716363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Уровень текста 1…"/>
          <p:cNvSpPr txBox="1"/>
          <p:nvPr>
            <p:ph type="body" sz="half" idx="1"/>
          </p:nvPr>
        </p:nvSpPr>
        <p:spPr>
          <a:xfrm>
            <a:off x="6907320" y="1069918"/>
            <a:ext cx="4446007" cy="4717444"/>
          </a:xfrm>
          <a:prstGeom prst="rect">
            <a:avLst/>
          </a:prstGeom>
        </p:spPr>
        <p:txBody>
          <a:bodyPr lIns="45699" tIns="45699" rIns="45699" bIns="45699"/>
          <a:lstStyle>
            <a:lvl1pPr indent="-297179">
              <a:buSzPts val="2400"/>
              <a:defRPr sz="2400"/>
            </a:lvl1pPr>
            <a:lvl2pPr indent="-342900">
              <a:buSzPts val="2400"/>
              <a:defRPr sz="2400"/>
            </a:lvl2pPr>
            <a:lvl3pPr indent="-297180">
              <a:buSzPts val="2400"/>
              <a:defRPr sz="2400"/>
            </a:lvl3pPr>
            <a:lvl4pPr indent="-342900">
              <a:buSzPts val="2400"/>
              <a:defRPr sz="2400"/>
            </a:lvl4pPr>
            <a:lvl5pPr marL="2286000" indent="-297177">
              <a:buSzPts val="2400"/>
              <a:defRPr sz="2400"/>
            </a:lvl5pPr>
          </a:lstStyle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pic>
        <p:nvPicPr>
          <p:cNvPr id="139" name="Google Shape;80;p64" descr="Google Shape;80;p6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38080" y="6356520"/>
            <a:ext cx="1750320" cy="191167"/>
          </a:xfrm>
          <a:prstGeom prst="rect">
            <a:avLst/>
          </a:prstGeom>
          <a:ln w="12700">
            <a:miter lim="400000"/>
          </a:ln>
        </p:spPr>
      </p:pic>
      <p:sp>
        <p:nvSpPr>
          <p:cNvPr id="140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пустой слайд (для контактов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33;p56" descr="Google Shape;33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8080" y="6356520"/>
            <a:ext cx="1750320" cy="191167"/>
          </a:xfrm>
          <a:prstGeom prst="rect">
            <a:avLst/>
          </a:prstGeom>
          <a:ln w="12700">
            <a:miter lim="400000"/>
          </a:ln>
        </p:spPr>
      </p:pic>
      <p:sp>
        <p:nvSpPr>
          <p:cNvPr id="148" name="Номер слайда"/>
          <p:cNvSpPr txBox="1"/>
          <p:nvPr>
            <p:ph type="sldNum" sz="quarter" idx="2"/>
          </p:nvPr>
        </p:nvSpPr>
        <p:spPr>
          <a:xfrm>
            <a:off x="8463951" y="6224225"/>
            <a:ext cx="273653" cy="264251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33;p56" descr="Google Shape;33;p5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8080" y="6356520"/>
            <a:ext cx="1750320" cy="191167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Текст заголовка"/>
          <p:cNvSpPr txBox="1"/>
          <p:nvPr>
            <p:ph type="title"/>
          </p:nvPr>
        </p:nvSpPr>
        <p:spPr>
          <a:xfrm>
            <a:off x="838080" y="2766240"/>
            <a:ext cx="10514880" cy="13248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100000" lnSpcReduction="0"/>
          </a:bodyPr>
          <a:lstStyle/>
          <a:p>
            <a:pPr/>
            <a:r>
              <a:t>Текст заголовка</a:t>
            </a:r>
          </a:p>
        </p:txBody>
      </p:sp>
      <p:sp>
        <p:nvSpPr>
          <p:cNvPr id="4" name="Уровень текста 1…"/>
          <p:cNvSpPr txBox="1"/>
          <p:nvPr>
            <p:ph type="body" idx="1"/>
          </p:nvPr>
        </p:nvSpPr>
        <p:spPr>
          <a:xfrm>
            <a:off x="609478" y="1604519"/>
            <a:ext cx="10972084" cy="3976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5" name="Номер слайда"/>
          <p:cNvSpPr txBox="1"/>
          <p:nvPr>
            <p:ph type="sldNum" sz="quarter" idx="2"/>
          </p:nvPr>
        </p:nvSpPr>
        <p:spPr>
          <a:xfrm>
            <a:off x="10994592" y="6356520"/>
            <a:ext cx="358371" cy="350620"/>
          </a:xfrm>
          <a:prstGeom prst="rect">
            <a:avLst/>
          </a:prstGeom>
          <a:ln w="12700">
            <a:miter lim="400000"/>
          </a:ln>
        </p:spPr>
        <p:txBody>
          <a:bodyPr wrap="none" lIns="45699" tIns="45699" rIns="45699" bIns="45699">
            <a:spAutoFit/>
          </a:bodyPr>
          <a:lstStyle>
            <a:lvl1pPr algn="r">
              <a:defRPr sz="1800">
                <a:latin typeface="+mj-lt"/>
                <a:ea typeface="+mj-ea"/>
                <a:cs typeface="+mj-cs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457200" marR="0" indent="-268604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Pts val="1400"/>
        <a:buFont typeface="Helvetica"/>
        <a:buChar char="●"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914400" marR="0" indent="-295275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Pts val="1400"/>
        <a:buFont typeface="Helvetica"/>
        <a:buChar char="−"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1371600" marR="0" indent="-268605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Pts val="1400"/>
        <a:buFont typeface="Helvetica"/>
        <a:buChar char="●"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1828800" marR="0" indent="-295275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Pts val="1400"/>
        <a:buFont typeface="Helvetica"/>
        <a:buChar char="−"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2200275" marR="0" indent="-200025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Pts val="1400"/>
        <a:buFont typeface="Helvetica"/>
        <a:buChar char="●"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Tx/>
        <a:buFont typeface="Helvetica"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Tx/>
        <a:buFont typeface="Helvetica"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Tx/>
        <a:buFont typeface="Helvetica"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1400"/>
        </a:spcBef>
        <a:spcAft>
          <a:spcPts val="0"/>
        </a:spcAft>
        <a:buClr>
          <a:srgbClr val="000000"/>
        </a:buClr>
        <a:buSzTx/>
        <a:buFont typeface="Helvetica"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hyperlink" Target="http://evrone.ru" TargetMode="Externa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87;p1"/>
          <p:cNvSpPr txBox="1"/>
          <p:nvPr>
            <p:ph type="body" sz="quarter" idx="1"/>
          </p:nvPr>
        </p:nvSpPr>
        <p:spPr>
          <a:xfrm>
            <a:off x="575280" y="4584956"/>
            <a:ext cx="3300480" cy="489610"/>
          </a:xfrm>
          <a:prstGeom prst="rect">
            <a:avLst/>
          </a:prstGeom>
        </p:spPr>
        <p:txBody>
          <a:bodyPr/>
          <a:lstStyle>
            <a:lvl1pPr marL="0" indent="0" defTabSz="731519">
              <a:lnSpc>
                <a:spcPct val="90000"/>
              </a:lnSpc>
              <a:spcBef>
                <a:spcPts val="0"/>
              </a:spcBef>
              <a:buSzTx/>
              <a:buNone/>
              <a:defRPr sz="2400"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158" name="Google Shape;88;p1"/>
          <p:cNvSpPr txBox="1"/>
          <p:nvPr/>
        </p:nvSpPr>
        <p:spPr>
          <a:xfrm>
            <a:off x="621003" y="5607360"/>
            <a:ext cx="3209034" cy="489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>
            <a:lvl1pPr defTabSz="841247">
              <a:lnSpc>
                <a:spcPct val="90000"/>
              </a:lnSpc>
              <a:defRPr sz="24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159" name="Google Shape;89;p1"/>
          <p:cNvSpPr txBox="1"/>
          <p:nvPr/>
        </p:nvSpPr>
        <p:spPr>
          <a:xfrm>
            <a:off x="621001" y="1680840"/>
            <a:ext cx="4772518" cy="13197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>
            <a:lvl1pPr>
              <a:lnSpc>
                <a:spcPct val="90000"/>
              </a:lnSpc>
              <a:defRPr sz="3500"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Древняя магия каждый день</a:t>
            </a:r>
          </a:p>
        </p:txBody>
      </p:sp>
      <p:sp>
        <p:nvSpPr>
          <p:cNvPr id="160" name="Google Shape;90;p1"/>
          <p:cNvSpPr txBox="1"/>
          <p:nvPr/>
        </p:nvSpPr>
        <p:spPr>
          <a:xfrm>
            <a:off x="621003" y="5200560"/>
            <a:ext cx="3209034" cy="489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>
            <a:lvl1pPr defTabSz="841247">
              <a:lnSpc>
                <a:spcPct val="90000"/>
              </a:lnSpc>
              <a:defRPr sz="24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Evrone.ru</a:t>
            </a:r>
          </a:p>
        </p:txBody>
      </p:sp>
      <p:pic>
        <p:nvPicPr>
          <p:cNvPr id="161" name="Google Shape;91;p1" descr="Google Shape;91;p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225038" y="531000"/>
            <a:ext cx="1741324" cy="174132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Google Shape;92;p1"/>
          <p:cNvSpPr txBox="1"/>
          <p:nvPr/>
        </p:nvSpPr>
        <p:spPr>
          <a:xfrm>
            <a:off x="621001" y="2997000"/>
            <a:ext cx="6026372" cy="8632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>
            <a:lvl1pPr>
              <a:lnSpc>
                <a:spcPct val="90000"/>
              </a:lnSpc>
              <a:defRPr sz="24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163" name="Google Shape;93;p1"/>
          <p:cNvSpPr txBox="1"/>
          <p:nvPr/>
        </p:nvSpPr>
        <p:spPr>
          <a:xfrm>
            <a:off x="8796125" y="6137952"/>
            <a:ext cx="3209037" cy="489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>
            <a:lvl1pPr algn="r" defTabSz="841247">
              <a:lnSpc>
                <a:spcPct val="90000"/>
              </a:lnSpc>
              <a:defRPr sz="2400"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98;p2" descr="Google Shape;98;p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9998" y="1439999"/>
            <a:ext cx="3419644" cy="3419643"/>
          </a:xfrm>
          <a:prstGeom prst="rect">
            <a:avLst/>
          </a:prstGeom>
          <a:ln w="12700">
            <a:miter lim="400000"/>
          </a:ln>
        </p:spPr>
      </p:pic>
      <p:sp>
        <p:nvSpPr>
          <p:cNvPr id="166" name="Google Shape;99;p2"/>
          <p:cNvSpPr txBox="1"/>
          <p:nvPr>
            <p:ph type="title"/>
          </p:nvPr>
        </p:nvSpPr>
        <p:spPr>
          <a:xfrm>
            <a:off x="6656399" y="1138319"/>
            <a:ext cx="4696567" cy="1325161"/>
          </a:xfrm>
          <a:prstGeom prst="rect">
            <a:avLst/>
          </a:prstGeom>
        </p:spPr>
        <p:txBody>
          <a:bodyPr/>
          <a:lstStyle>
            <a:lvl1pPr defTabSz="896111">
              <a:lnSpc>
                <a:spcPct val="90000"/>
              </a:lnSpc>
              <a:defRPr sz="43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167" name="Google Shape;100;p2"/>
          <p:cNvSpPr txBox="1"/>
          <p:nvPr>
            <p:ph type="sldNum" sz="quarter" idx="4294967295"/>
          </p:nvPr>
        </p:nvSpPr>
        <p:spPr>
          <a:xfrm>
            <a:off x="11121721" y="6356520"/>
            <a:ext cx="231235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68" name="Google Shape;101;p2"/>
          <p:cNvSpPr txBox="1"/>
          <p:nvPr>
            <p:ph type="body" sz="quarter" idx="1"/>
          </p:nvPr>
        </p:nvSpPr>
        <p:spPr>
          <a:xfrm>
            <a:off x="6656399" y="2776678"/>
            <a:ext cx="4696567" cy="2513162"/>
          </a:xfrm>
          <a:prstGeom prst="rect">
            <a:avLst/>
          </a:prstGeom>
        </p:spPr>
        <p:txBody>
          <a:bodyPr lIns="50800" tIns="50800" rIns="50800" bIns="50800"/>
          <a:lstStyle/>
          <a:p>
            <a:pPr indent="-381000">
              <a:lnSpc>
                <a:spcPct val="90000"/>
              </a:lnSpc>
              <a:spcBef>
                <a:spcPts val="0"/>
              </a:spcBef>
              <a:buSzPts val="2400"/>
              <a:buFont typeface="Montserrat Thin Regular"/>
              <a:defRPr sz="24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много опыта</a:t>
            </a:r>
          </a:p>
          <a:p>
            <a:pPr indent="-381000">
              <a:lnSpc>
                <a:spcPct val="90000"/>
              </a:lnSpc>
              <a:spcBef>
                <a:spcPts val="0"/>
              </a:spcBef>
              <a:buSzPts val="2400"/>
              <a:buFont typeface="Montserrat Thin Regular"/>
              <a:defRPr sz="24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разрабатывал всё</a:t>
            </a:r>
          </a:p>
          <a:p>
            <a:pPr indent="-381000">
              <a:lnSpc>
                <a:spcPct val="90000"/>
              </a:lnSpc>
              <a:spcBef>
                <a:spcPts val="0"/>
              </a:spcBef>
              <a:buSzPts val="2400"/>
              <a:buFont typeface="Montserrat Thin Regular"/>
              <a:defRPr sz="24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FP с 2002 г.</a:t>
            </a:r>
          </a:p>
          <a:p>
            <a:pPr marL="0" indent="457200">
              <a:lnSpc>
                <a:spcPct val="90000"/>
              </a:lnSpc>
              <a:spcBef>
                <a:spcPts val="1000"/>
              </a:spcBef>
              <a:buSzTx/>
              <a:buNone/>
              <a:defRPr sz="2400"/>
            </a:pPr>
          </a:p>
          <a:p>
            <a:pPr marL="0" indent="0">
              <a:lnSpc>
                <a:spcPct val="90000"/>
              </a:lnSpc>
              <a:spcBef>
                <a:spcPts val="1000"/>
              </a:spcBef>
              <a:buSzTx/>
              <a:buNone/>
              <a:defRPr sz="24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 u="none">
                <a:solidFill>
                  <a:srgbClr val="000000"/>
                </a:solidFill>
                <a:hlinkClick r:id="rId3" invalidUrl="" action="" tgtFrame="" tooltip="" history="1" highlightClick="0" endSnd="0"/>
              </a:rPr>
              <a:t>Evrone.ru</a:t>
            </a:r>
            <a:r>
              <a:rPr u="none">
                <a:solidFill>
                  <a:srgbClr val="000000"/>
                </a:solidFill>
                <a:uFillTx/>
              </a:rPr>
              <a:t>:</a:t>
            </a:r>
            <a:r>
              <a:rPr u="none">
                <a:solidFill>
                  <a:srgbClr val="000000"/>
                </a:solidFill>
                <a:uFillTx/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разработка разработчиков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06;p3"/>
          <p:cNvSpPr txBox="1"/>
          <p:nvPr>
            <p:ph type="sldNum" sz="quarter" idx="4294967295"/>
          </p:nvPr>
        </p:nvSpPr>
        <p:spPr>
          <a:xfrm>
            <a:off x="11121721" y="6356520"/>
            <a:ext cx="231235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71" name="Google Shape;107;p3"/>
          <p:cNvSpPr txBox="1"/>
          <p:nvPr>
            <p:ph type="body" sz="quarter" idx="1"/>
          </p:nvPr>
        </p:nvSpPr>
        <p:spPr>
          <a:xfrm>
            <a:off x="6095877" y="270720"/>
            <a:ext cx="5817966" cy="1554840"/>
          </a:xfrm>
          <a:prstGeom prst="rect">
            <a:avLst/>
          </a:prstGeom>
        </p:spPr>
        <p:txBody>
          <a:bodyPr/>
          <a:lstStyle/>
          <a:p>
            <a:pPr marL="0" indent="0">
              <a:lnSpc>
                <a:spcPct val="90000"/>
              </a:lnSpc>
              <a:spcBef>
                <a:spcPts val="0"/>
              </a:spcBef>
              <a:buSzTx/>
              <a:buNone/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ФП:</a:t>
            </a:r>
            <a:r>
              <a:rPr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пять ĸонĸретных свойств ĸода</a:t>
            </a:r>
          </a:p>
          <a:p>
            <a:pPr marL="0" indent="0">
              <a:lnSpc>
                <a:spcPct val="90000"/>
              </a:lnSpc>
              <a:spcBef>
                <a:spcPts val="1000"/>
              </a:spcBef>
              <a:buSzTx/>
              <a:buNone/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Смысл:</a:t>
            </a:r>
            <a:r>
              <a:rPr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описание результата, а не миĸроменеджмент процесса.</a:t>
            </a:r>
          </a:p>
        </p:txBody>
      </p:sp>
      <p:sp>
        <p:nvSpPr>
          <p:cNvPr id="172" name="Google Shape;108;p3"/>
          <p:cNvSpPr txBox="1"/>
          <p:nvPr/>
        </p:nvSpPr>
        <p:spPr>
          <a:xfrm>
            <a:off x="5446805" y="3910319"/>
            <a:ext cx="6421317" cy="23349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115000"/>
              </a:lnSpc>
              <a:defRPr sz="2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115000"/>
              </a:lnSpc>
              <a:spcBef>
                <a:spcPts val="1400"/>
              </a:spcBef>
              <a:defRPr sz="2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115000"/>
              </a:lnSpc>
              <a:spcBef>
                <a:spcPts val="1400"/>
              </a:spcBef>
              <a:defRPr sz="2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  <p:sp>
        <p:nvSpPr>
          <p:cNvPr id="173" name="Google Shape;109;p3"/>
          <p:cNvSpPr txBox="1"/>
          <p:nvPr/>
        </p:nvSpPr>
        <p:spPr>
          <a:xfrm>
            <a:off x="140036" y="2058965"/>
            <a:ext cx="5817966" cy="712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defRPr sz="36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(λx.M)N</a:t>
            </a:r>
            <a:r>
              <a:rPr>
                <a:solidFill>
                  <a:srgbClr val="C0392B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 </a:t>
            </a:r>
            <a:r>
              <a:rPr>
                <a:solidFill>
                  <a:srgbClr val="000000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→</a:t>
            </a:r>
            <a:r>
              <a:rPr>
                <a:solidFill>
                  <a:srgbClr val="000000"/>
                </a:solidFill>
              </a:rPr>
              <a:t>β </a:t>
            </a:r>
            <a:r>
              <a:t>M[x := N]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14;p4"/>
          <p:cNvSpPr txBox="1"/>
          <p:nvPr>
            <p:ph type="title"/>
          </p:nvPr>
        </p:nvSpPr>
        <p:spPr>
          <a:xfrm>
            <a:off x="458640" y="497519"/>
            <a:ext cx="3795120" cy="1325164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Пять языков</a:t>
            </a:r>
          </a:p>
        </p:txBody>
      </p:sp>
      <p:sp>
        <p:nvSpPr>
          <p:cNvPr id="176" name="Google Shape;115;p4"/>
          <p:cNvSpPr txBox="1"/>
          <p:nvPr>
            <p:ph type="sldNum" sz="quarter" idx="4294967295"/>
          </p:nvPr>
        </p:nvSpPr>
        <p:spPr>
          <a:xfrm>
            <a:off x="11121721" y="6356520"/>
            <a:ext cx="231235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aphicFrame>
        <p:nvGraphicFramePr>
          <p:cNvPr id="177" name="Google Shape;116;p4"/>
          <p:cNvGraphicFramePr/>
          <p:nvPr/>
        </p:nvGraphicFramePr>
        <p:xfrm>
          <a:off x="6656399" y="1446839"/>
          <a:ext cx="4854255" cy="3009626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189525"/>
                <a:gridCol w="2664725"/>
              </a:tblGrid>
              <a:tr h="601925">
                <a:tc>
                  <a:txBody>
                    <a:bodyPr/>
                    <a:lstStyle/>
                    <a:p>
                      <a:pPr algn="l"/>
                      <a:r>
                        <a:rPr sz="2400"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>
                      <a:solidFill>
                        <a:srgbClr val="FFFFFF"/>
                      </a:solidFill>
                    </a:lnL>
                    <a:lnR>
                      <a:solidFill>
                        <a:srgbClr val="FFFFFF"/>
                      </a:solidFill>
                    </a:lnR>
                    <a:lnT>
                      <a:solidFill>
                        <a:srgbClr val="FFFFFF"/>
                      </a:solidFill>
                    </a:lnT>
                    <a:lnB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>
                          <a:latin typeface="Montserrat Thin Regular"/>
                          <a:ea typeface="Montserrat Thin Regular"/>
                          <a:cs typeface="Montserrat Thin Regular"/>
                          <a:sym typeface="Montserrat Thin Regular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>
                      <a:solidFill>
                        <a:srgbClr val="FFFFFF"/>
                      </a:solidFill>
                    </a:lnL>
                    <a:lnR>
                      <a:solidFill>
                        <a:srgbClr val="FFFFFF"/>
                      </a:solidFill>
                    </a:lnR>
                    <a:lnT>
                      <a:solidFill>
                        <a:srgbClr val="FFFFFF"/>
                      </a:solidFill>
                    </a:lnT>
                    <a:lnB>
                      <a:solidFill>
                        <a:srgbClr val="FFFFFF"/>
                      </a:solidFill>
                    </a:lnB>
                  </a:tcPr>
                </a:tc>
              </a:tr>
              <a:tr h="601925">
                <a:tc>
                  <a:txBody>
                    <a:bodyPr/>
                    <a:lstStyle/>
                    <a:p>
                      <a:pPr algn="l"/>
                      <a:r>
                        <a:rPr sz="2400"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>
                      <a:solidFill>
                        <a:srgbClr val="FFFFFF"/>
                      </a:solidFill>
                    </a:lnL>
                    <a:lnR>
                      <a:solidFill>
                        <a:srgbClr val="FFFFFF"/>
                      </a:solidFill>
                    </a:lnR>
                    <a:lnT>
                      <a:solidFill>
                        <a:srgbClr val="FFFFFF"/>
                      </a:solidFill>
                    </a:lnT>
                    <a:lnB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>
                          <a:latin typeface="Montserrat Thin Regular"/>
                          <a:ea typeface="Montserrat Thin Regular"/>
                          <a:cs typeface="Montserrat Thin Regular"/>
                          <a:sym typeface="Montserrat Thin Regular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>
                      <a:solidFill>
                        <a:srgbClr val="FFFFFF"/>
                      </a:solidFill>
                    </a:lnL>
                    <a:lnR>
                      <a:solidFill>
                        <a:srgbClr val="FFFFFF"/>
                      </a:solidFill>
                    </a:lnR>
                    <a:lnT>
                      <a:solidFill>
                        <a:srgbClr val="FFFFFF"/>
                      </a:solidFill>
                    </a:lnT>
                    <a:lnB>
                      <a:solidFill>
                        <a:srgbClr val="FFFFFF"/>
                      </a:solidFill>
                    </a:lnB>
                  </a:tcPr>
                </a:tc>
              </a:tr>
              <a:tr h="601925">
                <a:tc>
                  <a:txBody>
                    <a:bodyPr/>
                    <a:lstStyle/>
                    <a:p>
                      <a:pPr algn="l"/>
                      <a:r>
                        <a:rPr sz="2400"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>
                      <a:solidFill>
                        <a:srgbClr val="FFFFFF"/>
                      </a:solidFill>
                    </a:lnL>
                    <a:lnR>
                      <a:solidFill>
                        <a:srgbClr val="FFFFFF"/>
                      </a:solidFill>
                    </a:lnR>
                    <a:lnT>
                      <a:solidFill>
                        <a:srgbClr val="FFFFFF"/>
                      </a:solidFill>
                    </a:lnT>
                    <a:lnB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>
                          <a:latin typeface="Montserrat Thin Regular"/>
                          <a:ea typeface="Montserrat Thin Regular"/>
                          <a:cs typeface="Montserrat Thin Regular"/>
                          <a:sym typeface="Montserrat Thin Regular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>
                      <a:solidFill>
                        <a:srgbClr val="FFFFFF"/>
                      </a:solidFill>
                    </a:lnL>
                    <a:lnR>
                      <a:solidFill>
                        <a:srgbClr val="FFFFFF"/>
                      </a:solidFill>
                    </a:lnR>
                    <a:lnT>
                      <a:solidFill>
                        <a:srgbClr val="FFFFFF"/>
                      </a:solidFill>
                    </a:lnT>
                    <a:lnB>
                      <a:solidFill>
                        <a:srgbClr val="FFFFFF"/>
                      </a:solidFill>
                    </a:lnB>
                  </a:tcPr>
                </a:tc>
              </a:tr>
              <a:tr h="601925">
                <a:tc>
                  <a:txBody>
                    <a:bodyPr/>
                    <a:lstStyle/>
                    <a:p>
                      <a:pPr algn="l"/>
                      <a:r>
                        <a:rPr sz="2400"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>
                      <a:solidFill>
                        <a:srgbClr val="FFFFFF"/>
                      </a:solidFill>
                    </a:lnL>
                    <a:lnR>
                      <a:solidFill>
                        <a:srgbClr val="FFFFFF"/>
                      </a:solidFill>
                    </a:lnR>
                    <a:lnT>
                      <a:solidFill>
                        <a:srgbClr val="FFFFFF"/>
                      </a:solidFill>
                    </a:lnT>
                    <a:lnB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>
                          <a:latin typeface="Montserrat Thin Regular"/>
                          <a:ea typeface="Montserrat Thin Regular"/>
                          <a:cs typeface="Montserrat Thin Regular"/>
                          <a:sym typeface="Montserrat Thin Regular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>
                      <a:solidFill>
                        <a:srgbClr val="FFFFFF"/>
                      </a:solidFill>
                    </a:lnL>
                    <a:lnR>
                      <a:solidFill>
                        <a:srgbClr val="FFFFFF"/>
                      </a:solidFill>
                    </a:lnR>
                    <a:lnT>
                      <a:solidFill>
                        <a:srgbClr val="FFFFFF"/>
                      </a:solidFill>
                    </a:lnT>
                    <a:lnB>
                      <a:solidFill>
                        <a:srgbClr val="FFFFFF"/>
                      </a:solidFill>
                    </a:lnB>
                  </a:tcPr>
                </a:tc>
              </a:tr>
              <a:tr h="601925">
                <a:tc>
                  <a:txBody>
                    <a:bodyPr/>
                    <a:lstStyle/>
                    <a:p>
                      <a:pPr algn="l"/>
                      <a:r>
                        <a:rPr sz="2400"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>
                      <a:solidFill>
                        <a:srgbClr val="FFFFFF"/>
                      </a:solidFill>
                    </a:lnL>
                    <a:lnR>
                      <a:solidFill>
                        <a:srgbClr val="FFFFFF"/>
                      </a:solidFill>
                    </a:lnR>
                    <a:lnT>
                      <a:solidFill>
                        <a:srgbClr val="FFFFFF"/>
                      </a:solidFill>
                    </a:lnT>
                    <a:lnB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>
                          <a:latin typeface="Montserrat Thin Regular"/>
                          <a:ea typeface="Montserrat Thin Regular"/>
                          <a:cs typeface="Montserrat Thin Regular"/>
                          <a:sym typeface="Montserrat Thin Regular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>
                      <a:solidFill>
                        <a:srgbClr val="FFFFFF"/>
                      </a:solidFill>
                    </a:lnL>
                    <a:lnR>
                      <a:solidFill>
                        <a:srgbClr val="FFFFFF"/>
                      </a:solidFill>
                    </a:lnR>
                    <a:lnT>
                      <a:solidFill>
                        <a:srgbClr val="FFFFFF"/>
                      </a:solidFill>
                    </a:lnT>
                    <a:lnB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21;p5"/>
          <p:cNvSpPr txBox="1"/>
          <p:nvPr>
            <p:ph type="title"/>
          </p:nvPr>
        </p:nvSpPr>
        <p:spPr>
          <a:xfrm>
            <a:off x="838080" y="2766240"/>
            <a:ext cx="10514881" cy="1325167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0" name="Google Shape;122;p5"/>
          <p:cNvSpPr txBox="1"/>
          <p:nvPr>
            <p:ph type="sldNum" sz="quarter" idx="4294967295"/>
          </p:nvPr>
        </p:nvSpPr>
        <p:spPr>
          <a:xfrm>
            <a:off x="11121721" y="6356520"/>
            <a:ext cx="231235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27;p6"/>
          <p:cNvSpPr txBox="1"/>
          <p:nvPr>
            <p:ph type="sldNum" sz="quarter" idx="4294967295"/>
          </p:nvPr>
        </p:nvSpPr>
        <p:spPr>
          <a:xfrm>
            <a:off x="11121721" y="6356520"/>
            <a:ext cx="231235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3" name="Google Shape;128;p6"/>
          <p:cNvSpPr txBox="1"/>
          <p:nvPr>
            <p:ph type="body" sz="quarter" idx="1"/>
          </p:nvPr>
        </p:nvSpPr>
        <p:spPr>
          <a:xfrm>
            <a:off x="838080" y="543959"/>
            <a:ext cx="10941841" cy="12186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SzTx/>
              <a:buNone/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4" name="Google Shape;129;p6"/>
          <p:cNvSpPr txBox="1"/>
          <p:nvPr/>
        </p:nvSpPr>
        <p:spPr>
          <a:xfrm>
            <a:off x="883805" y="2170076"/>
            <a:ext cx="10850390" cy="325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Императивный код —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микроменеджмент</a:t>
            </a:r>
            <a:r>
              <a:t>.</a:t>
            </a:r>
          </a:p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Деĸларативный ĸод —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спецификация</a:t>
            </a:r>
            <a:r>
              <a:t>. </a:t>
            </a:r>
          </a:p>
          <a:p>
            <a:pPr indent="457200">
              <a:lnSpc>
                <a:spcPct val="90000"/>
              </a:lnSpc>
              <a:spcBef>
                <a:spcPts val="1000"/>
              </a:spcBef>
              <a:defRPr sz="2800">
                <a:latin typeface="+mj-lt"/>
                <a:ea typeface="+mj-ea"/>
                <a:cs typeface="+mj-cs"/>
                <a:sym typeface="Arial"/>
              </a:defRPr>
            </a:pPr>
          </a:p>
          <a:p>
            <a:pPr indent="457200">
              <a:lnSpc>
                <a:spcPct val="90000"/>
              </a:lnSpc>
              <a:spcBef>
                <a:spcPts val="1000"/>
              </a:spcBef>
              <a:defRPr sz="28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</a:t>
            </a:r>
            <a:r>
              <a:rPr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vs </a:t>
            </a:r>
            <a:r>
              <a:t>for … in</a:t>
            </a:r>
          </a:p>
          <a:p>
            <a:pPr indent="457200">
              <a:lnSpc>
                <a:spcPct val="90000"/>
              </a:lnSpc>
              <a:spcBef>
                <a:spcPts val="1000"/>
              </a:spcBef>
              <a:defRPr sz="28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</a:t>
            </a:r>
            <a:r>
              <a:rPr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vs </a:t>
            </a:r>
            <a:r>
              <a:t>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34;p7"/>
          <p:cNvSpPr txBox="1"/>
          <p:nvPr>
            <p:ph type="sldNum" sz="quarter" idx="4294967295"/>
          </p:nvPr>
        </p:nvSpPr>
        <p:spPr>
          <a:xfrm>
            <a:off x="11121721" y="6356520"/>
            <a:ext cx="231235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7" name="Google Shape;135;p7"/>
          <p:cNvSpPr txBox="1"/>
          <p:nvPr>
            <p:ph type="body" sz="quarter" idx="1"/>
          </p:nvPr>
        </p:nvSpPr>
        <p:spPr>
          <a:xfrm>
            <a:off x="838080" y="543959"/>
            <a:ext cx="10941841" cy="12186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SzTx/>
              <a:buNone/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Google Shape;136;p7"/>
          <p:cNvSpPr txBox="1"/>
          <p:nvPr/>
        </p:nvSpPr>
        <p:spPr>
          <a:xfrm>
            <a:off x="883805" y="2170076"/>
            <a:ext cx="10850390" cy="325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Людям —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понятность</a:t>
            </a:r>
          </a:p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Машинам —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законы оптимизации</a:t>
            </a:r>
          </a:p>
          <a:p>
            <a:pPr indent="457200">
              <a:lnSpc>
                <a:spcPct val="90000"/>
              </a:lnSpc>
              <a:spcBef>
                <a:spcPts val="1000"/>
              </a:spcBef>
              <a:defRPr sz="2800">
                <a:latin typeface="+mj-lt"/>
                <a:ea typeface="+mj-ea"/>
                <a:cs typeface="+mj-cs"/>
                <a:sym typeface="Arial"/>
              </a:defRPr>
            </a:pPr>
          </a:p>
          <a:p>
            <a:pPr indent="457200">
              <a:lnSpc>
                <a:spcPct val="90000"/>
              </a:lnSpc>
              <a:spcBef>
                <a:spcPts val="1000"/>
              </a:spcBef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* для работы понадобится все остальные свойства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FP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41;p8"/>
          <p:cNvSpPr txBox="1"/>
          <p:nvPr>
            <p:ph type="sldNum" sz="quarter" idx="4294967295"/>
          </p:nvPr>
        </p:nvSpPr>
        <p:spPr>
          <a:xfrm>
            <a:off x="11121721" y="6356520"/>
            <a:ext cx="231235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91" name="TextBox 143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2" name="TextBox 144"/>
          <p:cNvSpPr txBox="1"/>
          <p:nvPr/>
        </p:nvSpPr>
        <p:spPr>
          <a:xfrm>
            <a:off x="655720" y="2279999"/>
            <a:ext cx="35407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193" name="TextBox 145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4" name="TextBox 146"/>
          <p:cNvSpPr txBox="1"/>
          <p:nvPr/>
        </p:nvSpPr>
        <p:spPr>
          <a:xfrm>
            <a:off x="4155716" y="2279999"/>
            <a:ext cx="27025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95" name="TextBox 147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6" name="TextBox 148"/>
          <p:cNvSpPr txBox="1"/>
          <p:nvPr/>
        </p:nvSpPr>
        <p:spPr>
          <a:xfrm>
            <a:off x="7715718" y="2279999"/>
            <a:ext cx="295401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7" name="TextBox 149"/>
          <p:cNvSpPr txBox="1"/>
          <p:nvPr/>
        </p:nvSpPr>
        <p:spPr>
          <a:xfrm>
            <a:off x="3015719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8" name="TextBox 150"/>
          <p:cNvSpPr txBox="1"/>
          <p:nvPr/>
        </p:nvSpPr>
        <p:spPr>
          <a:xfrm>
            <a:off x="3015718" y="4400000"/>
            <a:ext cx="20319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100.0)</a:t>
            </a:r>
          </a:p>
        </p:txBody>
      </p:sp>
      <p:sp>
        <p:nvSpPr>
          <p:cNvPr id="199" name="TextBox 151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00" name="TextBox 152"/>
          <p:cNvSpPr txBox="1"/>
          <p:nvPr/>
        </p:nvSpPr>
        <p:spPr>
          <a:xfrm>
            <a:off x="6875719" y="4400000"/>
            <a:ext cx="27025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  <p:sp>
        <p:nvSpPr>
          <p:cNvPr id="201" name="TextBox 148"/>
          <p:cNvSpPr txBox="1"/>
          <p:nvPr/>
        </p:nvSpPr>
        <p:spPr>
          <a:xfrm>
            <a:off x="565719" y="419998"/>
            <a:ext cx="4331302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Декларативность: задача</a:t>
            </a:r>
          </a:p>
        </p:txBody>
      </p:sp>
      <p:sp>
        <p:nvSpPr>
          <p:cNvPr id="202" name="TextBox 149"/>
          <p:cNvSpPr txBox="1"/>
          <p:nvPr/>
        </p:nvSpPr>
        <p:spPr>
          <a:xfrm>
            <a:off x="565717" y="1049998"/>
            <a:ext cx="611736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Сумма скидок для заказов дороже 100, скидка 10%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148;p9"/>
          <p:cNvSpPr txBox="1"/>
          <p:nvPr>
            <p:ph type="sldNum" sz="quarter" idx="4294967295"/>
          </p:nvPr>
        </p:nvSpPr>
        <p:spPr>
          <a:xfrm>
            <a:off x="11121721" y="6356520"/>
            <a:ext cx="231235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05" name="TextBox 148"/>
          <p:cNvSpPr txBox="1"/>
          <p:nvPr/>
        </p:nvSpPr>
        <p:spPr>
          <a:xfrm>
            <a:off x="565719" y="419998"/>
            <a:ext cx="4331302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Декларативность: задача</a:t>
            </a:r>
          </a:p>
        </p:txBody>
      </p:sp>
      <p:sp>
        <p:nvSpPr>
          <p:cNvPr id="206" name="TextBox 149"/>
          <p:cNvSpPr txBox="1"/>
          <p:nvPr/>
        </p:nvSpPr>
        <p:spPr>
          <a:xfrm>
            <a:off x="565717" y="1049998"/>
            <a:ext cx="611736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Сумма скидок для заказов дороже 100, скидка 10%</a:t>
            </a:r>
          </a:p>
        </p:txBody>
      </p:sp>
      <p:sp>
        <p:nvSpPr>
          <p:cNvPr id="207" name="TextBox 150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08" name="TextBox 151"/>
          <p:cNvSpPr txBox="1"/>
          <p:nvPr/>
        </p:nvSpPr>
        <p:spPr>
          <a:xfrm>
            <a:off x="655720" y="2279999"/>
            <a:ext cx="35407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discount orders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List.filter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7F8C8D"/>
                </a:solidFill>
              </a:rPr>
              <a:t>100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List.map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7F8C8D"/>
                </a:solidFill>
              </a:rPr>
              <a:t>0.1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List.fold_left</a:t>
            </a:r>
            <a:r>
              <a:t> ( +. ) </a:t>
            </a:r>
            <a:r>
              <a:rPr>
                <a:solidFill>
                  <a:srgbClr val="7F8C8D"/>
                </a:solidFill>
              </a:rPr>
              <a:t>0.0</a:t>
            </a:r>
          </a:p>
        </p:txBody>
      </p:sp>
      <p:sp>
        <p:nvSpPr>
          <p:cNvPr id="209" name="TextBox 152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10" name="TextBox 153"/>
          <p:cNvSpPr txBox="1"/>
          <p:nvPr/>
        </p:nvSpPr>
        <p:spPr>
          <a:xfrm>
            <a:off x="4155716" y="2279999"/>
            <a:ext cx="27025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11" name="TextBox 154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12" name="TextBox 155"/>
          <p:cNvSpPr txBox="1"/>
          <p:nvPr/>
        </p:nvSpPr>
        <p:spPr>
          <a:xfrm>
            <a:off x="7715718" y="2279999"/>
            <a:ext cx="295401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13" name="TextBox 156"/>
          <p:cNvSpPr txBox="1"/>
          <p:nvPr/>
        </p:nvSpPr>
        <p:spPr>
          <a:xfrm>
            <a:off x="3015719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14" name="TextBox 157"/>
          <p:cNvSpPr txBox="1"/>
          <p:nvPr/>
        </p:nvSpPr>
        <p:spPr>
          <a:xfrm>
            <a:off x="3015718" y="4400000"/>
            <a:ext cx="20319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100.0)</a:t>
            </a:r>
          </a:p>
        </p:txBody>
      </p:sp>
      <p:sp>
        <p:nvSpPr>
          <p:cNvPr id="215" name="TextBox 158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16" name="TextBox 159"/>
          <p:cNvSpPr txBox="1"/>
          <p:nvPr/>
        </p:nvSpPr>
        <p:spPr>
          <a:xfrm>
            <a:off x="6875719" y="4400000"/>
            <a:ext cx="27025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155;p10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19" name="TextBox 155"/>
          <p:cNvSpPr txBox="1"/>
          <p:nvPr/>
        </p:nvSpPr>
        <p:spPr>
          <a:xfrm>
            <a:off x="565719" y="419998"/>
            <a:ext cx="4331302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Декларативность: задача</a:t>
            </a:r>
          </a:p>
        </p:txBody>
      </p:sp>
      <p:sp>
        <p:nvSpPr>
          <p:cNvPr id="220" name="TextBox 156"/>
          <p:cNvSpPr txBox="1"/>
          <p:nvPr/>
        </p:nvSpPr>
        <p:spPr>
          <a:xfrm>
            <a:off x="565717" y="1049998"/>
            <a:ext cx="611736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Сумма скидок для заказов дороже 100, скидка 10%</a:t>
            </a:r>
          </a:p>
        </p:txBody>
      </p:sp>
      <p:sp>
        <p:nvSpPr>
          <p:cNvPr id="221" name="TextBox 157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22" name="TextBox 158"/>
          <p:cNvSpPr txBox="1"/>
          <p:nvPr/>
        </p:nvSpPr>
        <p:spPr>
          <a:xfrm>
            <a:off x="655720" y="2279999"/>
            <a:ext cx="35407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discount orders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List.filter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7F8C8D"/>
                </a:solidFill>
              </a:rPr>
              <a:t>100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List.map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7F8C8D"/>
                </a:solidFill>
              </a:rPr>
              <a:t>0.1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List.fold_left</a:t>
            </a:r>
            <a:r>
              <a:t> ( +. ) </a:t>
            </a:r>
            <a:r>
              <a:rPr>
                <a:solidFill>
                  <a:srgbClr val="7F8C8D"/>
                </a:solidFill>
              </a:rPr>
              <a:t>0.0</a:t>
            </a:r>
          </a:p>
        </p:txBody>
      </p:sp>
      <p:sp>
        <p:nvSpPr>
          <p:cNvPr id="223" name="TextBox 159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4" name="TextBox 160"/>
          <p:cNvSpPr txBox="1"/>
          <p:nvPr/>
        </p:nvSpPr>
        <p:spPr>
          <a:xfrm>
            <a:off x="4155716" y="2279999"/>
            <a:ext cx="27025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(xs: </a:t>
            </a:r>
            <a:r>
              <a:rPr>
                <a:solidFill>
                  <a:srgbClr val="2C6FA6"/>
                </a:solidFill>
              </a:rPr>
              <a:t>List[Order]</a:t>
            </a:r>
            <a:r>
              <a:rPr>
                <a:solidFill>
                  <a:srgbClr val="1A1A1A"/>
                </a:solidFill>
              </a:rPr>
              <a:t>)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7F8C8D"/>
                </a:solidFill>
              </a:rPr>
              <a:t>100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7F8C8D"/>
                </a:solidFill>
              </a:rPr>
              <a:t>0.1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</a:p>
        </p:txBody>
      </p:sp>
      <p:sp>
        <p:nvSpPr>
          <p:cNvPr id="225" name="TextBox 161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6" name="TextBox 162"/>
          <p:cNvSpPr txBox="1"/>
          <p:nvPr/>
        </p:nvSpPr>
        <p:spPr>
          <a:xfrm>
            <a:off x="7715718" y="2279999"/>
            <a:ext cx="295401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7" name="TextBox 163"/>
          <p:cNvSpPr txBox="1"/>
          <p:nvPr/>
        </p:nvSpPr>
        <p:spPr>
          <a:xfrm>
            <a:off x="3015719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8" name="TextBox 164"/>
          <p:cNvSpPr txBox="1"/>
          <p:nvPr/>
        </p:nvSpPr>
        <p:spPr>
          <a:xfrm>
            <a:off x="3015718" y="4400000"/>
            <a:ext cx="20319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100.0)</a:t>
            </a:r>
          </a:p>
        </p:txBody>
      </p:sp>
      <p:sp>
        <p:nvSpPr>
          <p:cNvPr id="229" name="TextBox 165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30" name="TextBox 166"/>
          <p:cNvSpPr txBox="1"/>
          <p:nvPr/>
        </p:nvSpPr>
        <p:spPr>
          <a:xfrm>
            <a:off x="6875719" y="4400000"/>
            <a:ext cx="27025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162;p11"/>
          <p:cNvSpPr txBox="1"/>
          <p:nvPr>
            <p:ph type="sldNum" sz="quarter" idx="4294967295"/>
          </p:nvPr>
        </p:nvSpPr>
        <p:spPr>
          <a:xfrm>
            <a:off x="11011551" y="6356520"/>
            <a:ext cx="341405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33" name="TextBox 162"/>
          <p:cNvSpPr txBox="1"/>
          <p:nvPr/>
        </p:nvSpPr>
        <p:spPr>
          <a:xfrm>
            <a:off x="565719" y="419998"/>
            <a:ext cx="4331302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Декларативность: задача</a:t>
            </a:r>
          </a:p>
        </p:txBody>
      </p:sp>
      <p:sp>
        <p:nvSpPr>
          <p:cNvPr id="234" name="TextBox 163"/>
          <p:cNvSpPr txBox="1"/>
          <p:nvPr/>
        </p:nvSpPr>
        <p:spPr>
          <a:xfrm>
            <a:off x="565717" y="1049998"/>
            <a:ext cx="611736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Сумма скидок для заказов дороже 100, скидка 10%</a:t>
            </a:r>
          </a:p>
        </p:txBody>
      </p:sp>
      <p:sp>
        <p:nvSpPr>
          <p:cNvPr id="235" name="TextBox 164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6" name="TextBox 165"/>
          <p:cNvSpPr txBox="1"/>
          <p:nvPr/>
        </p:nvSpPr>
        <p:spPr>
          <a:xfrm>
            <a:off x="655720" y="2279999"/>
            <a:ext cx="35407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discount orders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List.filter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7F8C8D"/>
                </a:solidFill>
              </a:rPr>
              <a:t>100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List.map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7F8C8D"/>
                </a:solidFill>
              </a:rPr>
              <a:t>0.1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List.fold_left</a:t>
            </a:r>
            <a:r>
              <a:t> ( +. ) </a:t>
            </a:r>
            <a:r>
              <a:rPr>
                <a:solidFill>
                  <a:srgbClr val="7F8C8D"/>
                </a:solidFill>
              </a:rPr>
              <a:t>0.0</a:t>
            </a:r>
          </a:p>
        </p:txBody>
      </p:sp>
      <p:sp>
        <p:nvSpPr>
          <p:cNvPr id="237" name="TextBox 166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8" name="TextBox 167"/>
          <p:cNvSpPr txBox="1"/>
          <p:nvPr/>
        </p:nvSpPr>
        <p:spPr>
          <a:xfrm>
            <a:off x="4155716" y="2279999"/>
            <a:ext cx="27025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(xs: </a:t>
            </a:r>
            <a:r>
              <a:rPr>
                <a:solidFill>
                  <a:srgbClr val="2C6FA6"/>
                </a:solidFill>
              </a:rPr>
              <a:t>List[Order]</a:t>
            </a:r>
            <a:r>
              <a:rPr>
                <a:solidFill>
                  <a:srgbClr val="1A1A1A"/>
                </a:solidFill>
              </a:rPr>
              <a:t>)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7F8C8D"/>
                </a:solidFill>
              </a:rPr>
              <a:t>100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7F8C8D"/>
                </a:solidFill>
              </a:rPr>
              <a:t>0.1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</a:p>
        </p:txBody>
      </p:sp>
      <p:sp>
        <p:nvSpPr>
          <p:cNvPr id="239" name="TextBox 168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0" name="TextBox 169"/>
          <p:cNvSpPr txBox="1"/>
          <p:nvPr/>
        </p:nvSpPr>
        <p:spPr>
          <a:xfrm>
            <a:off x="7715718" y="2279999"/>
            <a:ext cx="295401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(xs: &amp;[</a:t>
            </a:r>
            <a:r>
              <a:rPr>
                <a:solidFill>
                  <a:srgbClr val="2C6FA6"/>
                </a:solidFill>
              </a:rPr>
              <a:t>Order</a:t>
            </a:r>
            <a:r>
              <a:rPr>
                <a:solidFill>
                  <a:srgbClr val="1A1A1A"/>
                </a:solidFill>
              </a:rPr>
              <a:t>]) -&gt; f64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7F8C8D"/>
                </a:solidFill>
              </a:rPr>
              <a:t>100.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7F8C8D"/>
                </a:solidFill>
              </a:rPr>
              <a:t>0.1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  <a:r>
              <a:t>()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1" name="TextBox 170"/>
          <p:cNvSpPr txBox="1"/>
          <p:nvPr/>
        </p:nvSpPr>
        <p:spPr>
          <a:xfrm>
            <a:off x="3015719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2" name="TextBox 171"/>
          <p:cNvSpPr txBox="1"/>
          <p:nvPr/>
        </p:nvSpPr>
        <p:spPr>
          <a:xfrm>
            <a:off x="3015718" y="4400000"/>
            <a:ext cx="20319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100.0)</a:t>
            </a:r>
          </a:p>
        </p:txBody>
      </p:sp>
      <p:sp>
        <p:nvSpPr>
          <p:cNvPr id="243" name="TextBox 172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4" name="TextBox 173"/>
          <p:cNvSpPr txBox="1"/>
          <p:nvPr/>
        </p:nvSpPr>
        <p:spPr>
          <a:xfrm>
            <a:off x="6875719" y="4400000"/>
            <a:ext cx="27025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169;p12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47" name="TextBox 169"/>
          <p:cNvSpPr txBox="1"/>
          <p:nvPr/>
        </p:nvSpPr>
        <p:spPr>
          <a:xfrm>
            <a:off x="565719" y="419998"/>
            <a:ext cx="4331302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Декларативность: задача</a:t>
            </a:r>
          </a:p>
        </p:txBody>
      </p:sp>
      <p:sp>
        <p:nvSpPr>
          <p:cNvPr id="248" name="TextBox 170"/>
          <p:cNvSpPr txBox="1"/>
          <p:nvPr/>
        </p:nvSpPr>
        <p:spPr>
          <a:xfrm>
            <a:off x="565717" y="1049998"/>
            <a:ext cx="611736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Сумма скидок для заказов дороже 100, скидка 10%</a:t>
            </a:r>
          </a:p>
        </p:txBody>
      </p:sp>
      <p:sp>
        <p:nvSpPr>
          <p:cNvPr id="249" name="TextBox 171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0" name="TextBox 172"/>
          <p:cNvSpPr txBox="1"/>
          <p:nvPr/>
        </p:nvSpPr>
        <p:spPr>
          <a:xfrm>
            <a:off x="655720" y="2279999"/>
            <a:ext cx="35407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discount orders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List.filter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7F8C8D"/>
                </a:solidFill>
              </a:rPr>
              <a:t>100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List.map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7F8C8D"/>
                </a:solidFill>
              </a:rPr>
              <a:t>0.1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List.fold_left</a:t>
            </a:r>
            <a:r>
              <a:t> ( +. ) </a:t>
            </a:r>
            <a:r>
              <a:rPr>
                <a:solidFill>
                  <a:srgbClr val="7F8C8D"/>
                </a:solidFill>
              </a:rPr>
              <a:t>0.0</a:t>
            </a:r>
          </a:p>
        </p:txBody>
      </p:sp>
      <p:sp>
        <p:nvSpPr>
          <p:cNvPr id="251" name="TextBox 173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2" name="TextBox 174"/>
          <p:cNvSpPr txBox="1"/>
          <p:nvPr/>
        </p:nvSpPr>
        <p:spPr>
          <a:xfrm>
            <a:off x="4155716" y="2279999"/>
            <a:ext cx="27025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(xs: </a:t>
            </a:r>
            <a:r>
              <a:rPr>
                <a:solidFill>
                  <a:srgbClr val="2C6FA6"/>
                </a:solidFill>
              </a:rPr>
              <a:t>List[Order]</a:t>
            </a:r>
            <a:r>
              <a:rPr>
                <a:solidFill>
                  <a:srgbClr val="1A1A1A"/>
                </a:solidFill>
              </a:rPr>
              <a:t>)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7F8C8D"/>
                </a:solidFill>
              </a:rPr>
              <a:t>100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7F8C8D"/>
                </a:solidFill>
              </a:rPr>
              <a:t>0.1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</a:p>
        </p:txBody>
      </p:sp>
      <p:sp>
        <p:nvSpPr>
          <p:cNvPr id="253" name="TextBox 175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54" name="TextBox 176"/>
          <p:cNvSpPr txBox="1"/>
          <p:nvPr/>
        </p:nvSpPr>
        <p:spPr>
          <a:xfrm>
            <a:off x="7715718" y="2279999"/>
            <a:ext cx="295401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(xs: &amp;[</a:t>
            </a:r>
            <a:r>
              <a:rPr>
                <a:solidFill>
                  <a:srgbClr val="2C6FA6"/>
                </a:solidFill>
              </a:rPr>
              <a:t>Order</a:t>
            </a:r>
            <a:r>
              <a:rPr>
                <a:solidFill>
                  <a:srgbClr val="1A1A1A"/>
                </a:solidFill>
              </a:rPr>
              <a:t>]) -&gt; f64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7F8C8D"/>
                </a:solidFill>
              </a:rPr>
              <a:t>100.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7F8C8D"/>
                </a:solidFill>
              </a:rPr>
              <a:t>0.1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  <a:r>
              <a:t>()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55" name="TextBox 177"/>
          <p:cNvSpPr txBox="1"/>
          <p:nvPr/>
        </p:nvSpPr>
        <p:spPr>
          <a:xfrm>
            <a:off x="3015719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56" name="TextBox 178"/>
          <p:cNvSpPr txBox="1"/>
          <p:nvPr/>
        </p:nvSpPr>
        <p:spPr>
          <a:xfrm>
            <a:off x="3015718" y="4400000"/>
            <a:ext cx="20319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(orders):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</a:t>
            </a:r>
            <a:r>
              <a:rPr>
                <a:solidFill>
                  <a:srgbClr val="2C6FA6"/>
                </a:solidFill>
              </a:rPr>
              <a:t>sum</a:t>
            </a:r>
            <a:r>
              <a:t>(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7F8C8D"/>
                </a:solidFill>
              </a:rPr>
              <a:t>0.1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</a:t>
            </a:r>
            <a:r>
              <a:rPr>
                <a:solidFill>
                  <a:srgbClr val="1A1A1A"/>
                </a:solidFill>
              </a:rPr>
              <a:t> o </a:t>
            </a:r>
            <a:r>
              <a:t>in</a:t>
            </a:r>
            <a:r>
              <a:rPr>
                <a:solidFill>
                  <a:srgbClr val="1A1A1A"/>
                </a:solidFill>
              </a:rPr>
              <a:t> orders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</a:t>
            </a:r>
            <a:r>
              <a:rPr>
                <a:solidFill>
                  <a:srgbClr val="1A1A1A"/>
                </a:solidFill>
              </a:rPr>
              <a:t> o.price &gt; </a:t>
            </a:r>
            <a:r>
              <a:rPr>
                <a:solidFill>
                  <a:srgbClr val="7F8C8D"/>
                </a:solidFill>
              </a:rPr>
              <a:t>100.0</a:t>
            </a:r>
            <a:r>
              <a:rPr>
                <a:solidFill>
                  <a:srgbClr val="1A1A1A"/>
                </a:solidFill>
              </a:rPr>
              <a:t>)</a:t>
            </a:r>
          </a:p>
        </p:txBody>
      </p:sp>
      <p:sp>
        <p:nvSpPr>
          <p:cNvPr id="257" name="TextBox 179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58" name="TextBox 180"/>
          <p:cNvSpPr txBox="1"/>
          <p:nvPr/>
        </p:nvSpPr>
        <p:spPr>
          <a:xfrm>
            <a:off x="6875719" y="4400000"/>
            <a:ext cx="27025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176;p13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61" name="TextBox 176"/>
          <p:cNvSpPr txBox="1"/>
          <p:nvPr/>
        </p:nvSpPr>
        <p:spPr>
          <a:xfrm>
            <a:off x="565719" y="419998"/>
            <a:ext cx="4331302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Декларативность: задача</a:t>
            </a:r>
          </a:p>
        </p:txBody>
      </p:sp>
      <p:sp>
        <p:nvSpPr>
          <p:cNvPr id="262" name="TextBox 177"/>
          <p:cNvSpPr txBox="1"/>
          <p:nvPr/>
        </p:nvSpPr>
        <p:spPr>
          <a:xfrm>
            <a:off x="565717" y="1049998"/>
            <a:ext cx="611736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Сумма скидок для заказов дороже 100, скидка 10%</a:t>
            </a:r>
          </a:p>
        </p:txBody>
      </p:sp>
      <p:sp>
        <p:nvSpPr>
          <p:cNvPr id="263" name="TextBox 178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64" name="TextBox 179"/>
          <p:cNvSpPr txBox="1"/>
          <p:nvPr/>
        </p:nvSpPr>
        <p:spPr>
          <a:xfrm>
            <a:off x="655720" y="2279999"/>
            <a:ext cx="35407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discount orders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List.filter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7F8C8D"/>
                </a:solidFill>
              </a:rPr>
              <a:t>100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List.map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7F8C8D"/>
                </a:solidFill>
              </a:rPr>
              <a:t>0.1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List.fold_left</a:t>
            </a:r>
            <a:r>
              <a:t> ( +. ) </a:t>
            </a:r>
            <a:r>
              <a:rPr>
                <a:solidFill>
                  <a:srgbClr val="7F8C8D"/>
                </a:solidFill>
              </a:rPr>
              <a:t>0.0</a:t>
            </a:r>
          </a:p>
        </p:txBody>
      </p:sp>
      <p:sp>
        <p:nvSpPr>
          <p:cNvPr id="265" name="TextBox 180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66" name="TextBox 181"/>
          <p:cNvSpPr txBox="1"/>
          <p:nvPr/>
        </p:nvSpPr>
        <p:spPr>
          <a:xfrm>
            <a:off x="4155716" y="2279999"/>
            <a:ext cx="27025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(xs: </a:t>
            </a:r>
            <a:r>
              <a:rPr>
                <a:solidFill>
                  <a:srgbClr val="2C6FA6"/>
                </a:solidFill>
              </a:rPr>
              <a:t>List[Order]</a:t>
            </a:r>
            <a:r>
              <a:rPr>
                <a:solidFill>
                  <a:srgbClr val="1A1A1A"/>
                </a:solidFill>
              </a:rPr>
              <a:t>)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7F8C8D"/>
                </a:solidFill>
              </a:rPr>
              <a:t>100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7F8C8D"/>
                </a:solidFill>
              </a:rPr>
              <a:t>0.1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</a:p>
        </p:txBody>
      </p:sp>
      <p:sp>
        <p:nvSpPr>
          <p:cNvPr id="267" name="TextBox 182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8" name="TextBox 183"/>
          <p:cNvSpPr txBox="1"/>
          <p:nvPr/>
        </p:nvSpPr>
        <p:spPr>
          <a:xfrm>
            <a:off x="7715718" y="2279999"/>
            <a:ext cx="295401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(xs: &amp;[</a:t>
            </a:r>
            <a:r>
              <a:rPr>
                <a:solidFill>
                  <a:srgbClr val="2C6FA6"/>
                </a:solidFill>
              </a:rPr>
              <a:t>Order</a:t>
            </a:r>
            <a:r>
              <a:rPr>
                <a:solidFill>
                  <a:srgbClr val="1A1A1A"/>
                </a:solidFill>
              </a:rPr>
              <a:t>]) -&gt; f64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7F8C8D"/>
                </a:solidFill>
              </a:rPr>
              <a:t>100.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7F8C8D"/>
                </a:solidFill>
              </a:rPr>
              <a:t>0.1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  <a:r>
              <a:t>()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9" name="TextBox 184"/>
          <p:cNvSpPr txBox="1"/>
          <p:nvPr/>
        </p:nvSpPr>
        <p:spPr>
          <a:xfrm>
            <a:off x="3015719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70" name="TextBox 185"/>
          <p:cNvSpPr txBox="1"/>
          <p:nvPr/>
        </p:nvSpPr>
        <p:spPr>
          <a:xfrm>
            <a:off x="3015718" y="4400000"/>
            <a:ext cx="20319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(orders):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</a:t>
            </a:r>
            <a:r>
              <a:rPr>
                <a:solidFill>
                  <a:srgbClr val="2C6FA6"/>
                </a:solidFill>
              </a:rPr>
              <a:t>sum</a:t>
            </a:r>
            <a:r>
              <a:t>(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7F8C8D"/>
                </a:solidFill>
              </a:rPr>
              <a:t>0.1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</a:t>
            </a:r>
            <a:r>
              <a:rPr>
                <a:solidFill>
                  <a:srgbClr val="1A1A1A"/>
                </a:solidFill>
              </a:rPr>
              <a:t> o </a:t>
            </a:r>
            <a:r>
              <a:t>in</a:t>
            </a:r>
            <a:r>
              <a:rPr>
                <a:solidFill>
                  <a:srgbClr val="1A1A1A"/>
                </a:solidFill>
              </a:rPr>
              <a:t> orders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</a:t>
            </a:r>
            <a:r>
              <a:rPr>
                <a:solidFill>
                  <a:srgbClr val="1A1A1A"/>
                </a:solidFill>
              </a:rPr>
              <a:t> o.price &gt; </a:t>
            </a:r>
            <a:r>
              <a:rPr>
                <a:solidFill>
                  <a:srgbClr val="7F8C8D"/>
                </a:solidFill>
              </a:rPr>
              <a:t>100.0</a:t>
            </a:r>
            <a:r>
              <a:rPr>
                <a:solidFill>
                  <a:srgbClr val="1A1A1A"/>
                </a:solidFill>
              </a:rPr>
              <a:t>)</a:t>
            </a:r>
          </a:p>
        </p:txBody>
      </p:sp>
      <p:sp>
        <p:nvSpPr>
          <p:cNvPr id="271" name="TextBox 186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72" name="TextBox 187"/>
          <p:cNvSpPr txBox="1"/>
          <p:nvPr/>
        </p:nvSpPr>
        <p:spPr>
          <a:xfrm>
            <a:off x="6875719" y="4400000"/>
            <a:ext cx="270255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 = orders =&gt;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7F8C8D"/>
                </a:solidFill>
              </a:rPr>
              <a:t>100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7F8C8D"/>
                </a:solidFill>
              </a:rPr>
              <a:t>0.1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183;p14"/>
          <p:cNvSpPr txBox="1"/>
          <p:nvPr>
            <p:ph type="title"/>
          </p:nvPr>
        </p:nvSpPr>
        <p:spPr>
          <a:xfrm>
            <a:off x="838080" y="2766240"/>
            <a:ext cx="10514881" cy="132516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5" name="Google Shape;184;p14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189;p15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78" name="Google Shape;190;p15"/>
          <p:cNvSpPr txBox="1"/>
          <p:nvPr>
            <p:ph type="body" sz="quarter" idx="1"/>
          </p:nvPr>
        </p:nvSpPr>
        <p:spPr>
          <a:xfrm>
            <a:off x="838080" y="543959"/>
            <a:ext cx="10941841" cy="12186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SzTx/>
              <a:buNone/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9" name="Google Shape;191;p15"/>
          <p:cNvSpPr txBox="1"/>
          <p:nvPr/>
        </p:nvSpPr>
        <p:spPr>
          <a:xfrm>
            <a:off x="883805" y="2170076"/>
            <a:ext cx="10850390" cy="325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Инструкции производят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эффект</a:t>
            </a:r>
            <a:endParaRPr b="1">
              <a:latin typeface="+mj-lt"/>
              <a:ea typeface="+mj-ea"/>
              <a:cs typeface="+mj-cs"/>
              <a:sym typeface="Arial"/>
            </a:endParaRPr>
          </a:p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Выражения вычисляются в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значения</a:t>
            </a:r>
            <a:endParaRPr b="1">
              <a:latin typeface="+mj-lt"/>
              <a:ea typeface="+mj-ea"/>
              <a:cs typeface="+mj-cs"/>
              <a:sym typeface="Arial"/>
            </a:endParaRPr>
          </a:p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Значения можно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196;p1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82" name="TextBox 196"/>
          <p:cNvSpPr txBox="1"/>
          <p:nvPr/>
        </p:nvSpPr>
        <p:spPr>
          <a:xfrm>
            <a:off x="565715" y="419998"/>
            <a:ext cx="6722518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инструкций: задача</a:t>
            </a:r>
          </a:p>
        </p:txBody>
      </p:sp>
      <p:sp>
        <p:nvSpPr>
          <p:cNvPr id="283" name="TextBox 197"/>
          <p:cNvSpPr txBox="1"/>
          <p:nvPr/>
        </p:nvSpPr>
        <p:spPr>
          <a:xfrm>
            <a:off x="565718" y="1049998"/>
            <a:ext cx="7357888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Вычислить сумму чисел, включив в неё только чётные числа</a:t>
            </a:r>
          </a:p>
        </p:txBody>
      </p:sp>
      <p:sp>
        <p:nvSpPr>
          <p:cNvPr id="284" name="TextBox 198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85" name="TextBox 199"/>
          <p:cNvSpPr txBox="1"/>
          <p:nvPr/>
        </p:nvSpPr>
        <p:spPr>
          <a:xfrm>
            <a:off x="655718" y="2279999"/>
            <a:ext cx="337311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86" name="TextBox 200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87" name="TextBox 201"/>
          <p:cNvSpPr txBox="1"/>
          <p:nvPr/>
        </p:nvSpPr>
        <p:spPr>
          <a:xfrm>
            <a:off x="4155716" y="2279999"/>
            <a:ext cx="24510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88" name="TextBox 202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89" name="TextBox 203"/>
          <p:cNvSpPr txBox="1"/>
          <p:nvPr/>
        </p:nvSpPr>
        <p:spPr>
          <a:xfrm>
            <a:off x="7715718" y="2279999"/>
            <a:ext cx="278637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0" name="TextBox 204"/>
          <p:cNvSpPr txBox="1"/>
          <p:nvPr/>
        </p:nvSpPr>
        <p:spPr>
          <a:xfrm>
            <a:off x="3015719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91" name="TextBox 205"/>
          <p:cNvSpPr txBox="1"/>
          <p:nvPr/>
        </p:nvSpPr>
        <p:spPr>
          <a:xfrm>
            <a:off x="3015718" y="4400000"/>
            <a:ext cx="16128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x % 2 == 0)</a:t>
            </a:r>
          </a:p>
        </p:txBody>
      </p:sp>
      <p:sp>
        <p:nvSpPr>
          <p:cNvPr id="292" name="TextBox 206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93" name="TextBox 207"/>
          <p:cNvSpPr txBox="1"/>
          <p:nvPr/>
        </p:nvSpPr>
        <p:spPr>
          <a:xfrm>
            <a:off x="6875719" y="4400000"/>
            <a:ext cx="270255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03;p17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96" name="TextBox 203"/>
          <p:cNvSpPr txBox="1"/>
          <p:nvPr/>
        </p:nvSpPr>
        <p:spPr>
          <a:xfrm>
            <a:off x="565715" y="419998"/>
            <a:ext cx="6722518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инструкций: задача</a:t>
            </a:r>
          </a:p>
        </p:txBody>
      </p:sp>
      <p:sp>
        <p:nvSpPr>
          <p:cNvPr id="297" name="TextBox 204"/>
          <p:cNvSpPr txBox="1"/>
          <p:nvPr/>
        </p:nvSpPr>
        <p:spPr>
          <a:xfrm>
            <a:off x="565718" y="1049998"/>
            <a:ext cx="7357888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Вычислить сумму чисел, включив в неё только чётные числа</a:t>
            </a:r>
          </a:p>
        </p:txBody>
      </p:sp>
      <p:sp>
        <p:nvSpPr>
          <p:cNvPr id="298" name="TextBox 205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9" name="TextBox 206"/>
          <p:cNvSpPr txBox="1"/>
          <p:nvPr/>
        </p:nvSpPr>
        <p:spPr>
          <a:xfrm>
            <a:off x="655718" y="2279999"/>
            <a:ext cx="337311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sum_even xs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List.filter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x -&gt; x mod </a:t>
            </a:r>
            <a:r>
              <a:rPr>
                <a:solidFill>
                  <a:srgbClr val="7F8C8D"/>
                </a:solidFill>
              </a:rPr>
              <a:t>2</a:t>
            </a:r>
            <a:r>
              <a:t> =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List.fold_left</a:t>
            </a:r>
            <a:r>
              <a:t> ( + ) </a:t>
            </a:r>
            <a:r>
              <a:rPr>
                <a:solidFill>
                  <a:srgbClr val="7F8C8D"/>
                </a:solidFill>
              </a:rPr>
              <a:t>0</a:t>
            </a:r>
          </a:p>
        </p:txBody>
      </p:sp>
      <p:sp>
        <p:nvSpPr>
          <p:cNvPr id="300" name="TextBox 207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01" name="TextBox 208"/>
          <p:cNvSpPr txBox="1"/>
          <p:nvPr/>
        </p:nvSpPr>
        <p:spPr>
          <a:xfrm>
            <a:off x="4155716" y="2279999"/>
            <a:ext cx="24510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302" name="TextBox 209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03" name="TextBox 210"/>
          <p:cNvSpPr txBox="1"/>
          <p:nvPr/>
        </p:nvSpPr>
        <p:spPr>
          <a:xfrm>
            <a:off x="7715718" y="2279999"/>
            <a:ext cx="278637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04" name="TextBox 211"/>
          <p:cNvSpPr txBox="1"/>
          <p:nvPr/>
        </p:nvSpPr>
        <p:spPr>
          <a:xfrm>
            <a:off x="3015719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5" name="TextBox 212"/>
          <p:cNvSpPr txBox="1"/>
          <p:nvPr/>
        </p:nvSpPr>
        <p:spPr>
          <a:xfrm>
            <a:off x="3015718" y="4400000"/>
            <a:ext cx="16128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x % 2 == 0)</a:t>
            </a:r>
          </a:p>
        </p:txBody>
      </p:sp>
      <p:sp>
        <p:nvSpPr>
          <p:cNvPr id="306" name="TextBox 213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7" name="TextBox 214"/>
          <p:cNvSpPr txBox="1"/>
          <p:nvPr/>
        </p:nvSpPr>
        <p:spPr>
          <a:xfrm>
            <a:off x="6875719" y="4400000"/>
            <a:ext cx="270255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210;p18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10" name="TextBox 210"/>
          <p:cNvSpPr txBox="1"/>
          <p:nvPr/>
        </p:nvSpPr>
        <p:spPr>
          <a:xfrm>
            <a:off x="565715" y="419998"/>
            <a:ext cx="6722518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инструкций: задача</a:t>
            </a:r>
          </a:p>
        </p:txBody>
      </p:sp>
      <p:sp>
        <p:nvSpPr>
          <p:cNvPr id="311" name="TextBox 211"/>
          <p:cNvSpPr txBox="1"/>
          <p:nvPr/>
        </p:nvSpPr>
        <p:spPr>
          <a:xfrm>
            <a:off x="565718" y="1049998"/>
            <a:ext cx="7357888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Вычислить сумму чисел, включив в неё только чётные числа</a:t>
            </a:r>
          </a:p>
        </p:txBody>
      </p:sp>
      <p:sp>
        <p:nvSpPr>
          <p:cNvPr id="312" name="TextBox 212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TextBox 213"/>
          <p:cNvSpPr txBox="1"/>
          <p:nvPr/>
        </p:nvSpPr>
        <p:spPr>
          <a:xfrm>
            <a:off x="655718" y="2279999"/>
            <a:ext cx="337311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sum_even xs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List.filter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x -&gt; x mod </a:t>
            </a:r>
            <a:r>
              <a:rPr>
                <a:solidFill>
                  <a:srgbClr val="7F8C8D"/>
                </a:solidFill>
              </a:rPr>
              <a:t>2</a:t>
            </a:r>
            <a:r>
              <a:t> =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List.fold_left</a:t>
            </a:r>
            <a:r>
              <a:t> ( + ) </a:t>
            </a:r>
            <a:r>
              <a:rPr>
                <a:solidFill>
                  <a:srgbClr val="7F8C8D"/>
                </a:solidFill>
              </a:rPr>
              <a:t>0</a:t>
            </a:r>
          </a:p>
        </p:txBody>
      </p:sp>
      <p:sp>
        <p:nvSpPr>
          <p:cNvPr id="314" name="TextBox 214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TextBox 215"/>
          <p:cNvSpPr txBox="1"/>
          <p:nvPr/>
        </p:nvSpPr>
        <p:spPr>
          <a:xfrm>
            <a:off x="4155716" y="2279999"/>
            <a:ext cx="24510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sumEven</a:t>
            </a:r>
            <a:r>
              <a:rPr>
                <a:solidFill>
                  <a:srgbClr val="1A1A1A"/>
                </a:solidFill>
              </a:rPr>
              <a:t>(xs: </a:t>
            </a:r>
            <a:r>
              <a:rPr>
                <a:solidFill>
                  <a:srgbClr val="2C6FA6"/>
                </a:solidFill>
              </a:rPr>
              <a:t>List[Int]</a:t>
            </a:r>
            <a:r>
              <a:rPr>
                <a:solidFill>
                  <a:srgbClr val="1A1A1A"/>
                </a:solidFill>
              </a:rPr>
              <a:t>)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7F8C8D"/>
                </a:solidFill>
              </a:rPr>
              <a:t>2</a:t>
            </a:r>
            <a:r>
              <a:t> ==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</a:p>
        </p:txBody>
      </p:sp>
      <p:sp>
        <p:nvSpPr>
          <p:cNvPr id="316" name="TextBox 216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TextBox 217"/>
          <p:cNvSpPr txBox="1"/>
          <p:nvPr/>
        </p:nvSpPr>
        <p:spPr>
          <a:xfrm>
            <a:off x="7715718" y="2279999"/>
            <a:ext cx="278637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TextBox 218"/>
          <p:cNvSpPr txBox="1"/>
          <p:nvPr/>
        </p:nvSpPr>
        <p:spPr>
          <a:xfrm>
            <a:off x="3015719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TextBox 219"/>
          <p:cNvSpPr txBox="1"/>
          <p:nvPr/>
        </p:nvSpPr>
        <p:spPr>
          <a:xfrm>
            <a:off x="3015718" y="4400000"/>
            <a:ext cx="16128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x % 2 == 0)</a:t>
            </a:r>
          </a:p>
        </p:txBody>
      </p:sp>
      <p:sp>
        <p:nvSpPr>
          <p:cNvPr id="320" name="TextBox 220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TextBox 221"/>
          <p:cNvSpPr txBox="1"/>
          <p:nvPr/>
        </p:nvSpPr>
        <p:spPr>
          <a:xfrm>
            <a:off x="6875719" y="4400000"/>
            <a:ext cx="270255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217;p19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24" name="TextBox 217"/>
          <p:cNvSpPr txBox="1"/>
          <p:nvPr/>
        </p:nvSpPr>
        <p:spPr>
          <a:xfrm>
            <a:off x="565715" y="419998"/>
            <a:ext cx="6722518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инструкций: задача</a:t>
            </a:r>
          </a:p>
        </p:txBody>
      </p:sp>
      <p:sp>
        <p:nvSpPr>
          <p:cNvPr id="325" name="TextBox 218"/>
          <p:cNvSpPr txBox="1"/>
          <p:nvPr/>
        </p:nvSpPr>
        <p:spPr>
          <a:xfrm>
            <a:off x="565718" y="1049998"/>
            <a:ext cx="7357888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Вычислить сумму чисел, включив в неё только чётные числа</a:t>
            </a:r>
          </a:p>
        </p:txBody>
      </p:sp>
      <p:sp>
        <p:nvSpPr>
          <p:cNvPr id="326" name="TextBox 219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27" name="TextBox 220"/>
          <p:cNvSpPr txBox="1"/>
          <p:nvPr/>
        </p:nvSpPr>
        <p:spPr>
          <a:xfrm>
            <a:off x="655718" y="2279999"/>
            <a:ext cx="337311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sum_even xs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List.filter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x -&gt; x mod </a:t>
            </a:r>
            <a:r>
              <a:rPr>
                <a:solidFill>
                  <a:srgbClr val="7F8C8D"/>
                </a:solidFill>
              </a:rPr>
              <a:t>2</a:t>
            </a:r>
            <a:r>
              <a:t> =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List.fold_left</a:t>
            </a:r>
            <a:r>
              <a:t> ( + ) </a:t>
            </a:r>
            <a:r>
              <a:rPr>
                <a:solidFill>
                  <a:srgbClr val="7F8C8D"/>
                </a:solidFill>
              </a:rPr>
              <a:t>0</a:t>
            </a:r>
          </a:p>
        </p:txBody>
      </p:sp>
      <p:sp>
        <p:nvSpPr>
          <p:cNvPr id="328" name="TextBox 221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29" name="TextBox 222"/>
          <p:cNvSpPr txBox="1"/>
          <p:nvPr/>
        </p:nvSpPr>
        <p:spPr>
          <a:xfrm>
            <a:off x="4155716" y="2279999"/>
            <a:ext cx="24510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sumEven</a:t>
            </a:r>
            <a:r>
              <a:rPr>
                <a:solidFill>
                  <a:srgbClr val="1A1A1A"/>
                </a:solidFill>
              </a:rPr>
              <a:t>(xs: </a:t>
            </a:r>
            <a:r>
              <a:rPr>
                <a:solidFill>
                  <a:srgbClr val="2C6FA6"/>
                </a:solidFill>
              </a:rPr>
              <a:t>List[Int]</a:t>
            </a:r>
            <a:r>
              <a:rPr>
                <a:solidFill>
                  <a:srgbClr val="1A1A1A"/>
                </a:solidFill>
              </a:rPr>
              <a:t>)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7F8C8D"/>
                </a:solidFill>
              </a:rPr>
              <a:t>2</a:t>
            </a:r>
            <a:r>
              <a:t> ==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</a:p>
        </p:txBody>
      </p:sp>
      <p:sp>
        <p:nvSpPr>
          <p:cNvPr id="330" name="TextBox 223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31" name="TextBox 224"/>
          <p:cNvSpPr txBox="1"/>
          <p:nvPr/>
        </p:nvSpPr>
        <p:spPr>
          <a:xfrm>
            <a:off x="7715718" y="2279999"/>
            <a:ext cx="278637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sum_even</a:t>
            </a:r>
            <a:r>
              <a:rPr>
                <a:solidFill>
                  <a:srgbClr val="1A1A1A"/>
                </a:solidFill>
              </a:rPr>
              <a:t>(xs: &amp;[</a:t>
            </a:r>
            <a:r>
              <a:rPr>
                <a:solidFill>
                  <a:srgbClr val="2C6FA6"/>
                </a:solidFill>
              </a:rPr>
              <a:t>i32</a:t>
            </a:r>
            <a:r>
              <a:rPr>
                <a:solidFill>
                  <a:srgbClr val="1A1A1A"/>
                </a:solidFill>
              </a:rPr>
              <a:t>]) -&gt; </a:t>
            </a:r>
            <a:r>
              <a:rPr>
                <a:solidFill>
                  <a:srgbClr val="2C6FA6"/>
                </a:solidFill>
              </a:rPr>
              <a:t>i32</a:t>
            </a:r>
            <a:r>
              <a:rPr>
                <a:solidFill>
                  <a:srgbClr val="1A1A1A"/>
                </a:solidFill>
              </a:rPr>
              <a:t>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7F8C8D"/>
                </a:solidFill>
              </a:rPr>
              <a:t>2</a:t>
            </a:r>
            <a:r>
              <a:t> ==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  <a:r>
              <a:t>()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32" name="TextBox 225"/>
          <p:cNvSpPr txBox="1"/>
          <p:nvPr/>
        </p:nvSpPr>
        <p:spPr>
          <a:xfrm>
            <a:off x="3015719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33" name="TextBox 226"/>
          <p:cNvSpPr txBox="1"/>
          <p:nvPr/>
        </p:nvSpPr>
        <p:spPr>
          <a:xfrm>
            <a:off x="3015718" y="4400000"/>
            <a:ext cx="16128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x % 2 == 0)</a:t>
            </a:r>
          </a:p>
        </p:txBody>
      </p:sp>
      <p:sp>
        <p:nvSpPr>
          <p:cNvPr id="334" name="TextBox 227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35" name="TextBox 228"/>
          <p:cNvSpPr txBox="1"/>
          <p:nvPr/>
        </p:nvSpPr>
        <p:spPr>
          <a:xfrm>
            <a:off x="6875719" y="4400000"/>
            <a:ext cx="270255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224;p20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38" name="TextBox 224"/>
          <p:cNvSpPr txBox="1"/>
          <p:nvPr/>
        </p:nvSpPr>
        <p:spPr>
          <a:xfrm>
            <a:off x="565715" y="419998"/>
            <a:ext cx="6722518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инструкций: задача</a:t>
            </a:r>
          </a:p>
        </p:txBody>
      </p:sp>
      <p:sp>
        <p:nvSpPr>
          <p:cNvPr id="339" name="TextBox 225"/>
          <p:cNvSpPr txBox="1"/>
          <p:nvPr/>
        </p:nvSpPr>
        <p:spPr>
          <a:xfrm>
            <a:off x="565718" y="1049998"/>
            <a:ext cx="7357888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Вычислить сумму чисел, включив в неё только чётные числа</a:t>
            </a:r>
          </a:p>
        </p:txBody>
      </p:sp>
      <p:sp>
        <p:nvSpPr>
          <p:cNvPr id="340" name="TextBox 226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TextBox 227"/>
          <p:cNvSpPr txBox="1"/>
          <p:nvPr/>
        </p:nvSpPr>
        <p:spPr>
          <a:xfrm>
            <a:off x="655718" y="2279999"/>
            <a:ext cx="337311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sum_even xs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List.filter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x -&gt; x mod </a:t>
            </a:r>
            <a:r>
              <a:rPr>
                <a:solidFill>
                  <a:srgbClr val="7F8C8D"/>
                </a:solidFill>
              </a:rPr>
              <a:t>2</a:t>
            </a:r>
            <a:r>
              <a:t> =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List.fold_left</a:t>
            </a:r>
            <a:r>
              <a:t> ( + ) </a:t>
            </a:r>
            <a:r>
              <a:rPr>
                <a:solidFill>
                  <a:srgbClr val="7F8C8D"/>
                </a:solidFill>
              </a:rPr>
              <a:t>0</a:t>
            </a:r>
          </a:p>
        </p:txBody>
      </p:sp>
      <p:sp>
        <p:nvSpPr>
          <p:cNvPr id="342" name="TextBox 228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TextBox 229"/>
          <p:cNvSpPr txBox="1"/>
          <p:nvPr/>
        </p:nvSpPr>
        <p:spPr>
          <a:xfrm>
            <a:off x="4155716" y="2279999"/>
            <a:ext cx="24510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sumEven</a:t>
            </a:r>
            <a:r>
              <a:rPr>
                <a:solidFill>
                  <a:srgbClr val="1A1A1A"/>
                </a:solidFill>
              </a:rPr>
              <a:t>(xs: </a:t>
            </a:r>
            <a:r>
              <a:rPr>
                <a:solidFill>
                  <a:srgbClr val="2C6FA6"/>
                </a:solidFill>
              </a:rPr>
              <a:t>List[Int]</a:t>
            </a:r>
            <a:r>
              <a:rPr>
                <a:solidFill>
                  <a:srgbClr val="1A1A1A"/>
                </a:solidFill>
              </a:rPr>
              <a:t>)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7F8C8D"/>
                </a:solidFill>
              </a:rPr>
              <a:t>2</a:t>
            </a:r>
            <a:r>
              <a:t> ==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</a:p>
        </p:txBody>
      </p:sp>
      <p:sp>
        <p:nvSpPr>
          <p:cNvPr id="344" name="TextBox 230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TextBox 231"/>
          <p:cNvSpPr txBox="1"/>
          <p:nvPr/>
        </p:nvSpPr>
        <p:spPr>
          <a:xfrm>
            <a:off x="7715718" y="2279999"/>
            <a:ext cx="278637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sum_even</a:t>
            </a:r>
            <a:r>
              <a:rPr>
                <a:solidFill>
                  <a:srgbClr val="1A1A1A"/>
                </a:solidFill>
              </a:rPr>
              <a:t>(xs: &amp;[</a:t>
            </a:r>
            <a:r>
              <a:rPr>
                <a:solidFill>
                  <a:srgbClr val="2C6FA6"/>
                </a:solidFill>
              </a:rPr>
              <a:t>i32</a:t>
            </a:r>
            <a:r>
              <a:rPr>
                <a:solidFill>
                  <a:srgbClr val="1A1A1A"/>
                </a:solidFill>
              </a:rPr>
              <a:t>]) -&gt; </a:t>
            </a:r>
            <a:r>
              <a:rPr>
                <a:solidFill>
                  <a:srgbClr val="2C6FA6"/>
                </a:solidFill>
              </a:rPr>
              <a:t>i32</a:t>
            </a:r>
            <a:r>
              <a:rPr>
                <a:solidFill>
                  <a:srgbClr val="1A1A1A"/>
                </a:solidFill>
              </a:rPr>
              <a:t>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7F8C8D"/>
                </a:solidFill>
              </a:rPr>
              <a:t>2</a:t>
            </a:r>
            <a:r>
              <a:t> ==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  <a:r>
              <a:t>()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46" name="TextBox 232"/>
          <p:cNvSpPr txBox="1"/>
          <p:nvPr/>
        </p:nvSpPr>
        <p:spPr>
          <a:xfrm>
            <a:off x="3015719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TextBox 233"/>
          <p:cNvSpPr txBox="1"/>
          <p:nvPr/>
        </p:nvSpPr>
        <p:spPr>
          <a:xfrm>
            <a:off x="3015718" y="4400000"/>
            <a:ext cx="16128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sum_even</a:t>
            </a:r>
            <a:r>
              <a:rPr>
                <a:solidFill>
                  <a:srgbClr val="1A1A1A"/>
                </a:solidFill>
              </a:rPr>
              <a:t>(xs):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C0392B"/>
                </a:solidFill>
              </a:rPr>
              <a:t>return </a:t>
            </a:r>
            <a:r>
              <a:rPr>
                <a:solidFill>
                  <a:srgbClr val="2C6FA6"/>
                </a:solidFill>
              </a:rPr>
              <a:t>sum</a:t>
            </a:r>
            <a:r>
              <a:t>(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C0392B"/>
                </a:solidFill>
              </a:rPr>
              <a:t>for</a:t>
            </a:r>
            <a:r>
              <a:t> x </a:t>
            </a:r>
            <a:r>
              <a:rPr>
                <a:solidFill>
                  <a:srgbClr val="C0392B"/>
                </a:solidFill>
              </a:rPr>
              <a:t>in</a:t>
            </a:r>
            <a:r>
              <a:t> xs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</a:t>
            </a:r>
            <a:r>
              <a:rPr>
                <a:solidFill>
                  <a:srgbClr val="1A1A1A"/>
                </a:solidFill>
              </a:rPr>
              <a:t> x % </a:t>
            </a:r>
            <a:r>
              <a:rPr>
                <a:solidFill>
                  <a:srgbClr val="7F8C8D"/>
                </a:solidFill>
              </a:rPr>
              <a:t>2</a:t>
            </a:r>
            <a:r>
              <a:rPr>
                <a:solidFill>
                  <a:srgbClr val="1A1A1A"/>
                </a:solidFill>
              </a:rPr>
              <a:t> == </a:t>
            </a:r>
            <a:r>
              <a:rPr>
                <a:solidFill>
                  <a:srgbClr val="7F8C8D"/>
                </a:solidFill>
              </a:rPr>
              <a:t>0</a:t>
            </a:r>
            <a:r>
              <a:rPr>
                <a:solidFill>
                  <a:srgbClr val="1A1A1A"/>
                </a:solidFill>
              </a:rPr>
              <a:t>)</a:t>
            </a:r>
          </a:p>
        </p:txBody>
      </p:sp>
      <p:sp>
        <p:nvSpPr>
          <p:cNvPr id="348" name="TextBox 234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TextBox 235"/>
          <p:cNvSpPr txBox="1"/>
          <p:nvPr/>
        </p:nvSpPr>
        <p:spPr>
          <a:xfrm>
            <a:off x="6875719" y="4400000"/>
            <a:ext cx="270255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231;p21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52" name="TextBox 231"/>
          <p:cNvSpPr txBox="1"/>
          <p:nvPr/>
        </p:nvSpPr>
        <p:spPr>
          <a:xfrm>
            <a:off x="565715" y="419998"/>
            <a:ext cx="6722518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инструкций: задача</a:t>
            </a:r>
          </a:p>
        </p:txBody>
      </p:sp>
      <p:sp>
        <p:nvSpPr>
          <p:cNvPr id="353" name="TextBox 232"/>
          <p:cNvSpPr txBox="1"/>
          <p:nvPr/>
        </p:nvSpPr>
        <p:spPr>
          <a:xfrm>
            <a:off x="565718" y="1049998"/>
            <a:ext cx="7357888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Вычислить сумму чисел, включив в неё только чётные числа</a:t>
            </a:r>
          </a:p>
        </p:txBody>
      </p:sp>
      <p:sp>
        <p:nvSpPr>
          <p:cNvPr id="354" name="TextBox 233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55" name="TextBox 234"/>
          <p:cNvSpPr txBox="1"/>
          <p:nvPr/>
        </p:nvSpPr>
        <p:spPr>
          <a:xfrm>
            <a:off x="655718" y="2279999"/>
            <a:ext cx="337311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sum_even xs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List.filter</a:t>
            </a:r>
            <a:r>
              <a:t> (</a:t>
            </a:r>
            <a:r>
              <a:rPr>
                <a:solidFill>
                  <a:srgbClr val="C0392B"/>
                </a:solidFill>
              </a:rPr>
              <a:t>fun</a:t>
            </a:r>
            <a:r>
              <a:t> x -&gt; x mod </a:t>
            </a:r>
            <a:r>
              <a:rPr>
                <a:solidFill>
                  <a:srgbClr val="7F8C8D"/>
                </a:solidFill>
              </a:rPr>
              <a:t>2</a:t>
            </a:r>
            <a:r>
              <a:t> =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C6FA6"/>
                </a:solidFill>
              </a:rPr>
              <a:t>List.fold_left</a:t>
            </a:r>
            <a:r>
              <a:t> ( + ) </a:t>
            </a:r>
            <a:r>
              <a:rPr>
                <a:solidFill>
                  <a:srgbClr val="7F8C8D"/>
                </a:solidFill>
              </a:rPr>
              <a:t>0</a:t>
            </a:r>
          </a:p>
        </p:txBody>
      </p:sp>
      <p:sp>
        <p:nvSpPr>
          <p:cNvPr id="356" name="TextBox 235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57" name="TextBox 236"/>
          <p:cNvSpPr txBox="1"/>
          <p:nvPr/>
        </p:nvSpPr>
        <p:spPr>
          <a:xfrm>
            <a:off x="4155716" y="2279999"/>
            <a:ext cx="24510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sumEven</a:t>
            </a:r>
            <a:r>
              <a:rPr>
                <a:solidFill>
                  <a:srgbClr val="1A1A1A"/>
                </a:solidFill>
              </a:rPr>
              <a:t>(xs: </a:t>
            </a:r>
            <a:r>
              <a:rPr>
                <a:solidFill>
                  <a:srgbClr val="2C6FA6"/>
                </a:solidFill>
              </a:rPr>
              <a:t>List[Int]</a:t>
            </a:r>
            <a:r>
              <a:rPr>
                <a:solidFill>
                  <a:srgbClr val="1A1A1A"/>
                </a:solidFill>
              </a:rPr>
              <a:t>)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7F8C8D"/>
                </a:solidFill>
              </a:rPr>
              <a:t>2</a:t>
            </a:r>
            <a:r>
              <a:t> ==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</a:p>
        </p:txBody>
      </p:sp>
      <p:sp>
        <p:nvSpPr>
          <p:cNvPr id="358" name="TextBox 237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59" name="TextBox 238"/>
          <p:cNvSpPr txBox="1"/>
          <p:nvPr/>
        </p:nvSpPr>
        <p:spPr>
          <a:xfrm>
            <a:off x="7715718" y="2279999"/>
            <a:ext cx="278637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sum_even</a:t>
            </a:r>
            <a:r>
              <a:rPr>
                <a:solidFill>
                  <a:srgbClr val="1A1A1A"/>
                </a:solidFill>
              </a:rPr>
              <a:t>(xs: &amp;[</a:t>
            </a:r>
            <a:r>
              <a:rPr>
                <a:solidFill>
                  <a:srgbClr val="2C6FA6"/>
                </a:solidFill>
              </a:rPr>
              <a:t>i32</a:t>
            </a:r>
            <a:r>
              <a:rPr>
                <a:solidFill>
                  <a:srgbClr val="1A1A1A"/>
                </a:solidFill>
              </a:rPr>
              <a:t>]) -&gt; </a:t>
            </a:r>
            <a:r>
              <a:rPr>
                <a:solidFill>
                  <a:srgbClr val="2C6FA6"/>
                </a:solidFill>
              </a:rPr>
              <a:t>i32</a:t>
            </a:r>
            <a:r>
              <a:rPr>
                <a:solidFill>
                  <a:srgbClr val="1A1A1A"/>
                </a:solidFill>
              </a:rPr>
              <a:t>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7F8C8D"/>
                </a:solidFill>
              </a:rPr>
              <a:t>2</a:t>
            </a:r>
            <a:r>
              <a:t> ==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sum</a:t>
            </a:r>
            <a:r>
              <a:t>()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60" name="TextBox 239"/>
          <p:cNvSpPr txBox="1"/>
          <p:nvPr/>
        </p:nvSpPr>
        <p:spPr>
          <a:xfrm>
            <a:off x="3015719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1" name="TextBox 240"/>
          <p:cNvSpPr txBox="1"/>
          <p:nvPr/>
        </p:nvSpPr>
        <p:spPr>
          <a:xfrm>
            <a:off x="3015718" y="4400000"/>
            <a:ext cx="16128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sum_even</a:t>
            </a:r>
            <a:r>
              <a:rPr>
                <a:solidFill>
                  <a:srgbClr val="1A1A1A"/>
                </a:solidFill>
              </a:rPr>
              <a:t>(xs):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C0392B"/>
                </a:solidFill>
              </a:rPr>
              <a:t>return </a:t>
            </a:r>
            <a:r>
              <a:rPr>
                <a:solidFill>
                  <a:srgbClr val="2C6FA6"/>
                </a:solidFill>
              </a:rPr>
              <a:t>sum</a:t>
            </a:r>
            <a:r>
              <a:t>(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C0392B"/>
                </a:solidFill>
              </a:rPr>
              <a:t>for</a:t>
            </a:r>
            <a:r>
              <a:t> x </a:t>
            </a:r>
            <a:r>
              <a:rPr>
                <a:solidFill>
                  <a:srgbClr val="C0392B"/>
                </a:solidFill>
              </a:rPr>
              <a:t>in</a:t>
            </a:r>
            <a:r>
              <a:t> xs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</a:t>
            </a:r>
            <a:r>
              <a:rPr>
                <a:solidFill>
                  <a:srgbClr val="1A1A1A"/>
                </a:solidFill>
              </a:rPr>
              <a:t> x % </a:t>
            </a:r>
            <a:r>
              <a:rPr>
                <a:solidFill>
                  <a:srgbClr val="7F8C8D"/>
                </a:solidFill>
              </a:rPr>
              <a:t>2</a:t>
            </a:r>
            <a:r>
              <a:rPr>
                <a:solidFill>
                  <a:srgbClr val="1A1A1A"/>
                </a:solidFill>
              </a:rPr>
              <a:t> == </a:t>
            </a:r>
            <a:r>
              <a:rPr>
                <a:solidFill>
                  <a:srgbClr val="7F8C8D"/>
                </a:solidFill>
              </a:rPr>
              <a:t>0</a:t>
            </a:r>
            <a:r>
              <a:rPr>
                <a:solidFill>
                  <a:srgbClr val="1A1A1A"/>
                </a:solidFill>
              </a:rPr>
              <a:t>)</a:t>
            </a:r>
          </a:p>
        </p:txBody>
      </p:sp>
      <p:sp>
        <p:nvSpPr>
          <p:cNvPr id="362" name="TextBox 241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3" name="TextBox 242"/>
          <p:cNvSpPr txBox="1"/>
          <p:nvPr/>
        </p:nvSpPr>
        <p:spPr>
          <a:xfrm>
            <a:off x="6875719" y="4400000"/>
            <a:ext cx="270255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</a:t>
            </a:r>
            <a:r>
              <a:rPr>
                <a:solidFill>
                  <a:srgbClr val="2C6FA6"/>
                </a:solidFill>
              </a:rPr>
              <a:t>sumEven</a:t>
            </a:r>
            <a:r>
              <a:rPr>
                <a:solidFill>
                  <a:srgbClr val="1A1A1A"/>
                </a:solidFill>
              </a:rPr>
              <a:t> = xs =&gt;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7F8C8D"/>
                </a:solidFill>
              </a:rPr>
              <a:t>2</a:t>
            </a:r>
            <a:r>
              <a:t> ===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C6FA6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7F8C8D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238;p22"/>
          <p:cNvSpPr txBox="1"/>
          <p:nvPr>
            <p:ph type="title"/>
          </p:nvPr>
        </p:nvSpPr>
        <p:spPr>
          <a:xfrm>
            <a:off x="838080" y="2766240"/>
            <a:ext cx="10514881" cy="132516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66" name="Google Shape;239;p22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244;p23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69" name="Google Shape;245;p23"/>
          <p:cNvSpPr txBox="1"/>
          <p:nvPr>
            <p:ph type="body" sz="quarter" idx="1"/>
          </p:nvPr>
        </p:nvSpPr>
        <p:spPr>
          <a:xfrm>
            <a:off x="838080" y="543959"/>
            <a:ext cx="10941841" cy="12186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SzTx/>
              <a:buNone/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0" name="Google Shape;246;p23"/>
          <p:cNvSpPr txBox="1"/>
          <p:nvPr/>
        </p:nvSpPr>
        <p:spPr>
          <a:xfrm>
            <a:off x="883805" y="2170076"/>
            <a:ext cx="10850390" cy="325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Функция —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</a:p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Helvetica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HOF — принимает или возвращает функцию:</a:t>
            </a:r>
            <a:br/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map, filter, fold</a:t>
            </a:r>
          </a:p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Замыкание — захват лексического окружения</a:t>
            </a:r>
          </a:p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Каррирование —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251;p24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73" name="TextBox 251"/>
          <p:cNvSpPr txBox="1"/>
          <p:nvPr/>
        </p:nvSpPr>
        <p:spPr>
          <a:xfrm>
            <a:off x="565717" y="419998"/>
            <a:ext cx="5252997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значения: задача</a:t>
            </a:r>
          </a:p>
        </p:txBody>
      </p:sp>
      <p:sp>
        <p:nvSpPr>
          <p:cNvPr id="374" name="TextBox 252"/>
          <p:cNvSpPr txBox="1"/>
          <p:nvPr/>
        </p:nvSpPr>
        <p:spPr>
          <a:xfrm>
            <a:off x="565719" y="1049998"/>
            <a:ext cx="7514539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Создать умножитель с коэффициентом и применить к списку.</a:t>
            </a:r>
          </a:p>
        </p:txBody>
      </p:sp>
      <p:sp>
        <p:nvSpPr>
          <p:cNvPr id="375" name="TextBox 253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6" name="TextBox 254"/>
          <p:cNvSpPr txBox="1"/>
          <p:nvPr/>
        </p:nvSpPr>
        <p:spPr>
          <a:xfrm>
            <a:off x="655715" y="2279999"/>
            <a:ext cx="28701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77" name="TextBox 255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78" name="TextBox 256"/>
          <p:cNvSpPr txBox="1"/>
          <p:nvPr/>
        </p:nvSpPr>
        <p:spPr>
          <a:xfrm>
            <a:off x="4155716" y="2279999"/>
            <a:ext cx="287019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79" name="TextBox 257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0" name="TextBox 258"/>
          <p:cNvSpPr txBox="1"/>
          <p:nvPr/>
        </p:nvSpPr>
        <p:spPr>
          <a:xfrm>
            <a:off x="7715718" y="2279998"/>
            <a:ext cx="395985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1" name="TextBox 259"/>
          <p:cNvSpPr txBox="1"/>
          <p:nvPr/>
        </p:nvSpPr>
        <p:spPr>
          <a:xfrm>
            <a:off x="2765718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2" name="TextBox 260"/>
          <p:cNvSpPr txBox="1"/>
          <p:nvPr/>
        </p:nvSpPr>
        <p:spPr>
          <a:xfrm>
            <a:off x="2765717" y="4400000"/>
            <a:ext cx="37083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3" name="TextBox 261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4" name="TextBox 262"/>
          <p:cNvSpPr txBox="1"/>
          <p:nvPr/>
        </p:nvSpPr>
        <p:spPr>
          <a:xfrm>
            <a:off x="6875718" y="4400000"/>
            <a:ext cx="37083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R.curry((factor, x) =&gt; factor * x);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258;p25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87" name="TextBox 258"/>
          <p:cNvSpPr txBox="1"/>
          <p:nvPr/>
        </p:nvSpPr>
        <p:spPr>
          <a:xfrm>
            <a:off x="565717" y="419998"/>
            <a:ext cx="5252997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значения: задача</a:t>
            </a:r>
          </a:p>
        </p:txBody>
      </p:sp>
      <p:sp>
        <p:nvSpPr>
          <p:cNvPr id="388" name="TextBox 259"/>
          <p:cNvSpPr txBox="1"/>
          <p:nvPr/>
        </p:nvSpPr>
        <p:spPr>
          <a:xfrm>
            <a:off x="565719" y="1049998"/>
            <a:ext cx="7514539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Создать умножитель с коэффициентом и применить к списку.</a:t>
            </a:r>
          </a:p>
        </p:txBody>
      </p:sp>
      <p:sp>
        <p:nvSpPr>
          <p:cNvPr id="389" name="TextBox 260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0" name="TextBox 261"/>
          <p:cNvSpPr txBox="1"/>
          <p:nvPr/>
        </p:nvSpPr>
        <p:spPr>
          <a:xfrm>
            <a:off x="655715" y="2279999"/>
            <a:ext cx="28701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multiply a b = a * b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triple = multiply </a:t>
            </a:r>
            <a:r>
              <a:rPr>
                <a:solidFill>
                  <a:srgbClr val="7F8C8D"/>
                </a:solidFill>
              </a:rPr>
              <a:t>3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result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2C6FA6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7F8C8D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1" name="TextBox 262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92" name="TextBox 263"/>
          <p:cNvSpPr txBox="1"/>
          <p:nvPr/>
        </p:nvSpPr>
        <p:spPr>
          <a:xfrm>
            <a:off x="4155716" y="2279999"/>
            <a:ext cx="287019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93" name="TextBox 264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94" name="TextBox 265"/>
          <p:cNvSpPr txBox="1"/>
          <p:nvPr/>
        </p:nvSpPr>
        <p:spPr>
          <a:xfrm>
            <a:off x="7715718" y="2279998"/>
            <a:ext cx="395985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95" name="TextBox 266"/>
          <p:cNvSpPr txBox="1"/>
          <p:nvPr/>
        </p:nvSpPr>
        <p:spPr>
          <a:xfrm>
            <a:off x="2765718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96" name="TextBox 267"/>
          <p:cNvSpPr txBox="1"/>
          <p:nvPr/>
        </p:nvSpPr>
        <p:spPr>
          <a:xfrm>
            <a:off x="2765717" y="4400000"/>
            <a:ext cx="37083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97" name="TextBox 268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98" name="TextBox 269"/>
          <p:cNvSpPr txBox="1"/>
          <p:nvPr/>
        </p:nvSpPr>
        <p:spPr>
          <a:xfrm>
            <a:off x="6875718" y="4400000"/>
            <a:ext cx="37083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R.curry((factor, x) =&gt; factor * x);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265;p2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01" name="TextBox 265"/>
          <p:cNvSpPr txBox="1"/>
          <p:nvPr/>
        </p:nvSpPr>
        <p:spPr>
          <a:xfrm>
            <a:off x="565717" y="419998"/>
            <a:ext cx="5252997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значения: задача</a:t>
            </a:r>
          </a:p>
        </p:txBody>
      </p:sp>
      <p:sp>
        <p:nvSpPr>
          <p:cNvPr id="402" name="TextBox 266"/>
          <p:cNvSpPr txBox="1"/>
          <p:nvPr/>
        </p:nvSpPr>
        <p:spPr>
          <a:xfrm>
            <a:off x="565719" y="1049998"/>
            <a:ext cx="7514539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Создать умножитель с коэффициентом и применить к списку.</a:t>
            </a:r>
          </a:p>
        </p:txBody>
      </p:sp>
      <p:sp>
        <p:nvSpPr>
          <p:cNvPr id="403" name="TextBox 267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04" name="TextBox 268"/>
          <p:cNvSpPr txBox="1"/>
          <p:nvPr/>
        </p:nvSpPr>
        <p:spPr>
          <a:xfrm>
            <a:off x="655715" y="2279999"/>
            <a:ext cx="28701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multiply a b = a * b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triple = multiply </a:t>
            </a:r>
            <a:r>
              <a:rPr>
                <a:solidFill>
                  <a:srgbClr val="7F8C8D"/>
                </a:solidFill>
              </a:rPr>
              <a:t>3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result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2C6FA6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7F8C8D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05" name="TextBox 269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6" name="TextBox 270"/>
          <p:cNvSpPr txBox="1"/>
          <p:nvPr/>
        </p:nvSpPr>
        <p:spPr>
          <a:xfrm>
            <a:off x="4155716" y="2279999"/>
            <a:ext cx="287019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multiply: (Int, Int) =&gt; Int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triple: Int =&gt; Int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7F8C8D"/>
                </a:solidFill>
              </a:rPr>
              <a:t>3</a:t>
            </a:r>
            <a:r>
              <a:t>)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result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7F8C8D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7" name="TextBox 271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8" name="TextBox 272"/>
          <p:cNvSpPr txBox="1"/>
          <p:nvPr/>
        </p:nvSpPr>
        <p:spPr>
          <a:xfrm>
            <a:off x="7715718" y="2279998"/>
            <a:ext cx="395985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409" name="TextBox 273"/>
          <p:cNvSpPr txBox="1"/>
          <p:nvPr/>
        </p:nvSpPr>
        <p:spPr>
          <a:xfrm>
            <a:off x="2765718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10" name="TextBox 274"/>
          <p:cNvSpPr txBox="1"/>
          <p:nvPr/>
        </p:nvSpPr>
        <p:spPr>
          <a:xfrm>
            <a:off x="2765717" y="4400000"/>
            <a:ext cx="37083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11" name="TextBox 275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12" name="TextBox 276"/>
          <p:cNvSpPr txBox="1"/>
          <p:nvPr/>
        </p:nvSpPr>
        <p:spPr>
          <a:xfrm>
            <a:off x="6875718" y="4400000"/>
            <a:ext cx="37083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R.curry((factor, x) =&gt; factor * x);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272;p27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15" name="TextBox 272"/>
          <p:cNvSpPr txBox="1"/>
          <p:nvPr/>
        </p:nvSpPr>
        <p:spPr>
          <a:xfrm>
            <a:off x="565717" y="419998"/>
            <a:ext cx="5252997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значения: задача</a:t>
            </a:r>
          </a:p>
        </p:txBody>
      </p:sp>
      <p:sp>
        <p:nvSpPr>
          <p:cNvPr id="416" name="TextBox 273"/>
          <p:cNvSpPr txBox="1"/>
          <p:nvPr/>
        </p:nvSpPr>
        <p:spPr>
          <a:xfrm>
            <a:off x="565719" y="1049998"/>
            <a:ext cx="7514539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Создать умножитель с коэффициентом и применить к списку.</a:t>
            </a:r>
          </a:p>
        </p:txBody>
      </p:sp>
      <p:sp>
        <p:nvSpPr>
          <p:cNvPr id="417" name="TextBox 274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8" name="TextBox 275"/>
          <p:cNvSpPr txBox="1"/>
          <p:nvPr/>
        </p:nvSpPr>
        <p:spPr>
          <a:xfrm>
            <a:off x="655715" y="2279999"/>
            <a:ext cx="28701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multiply a b = a * b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triple = multiply </a:t>
            </a:r>
            <a:r>
              <a:rPr>
                <a:solidFill>
                  <a:srgbClr val="7F8C8D"/>
                </a:solidFill>
              </a:rPr>
              <a:t>3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result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2C6FA6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7F8C8D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9" name="TextBox 276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20" name="TextBox 277"/>
          <p:cNvSpPr txBox="1"/>
          <p:nvPr/>
        </p:nvSpPr>
        <p:spPr>
          <a:xfrm>
            <a:off x="4155716" y="2279999"/>
            <a:ext cx="287019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multiply: (Int, Int) =&gt; Int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triple: Int =&gt; Int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7F8C8D"/>
                </a:solidFill>
              </a:rPr>
              <a:t>3</a:t>
            </a:r>
            <a:r>
              <a:t>)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result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7F8C8D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1" name="TextBox 278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2" name="TextBox 279"/>
          <p:cNvSpPr txBox="1"/>
          <p:nvPr/>
        </p:nvSpPr>
        <p:spPr>
          <a:xfrm>
            <a:off x="7715718" y="2279998"/>
            <a:ext cx="395985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</a:t>
            </a:r>
            <a:r>
              <a:rPr>
                <a:solidFill>
                  <a:srgbClr val="1A1A1A"/>
                </a:solidFill>
              </a:rPr>
              <a:t>auto_curry::</a:t>
            </a:r>
            <a:r>
              <a:rPr>
                <a:solidFill>
                  <a:srgbClr val="2C6FA6"/>
                </a:solidFill>
              </a:rPr>
              <a:t>curry</a:t>
            </a:r>
            <a:r>
              <a:rPr>
                <a:solidFill>
                  <a:srgbClr val="1A1A1A"/>
                </a:solidFill>
              </a:rPr>
              <a:t>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multiply</a:t>
            </a:r>
            <a:r>
              <a:rPr>
                <a:solidFill>
                  <a:srgbClr val="1A1A1A"/>
                </a:solidFill>
              </a:rPr>
              <a:t>(factor: i32, x: i32) -&gt; i32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triple: impl Fn(i32) -&gt; i32 = multiply(</a:t>
            </a:r>
            <a:r>
              <a:rPr>
                <a:solidFill>
                  <a:srgbClr val="7F8C8D"/>
                </a:solidFill>
              </a:rPr>
              <a:t>3</a:t>
            </a:r>
            <a:r>
              <a:rPr>
                <a:solidFill>
                  <a:srgbClr val="1A1A1A"/>
                </a:solidFill>
              </a:rPr>
              <a:t>);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result: Vec&lt;i32&gt; = vec![</a:t>
            </a:r>
            <a:r>
              <a:rPr>
                <a:solidFill>
                  <a:srgbClr val="7F8C8D"/>
                </a:solidFill>
              </a:rPr>
              <a:t>1, 2, 3, 4, 5</a:t>
            </a:r>
            <a:r>
              <a:rPr>
                <a:solidFill>
                  <a:srgbClr val="1A1A1A"/>
                </a:solidFill>
              </a:rPr>
              <a:t>]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2C6FA6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3" name="TextBox 280"/>
          <p:cNvSpPr txBox="1"/>
          <p:nvPr/>
        </p:nvSpPr>
        <p:spPr>
          <a:xfrm>
            <a:off x="2765718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4" name="TextBox 281"/>
          <p:cNvSpPr txBox="1"/>
          <p:nvPr/>
        </p:nvSpPr>
        <p:spPr>
          <a:xfrm>
            <a:off x="2765717" y="4400000"/>
            <a:ext cx="37083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25" name="TextBox 282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6" name="TextBox 283"/>
          <p:cNvSpPr txBox="1"/>
          <p:nvPr/>
        </p:nvSpPr>
        <p:spPr>
          <a:xfrm>
            <a:off x="6875718" y="4400000"/>
            <a:ext cx="37083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R.curry((factor, x) =&gt; factor * x);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279;p28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29" name="TextBox 279"/>
          <p:cNvSpPr txBox="1"/>
          <p:nvPr/>
        </p:nvSpPr>
        <p:spPr>
          <a:xfrm>
            <a:off x="565717" y="419998"/>
            <a:ext cx="5252997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значения: задача</a:t>
            </a:r>
          </a:p>
        </p:txBody>
      </p:sp>
      <p:sp>
        <p:nvSpPr>
          <p:cNvPr id="430" name="TextBox 280"/>
          <p:cNvSpPr txBox="1"/>
          <p:nvPr/>
        </p:nvSpPr>
        <p:spPr>
          <a:xfrm>
            <a:off x="565719" y="1049998"/>
            <a:ext cx="7514539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Создать умножитель с коэффициентом и применить к списку.</a:t>
            </a:r>
          </a:p>
        </p:txBody>
      </p:sp>
      <p:sp>
        <p:nvSpPr>
          <p:cNvPr id="431" name="TextBox 281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2" name="TextBox 282"/>
          <p:cNvSpPr txBox="1"/>
          <p:nvPr/>
        </p:nvSpPr>
        <p:spPr>
          <a:xfrm>
            <a:off x="655715" y="2279999"/>
            <a:ext cx="28701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multiply a b = a * b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triple = multiply </a:t>
            </a:r>
            <a:r>
              <a:rPr>
                <a:solidFill>
                  <a:srgbClr val="7F8C8D"/>
                </a:solidFill>
              </a:rPr>
              <a:t>3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result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2C6FA6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7F8C8D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3" name="TextBox 283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4" name="TextBox 284"/>
          <p:cNvSpPr txBox="1"/>
          <p:nvPr/>
        </p:nvSpPr>
        <p:spPr>
          <a:xfrm>
            <a:off x="4155716" y="2279999"/>
            <a:ext cx="287019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multiply: (Int, Int) =&gt; Int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triple: Int =&gt; Int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7F8C8D"/>
                </a:solidFill>
              </a:rPr>
              <a:t>3</a:t>
            </a:r>
            <a:r>
              <a:t>)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result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7F8C8D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5" name="TextBox 285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36" name="TextBox 286"/>
          <p:cNvSpPr txBox="1"/>
          <p:nvPr/>
        </p:nvSpPr>
        <p:spPr>
          <a:xfrm>
            <a:off x="7715718" y="2279998"/>
            <a:ext cx="395985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</a:t>
            </a:r>
            <a:r>
              <a:rPr>
                <a:solidFill>
                  <a:srgbClr val="1A1A1A"/>
                </a:solidFill>
              </a:rPr>
              <a:t>auto_curry::</a:t>
            </a:r>
            <a:r>
              <a:rPr>
                <a:solidFill>
                  <a:srgbClr val="2C6FA6"/>
                </a:solidFill>
              </a:rPr>
              <a:t>curry</a:t>
            </a:r>
            <a:r>
              <a:rPr>
                <a:solidFill>
                  <a:srgbClr val="1A1A1A"/>
                </a:solidFill>
              </a:rPr>
              <a:t>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multiply</a:t>
            </a:r>
            <a:r>
              <a:rPr>
                <a:solidFill>
                  <a:srgbClr val="1A1A1A"/>
                </a:solidFill>
              </a:rPr>
              <a:t>(factor: i32, x: i32) -&gt; i32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triple: impl Fn(i32) -&gt; i32 = multiply(</a:t>
            </a:r>
            <a:r>
              <a:rPr>
                <a:solidFill>
                  <a:srgbClr val="7F8C8D"/>
                </a:solidFill>
              </a:rPr>
              <a:t>3</a:t>
            </a:r>
            <a:r>
              <a:rPr>
                <a:solidFill>
                  <a:srgbClr val="1A1A1A"/>
                </a:solidFill>
              </a:rPr>
              <a:t>);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result: Vec&lt;i32&gt; = vec![</a:t>
            </a:r>
            <a:r>
              <a:rPr>
                <a:solidFill>
                  <a:srgbClr val="7F8C8D"/>
                </a:solidFill>
              </a:rPr>
              <a:t>1, 2, 3, 4, 5</a:t>
            </a:r>
            <a:r>
              <a:rPr>
                <a:solidFill>
                  <a:srgbClr val="1A1A1A"/>
                </a:solidFill>
              </a:rPr>
              <a:t>]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2C6FA6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37" name="TextBox 287"/>
          <p:cNvSpPr txBox="1"/>
          <p:nvPr/>
        </p:nvSpPr>
        <p:spPr>
          <a:xfrm>
            <a:off x="2765718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38" name="TextBox 288"/>
          <p:cNvSpPr txBox="1"/>
          <p:nvPr/>
        </p:nvSpPr>
        <p:spPr>
          <a:xfrm>
            <a:off x="2765717" y="4400000"/>
            <a:ext cx="37083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</a:t>
            </a:r>
            <a:r>
              <a:rPr>
                <a:solidFill>
                  <a:srgbClr val="1A1A1A"/>
                </a:solidFill>
              </a:rPr>
              <a:t>functools </a:t>
            </a:r>
            <a:r>
              <a:t>import </a:t>
            </a:r>
            <a:r>
              <a:rPr>
                <a:solidFill>
                  <a:srgbClr val="2C6FA6"/>
                </a:solidFill>
              </a:rPr>
              <a:t>partial</a:t>
            </a:r>
            <a:endParaRPr>
              <a:solidFill>
                <a:srgbClr val="2C6FA6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multiply</a:t>
            </a:r>
            <a:r>
              <a:rPr>
                <a:solidFill>
                  <a:srgbClr val="1A1A1A"/>
                </a:solidFill>
              </a:rPr>
              <a:t>(factor, x): return factor * x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2C6FA6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7F8C8D"/>
                </a:solidFill>
              </a:rPr>
              <a:t>3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7F8C8D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39" name="TextBox 289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0" name="TextBox 290"/>
          <p:cNvSpPr txBox="1"/>
          <p:nvPr/>
        </p:nvSpPr>
        <p:spPr>
          <a:xfrm>
            <a:off x="6875718" y="4400000"/>
            <a:ext cx="37083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R.curry((factor, x) =&gt; factor * x);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286;p29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43" name="TextBox 286"/>
          <p:cNvSpPr txBox="1"/>
          <p:nvPr/>
        </p:nvSpPr>
        <p:spPr>
          <a:xfrm>
            <a:off x="565717" y="419998"/>
            <a:ext cx="5252997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значения: задача</a:t>
            </a:r>
          </a:p>
        </p:txBody>
      </p:sp>
      <p:sp>
        <p:nvSpPr>
          <p:cNvPr id="444" name="TextBox 287"/>
          <p:cNvSpPr txBox="1"/>
          <p:nvPr/>
        </p:nvSpPr>
        <p:spPr>
          <a:xfrm>
            <a:off x="565719" y="1049998"/>
            <a:ext cx="7514539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Создать умножитель с коэффициентом и применить к списку.</a:t>
            </a:r>
          </a:p>
        </p:txBody>
      </p:sp>
      <p:sp>
        <p:nvSpPr>
          <p:cNvPr id="445" name="TextBox 288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46" name="TextBox 289"/>
          <p:cNvSpPr txBox="1"/>
          <p:nvPr/>
        </p:nvSpPr>
        <p:spPr>
          <a:xfrm>
            <a:off x="655715" y="2279999"/>
            <a:ext cx="28701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multiply a b = a * b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triple = multiply </a:t>
            </a:r>
            <a:r>
              <a:rPr>
                <a:solidFill>
                  <a:srgbClr val="7F8C8D"/>
                </a:solidFill>
              </a:rPr>
              <a:t>3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result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2C6FA6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7F8C8D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47" name="TextBox 290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48" name="TextBox 291"/>
          <p:cNvSpPr txBox="1"/>
          <p:nvPr/>
        </p:nvSpPr>
        <p:spPr>
          <a:xfrm>
            <a:off x="4155716" y="2279999"/>
            <a:ext cx="287019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multiply: (Int, Int) =&gt; Int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triple: Int =&gt; Int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7F8C8D"/>
                </a:solidFill>
              </a:rPr>
              <a:t>3</a:t>
            </a:r>
            <a:r>
              <a:t>)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result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7F8C8D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49" name="TextBox 292"/>
          <p:cNvSpPr txBox="1"/>
          <p:nvPr/>
        </p:nvSpPr>
        <p:spPr>
          <a:xfrm>
            <a:off x="7715718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50" name="TextBox 293"/>
          <p:cNvSpPr txBox="1"/>
          <p:nvPr/>
        </p:nvSpPr>
        <p:spPr>
          <a:xfrm>
            <a:off x="7715718" y="2279998"/>
            <a:ext cx="395985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</a:t>
            </a:r>
            <a:r>
              <a:rPr>
                <a:solidFill>
                  <a:srgbClr val="1A1A1A"/>
                </a:solidFill>
              </a:rPr>
              <a:t>auto_curry::</a:t>
            </a:r>
            <a:r>
              <a:rPr>
                <a:solidFill>
                  <a:srgbClr val="2C6FA6"/>
                </a:solidFill>
              </a:rPr>
              <a:t>curry</a:t>
            </a:r>
            <a:r>
              <a:rPr>
                <a:solidFill>
                  <a:srgbClr val="1A1A1A"/>
                </a:solidFill>
              </a:rPr>
              <a:t>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multiply</a:t>
            </a:r>
            <a:r>
              <a:rPr>
                <a:solidFill>
                  <a:srgbClr val="1A1A1A"/>
                </a:solidFill>
              </a:rPr>
              <a:t>(factor: i32, x: i32) -&gt; i32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triple: impl Fn(i32) -&gt; i32 = multiply(</a:t>
            </a:r>
            <a:r>
              <a:rPr>
                <a:solidFill>
                  <a:srgbClr val="7F8C8D"/>
                </a:solidFill>
              </a:rPr>
              <a:t>3</a:t>
            </a:r>
            <a:r>
              <a:rPr>
                <a:solidFill>
                  <a:srgbClr val="1A1A1A"/>
                </a:solidFill>
              </a:rPr>
              <a:t>);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result: Vec&lt;i32&gt; = vec![</a:t>
            </a:r>
            <a:r>
              <a:rPr>
                <a:solidFill>
                  <a:srgbClr val="7F8C8D"/>
                </a:solidFill>
              </a:rPr>
              <a:t>1, 2, 3, 4, 5</a:t>
            </a:r>
            <a:r>
              <a:rPr>
                <a:solidFill>
                  <a:srgbClr val="1A1A1A"/>
                </a:solidFill>
              </a:rPr>
              <a:t>]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2C6FA6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2C6FA6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51" name="TextBox 294"/>
          <p:cNvSpPr txBox="1"/>
          <p:nvPr/>
        </p:nvSpPr>
        <p:spPr>
          <a:xfrm>
            <a:off x="2765718" y="398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52" name="TextBox 295"/>
          <p:cNvSpPr txBox="1"/>
          <p:nvPr/>
        </p:nvSpPr>
        <p:spPr>
          <a:xfrm>
            <a:off x="2765717" y="4400000"/>
            <a:ext cx="3708397" cy="904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</a:t>
            </a:r>
            <a:r>
              <a:rPr>
                <a:solidFill>
                  <a:srgbClr val="1A1A1A"/>
                </a:solidFill>
              </a:rPr>
              <a:t>functools </a:t>
            </a:r>
            <a:r>
              <a:t>import </a:t>
            </a:r>
            <a:r>
              <a:rPr>
                <a:solidFill>
                  <a:srgbClr val="2C6FA6"/>
                </a:solidFill>
              </a:rPr>
              <a:t>partial</a:t>
            </a:r>
            <a:endParaRPr>
              <a:solidFill>
                <a:srgbClr val="2C6FA6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multiply</a:t>
            </a:r>
            <a:r>
              <a:rPr>
                <a:solidFill>
                  <a:srgbClr val="1A1A1A"/>
                </a:solidFill>
              </a:rPr>
              <a:t>(factor, x): return factor * x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2C6FA6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7F8C8D"/>
                </a:solidFill>
              </a:rPr>
              <a:t>3</a:t>
            </a:r>
            <a:r>
              <a:t>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7F8C8D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53" name="TextBox 296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54" name="TextBox 297"/>
          <p:cNvSpPr txBox="1"/>
          <p:nvPr/>
        </p:nvSpPr>
        <p:spPr>
          <a:xfrm>
            <a:off x="6875718" y="4400000"/>
            <a:ext cx="37083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</a:t>
            </a:r>
            <a:r>
              <a:rPr>
                <a:solidFill>
                  <a:srgbClr val="1A1A1A"/>
                </a:solidFill>
              </a:rPr>
              <a:t>* as R from "ramda";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</a:t>
            </a:r>
            <a:r>
              <a:rPr>
                <a:solidFill>
                  <a:srgbClr val="2C6FA6"/>
                </a:solidFill>
              </a:rPr>
              <a:t>multiply</a:t>
            </a:r>
            <a:r>
              <a:rPr>
                <a:solidFill>
                  <a:srgbClr val="1A1A1A"/>
                </a:solidFill>
              </a:rPr>
              <a:t>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R.</a:t>
            </a:r>
            <a:r>
              <a:rPr>
                <a:solidFill>
                  <a:srgbClr val="2C6FA6"/>
                </a:solidFill>
              </a:rPr>
              <a:t>curry</a:t>
            </a:r>
            <a:r>
              <a:t>((factor, x) =&gt; factor * x);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</a:t>
            </a:r>
            <a:r>
              <a:rPr>
                <a:solidFill>
                  <a:srgbClr val="1A1A1A"/>
                </a:solidFill>
              </a:rPr>
              <a:t>triple = </a:t>
            </a:r>
            <a:r>
              <a:rPr>
                <a:solidFill>
                  <a:srgbClr val="2C6FA6"/>
                </a:solidFill>
              </a:rPr>
              <a:t>multiply</a:t>
            </a:r>
            <a:r>
              <a:rPr>
                <a:solidFill>
                  <a:srgbClr val="1A1A1A"/>
                </a:solidFill>
              </a:rPr>
              <a:t>(</a:t>
            </a:r>
            <a:r>
              <a:rPr>
                <a:solidFill>
                  <a:srgbClr val="7F8C8D"/>
                </a:solidFill>
              </a:rPr>
              <a:t>3</a:t>
            </a:r>
            <a:r>
              <a:rPr>
                <a:solidFill>
                  <a:srgbClr val="1A1A1A"/>
                </a:solidFill>
              </a:rPr>
              <a:t>);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</a:t>
            </a:r>
            <a:r>
              <a:rPr>
                <a:solidFill>
                  <a:srgbClr val="1A1A1A"/>
                </a:solidFill>
              </a:rPr>
              <a:t>result = [</a:t>
            </a:r>
            <a:r>
              <a:rPr>
                <a:solidFill>
                  <a:srgbClr val="7F8C8D"/>
                </a:solidFill>
              </a:rPr>
              <a:t>1, 2, 3, 4, 5</a:t>
            </a:r>
            <a:r>
              <a:rPr>
                <a:solidFill>
                  <a:srgbClr val="1A1A1A"/>
                </a:solidFill>
              </a:rPr>
              <a:t>].</a:t>
            </a:r>
            <a:r>
              <a:rPr>
                <a:solidFill>
                  <a:srgbClr val="2C6FA6"/>
                </a:solidFill>
              </a:rPr>
              <a:t>map</a:t>
            </a:r>
            <a:r>
              <a:rPr>
                <a:solidFill>
                  <a:srgbClr val="1A1A1A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314;p33"/>
          <p:cNvSpPr txBox="1"/>
          <p:nvPr>
            <p:ph type="title"/>
          </p:nvPr>
        </p:nvSpPr>
        <p:spPr>
          <a:xfrm>
            <a:off x="838080" y="2766240"/>
            <a:ext cx="10514881" cy="132516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7" name="Google Shape;315;p33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320;p34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60" name="Google Shape;321;p34"/>
          <p:cNvSpPr txBox="1"/>
          <p:nvPr>
            <p:ph type="body" sz="quarter" idx="1"/>
          </p:nvPr>
        </p:nvSpPr>
        <p:spPr>
          <a:xfrm>
            <a:off x="838080" y="543959"/>
            <a:ext cx="10941841" cy="12186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SzTx/>
              <a:buNone/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61" name="Google Shape;322;p34"/>
          <p:cNvSpPr txBox="1"/>
          <p:nvPr/>
        </p:nvSpPr>
        <p:spPr>
          <a:xfrm>
            <a:off x="883805" y="2170076"/>
            <a:ext cx="10850390" cy="325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Чистая функция</a:t>
            </a:r>
            <a:r>
              <a:rPr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: возвращаемое значение зависит только от аргументов; </a:t>
            </a:r>
            <a:r>
              <a:t>нет побочных эффектов.</a:t>
            </a:r>
          </a:p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Следствия: мемоизация;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независимость порядка вычислений</a:t>
            </a:r>
            <a:r>
              <a:t>; data race–free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параллелизм.</a:t>
            </a:r>
          </a:p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Эффекты</a:t>
            </a:r>
            <a:r>
              <a:rPr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неизбежны (I/O, время, состояние). Стратегия — </a:t>
            </a:r>
            <a:r>
              <a:t>изоляция </a:t>
            </a:r>
            <a:r>
              <a:rPr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на границах системы.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327;p35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64" name="TextBox 327"/>
          <p:cNvSpPr txBox="1"/>
          <p:nvPr/>
        </p:nvSpPr>
        <p:spPr>
          <a:xfrm>
            <a:off x="565717" y="419998"/>
            <a:ext cx="4299094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функций: задача</a:t>
            </a:r>
          </a:p>
        </p:txBody>
      </p:sp>
      <p:sp>
        <p:nvSpPr>
          <p:cNvPr id="465" name="TextBox 328"/>
          <p:cNvSpPr txBox="1"/>
          <p:nvPr/>
        </p:nvSpPr>
        <p:spPr>
          <a:xfrm>
            <a:off x="565719" y="1049998"/>
            <a:ext cx="5609062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Функция скидки — чистая и нечистая версии.</a:t>
            </a:r>
          </a:p>
        </p:txBody>
      </p:sp>
      <p:sp>
        <p:nvSpPr>
          <p:cNvPr id="466" name="TextBox 329"/>
          <p:cNvSpPr txBox="1"/>
          <p:nvPr/>
        </p:nvSpPr>
        <p:spPr>
          <a:xfrm>
            <a:off x="565720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7" name="TextBox 330"/>
          <p:cNvSpPr txBox="1"/>
          <p:nvPr/>
        </p:nvSpPr>
        <p:spPr>
          <a:xfrm>
            <a:off x="565715" y="2279998"/>
            <a:ext cx="3456937" cy="151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current_rate = ref 0.1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current_rate := !current_rate +. 0.05;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!current_rate)</a:t>
            </a:r>
          </a:p>
        </p:txBody>
      </p:sp>
      <p:sp>
        <p:nvSpPr>
          <p:cNvPr id="468" name="TextBox 331"/>
          <p:cNvSpPr txBox="1"/>
          <p:nvPr/>
        </p:nvSpPr>
        <p:spPr>
          <a:xfrm>
            <a:off x="795719" y="398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9" name="TextBox 332"/>
          <p:cNvSpPr txBox="1"/>
          <p:nvPr/>
        </p:nvSpPr>
        <p:spPr>
          <a:xfrm>
            <a:off x="795717" y="4400000"/>
            <a:ext cx="488187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discountIO(rate: Double, price: Double): IO[Double]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IO.println(s"rate: $rate") *&gt;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IO.pure(discount(rate, price))</a:t>
            </a:r>
          </a:p>
        </p:txBody>
      </p:sp>
      <p:sp>
        <p:nvSpPr>
          <p:cNvPr id="470" name="TextBox 333"/>
          <p:cNvSpPr txBox="1"/>
          <p:nvPr/>
        </p:nvSpPr>
        <p:spPr>
          <a:xfrm>
            <a:off x="4175719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71" name="TextBox 334"/>
          <p:cNvSpPr txBox="1"/>
          <p:nvPr/>
        </p:nvSpPr>
        <p:spPr>
          <a:xfrm>
            <a:off x="4175719" y="2279998"/>
            <a:ext cx="404367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 RATE += 0.05; price * (1.0 - RATE) 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72" name="TextBox 335"/>
          <p:cNvSpPr txBox="1"/>
          <p:nvPr/>
        </p:nvSpPr>
        <p:spPr>
          <a:xfrm>
            <a:off x="8345720" y="186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3" name="TextBox 336"/>
          <p:cNvSpPr txBox="1"/>
          <p:nvPr/>
        </p:nvSpPr>
        <p:spPr>
          <a:xfrm>
            <a:off x="8345720" y="2279998"/>
            <a:ext cx="236727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4" name="TextBox 337"/>
          <p:cNvSpPr txBox="1"/>
          <p:nvPr/>
        </p:nvSpPr>
        <p:spPr>
          <a:xfrm>
            <a:off x="6465720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5" name="TextBox 338"/>
          <p:cNvSpPr txBox="1"/>
          <p:nvPr/>
        </p:nvSpPr>
        <p:spPr>
          <a:xfrm>
            <a:off x="6465720" y="4400000"/>
            <a:ext cx="287019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334;p3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78" name="TextBox 334"/>
          <p:cNvSpPr txBox="1"/>
          <p:nvPr/>
        </p:nvSpPr>
        <p:spPr>
          <a:xfrm>
            <a:off x="565717" y="419998"/>
            <a:ext cx="4299094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функций: задача</a:t>
            </a:r>
          </a:p>
        </p:txBody>
      </p:sp>
      <p:sp>
        <p:nvSpPr>
          <p:cNvPr id="479" name="TextBox 335"/>
          <p:cNvSpPr txBox="1"/>
          <p:nvPr/>
        </p:nvSpPr>
        <p:spPr>
          <a:xfrm>
            <a:off x="565719" y="1049998"/>
            <a:ext cx="5609062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Функция скидки — чистая и нечистая версии.</a:t>
            </a:r>
          </a:p>
        </p:txBody>
      </p:sp>
      <p:sp>
        <p:nvSpPr>
          <p:cNvPr id="480" name="TextBox 336"/>
          <p:cNvSpPr txBox="1"/>
          <p:nvPr/>
        </p:nvSpPr>
        <p:spPr>
          <a:xfrm>
            <a:off x="565720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1" name="TextBox 337"/>
          <p:cNvSpPr txBox="1"/>
          <p:nvPr/>
        </p:nvSpPr>
        <p:spPr>
          <a:xfrm>
            <a:off x="565715" y="2279998"/>
            <a:ext cx="3456937" cy="151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 rate price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current_rate = ref </a:t>
            </a:r>
            <a:r>
              <a:rPr>
                <a:solidFill>
                  <a:srgbClr val="7F8C8D"/>
                </a:solidFill>
              </a:rPr>
              <a:t>0.1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2C6FA6"/>
                </a:solidFill>
              </a:rPr>
              <a:t>discount_impure</a:t>
            </a:r>
            <a:r>
              <a:rPr>
                <a:solidFill>
                  <a:srgbClr val="1A1A1A"/>
                </a:solidFill>
              </a:rPr>
              <a:t> price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current_rate := !current_rate +. 0.05;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!current_rate)</a:t>
            </a:r>
          </a:p>
        </p:txBody>
      </p:sp>
      <p:sp>
        <p:nvSpPr>
          <p:cNvPr id="482" name="TextBox 338"/>
          <p:cNvSpPr txBox="1"/>
          <p:nvPr/>
        </p:nvSpPr>
        <p:spPr>
          <a:xfrm>
            <a:off x="795719" y="398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3" name="TextBox 339"/>
          <p:cNvSpPr txBox="1"/>
          <p:nvPr/>
        </p:nvSpPr>
        <p:spPr>
          <a:xfrm>
            <a:off x="795717" y="4400000"/>
            <a:ext cx="488187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discountIO(rate: Double, price: Double): IO[Double] =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IO.println(s"rate: $rate") *&gt;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IO.pure(discount(rate, price))</a:t>
            </a:r>
          </a:p>
        </p:txBody>
      </p:sp>
      <p:sp>
        <p:nvSpPr>
          <p:cNvPr id="484" name="TextBox 340"/>
          <p:cNvSpPr txBox="1"/>
          <p:nvPr/>
        </p:nvSpPr>
        <p:spPr>
          <a:xfrm>
            <a:off x="4175719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5" name="TextBox 341"/>
          <p:cNvSpPr txBox="1"/>
          <p:nvPr/>
        </p:nvSpPr>
        <p:spPr>
          <a:xfrm>
            <a:off x="4175719" y="2279998"/>
            <a:ext cx="404367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 RATE += 0.05; price * (1.0 - RATE) 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TextBox 342"/>
          <p:cNvSpPr txBox="1"/>
          <p:nvPr/>
        </p:nvSpPr>
        <p:spPr>
          <a:xfrm>
            <a:off x="8345720" y="186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7" name="TextBox 343"/>
          <p:cNvSpPr txBox="1"/>
          <p:nvPr/>
        </p:nvSpPr>
        <p:spPr>
          <a:xfrm>
            <a:off x="8345720" y="2279998"/>
            <a:ext cx="236727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88" name="TextBox 344"/>
          <p:cNvSpPr txBox="1"/>
          <p:nvPr/>
        </p:nvSpPr>
        <p:spPr>
          <a:xfrm>
            <a:off x="6465720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89" name="TextBox 345"/>
          <p:cNvSpPr txBox="1"/>
          <p:nvPr/>
        </p:nvSpPr>
        <p:spPr>
          <a:xfrm>
            <a:off x="6465720" y="4400000"/>
            <a:ext cx="287019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341;p37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92" name="TextBox 341"/>
          <p:cNvSpPr txBox="1"/>
          <p:nvPr/>
        </p:nvSpPr>
        <p:spPr>
          <a:xfrm>
            <a:off x="565717" y="419998"/>
            <a:ext cx="4299094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функций: задача</a:t>
            </a:r>
          </a:p>
        </p:txBody>
      </p:sp>
      <p:sp>
        <p:nvSpPr>
          <p:cNvPr id="493" name="TextBox 342"/>
          <p:cNvSpPr txBox="1"/>
          <p:nvPr/>
        </p:nvSpPr>
        <p:spPr>
          <a:xfrm>
            <a:off x="565719" y="1049998"/>
            <a:ext cx="5609062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Функция скидки — чистая и нечистая версии.</a:t>
            </a:r>
          </a:p>
        </p:txBody>
      </p:sp>
      <p:sp>
        <p:nvSpPr>
          <p:cNvPr id="494" name="TextBox 343"/>
          <p:cNvSpPr txBox="1"/>
          <p:nvPr/>
        </p:nvSpPr>
        <p:spPr>
          <a:xfrm>
            <a:off x="565720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95" name="TextBox 344"/>
          <p:cNvSpPr txBox="1"/>
          <p:nvPr/>
        </p:nvSpPr>
        <p:spPr>
          <a:xfrm>
            <a:off x="565715" y="2279998"/>
            <a:ext cx="3456937" cy="151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 rate price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current_rate = ref </a:t>
            </a:r>
            <a:r>
              <a:rPr>
                <a:solidFill>
                  <a:srgbClr val="7F8C8D"/>
                </a:solidFill>
              </a:rPr>
              <a:t>0.1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2C6FA6"/>
                </a:solidFill>
              </a:rPr>
              <a:t>discount_impure</a:t>
            </a:r>
            <a:r>
              <a:rPr>
                <a:solidFill>
                  <a:srgbClr val="1A1A1A"/>
                </a:solidFill>
              </a:rPr>
              <a:t> price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current_rate := !current_rate +. 0.05;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!current_rate)</a:t>
            </a:r>
          </a:p>
        </p:txBody>
      </p:sp>
      <p:sp>
        <p:nvSpPr>
          <p:cNvPr id="496" name="TextBox 345"/>
          <p:cNvSpPr txBox="1"/>
          <p:nvPr/>
        </p:nvSpPr>
        <p:spPr>
          <a:xfrm>
            <a:off x="795719" y="398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97" name="TextBox 346"/>
          <p:cNvSpPr txBox="1"/>
          <p:nvPr/>
        </p:nvSpPr>
        <p:spPr>
          <a:xfrm>
            <a:off x="795717" y="4400000"/>
            <a:ext cx="488187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(rate: Double, price: Double): Double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discountIO</a:t>
            </a:r>
            <a:r>
              <a:rPr>
                <a:solidFill>
                  <a:srgbClr val="1A1A1A"/>
                </a:solidFill>
              </a:rPr>
              <a:t>(rate: Double, price: Double): IO[Double]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IO.println(s"rate: $rate") *&gt;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IO.pure(discount(rate, price))</a:t>
            </a:r>
          </a:p>
        </p:txBody>
      </p:sp>
      <p:sp>
        <p:nvSpPr>
          <p:cNvPr id="498" name="TextBox 347"/>
          <p:cNvSpPr txBox="1"/>
          <p:nvPr/>
        </p:nvSpPr>
        <p:spPr>
          <a:xfrm>
            <a:off x="4175719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99" name="TextBox 348"/>
          <p:cNvSpPr txBox="1"/>
          <p:nvPr/>
        </p:nvSpPr>
        <p:spPr>
          <a:xfrm>
            <a:off x="4175719" y="2279998"/>
            <a:ext cx="404367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 RATE += 0.05; price * (1.0 - RATE) 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0" name="TextBox 349"/>
          <p:cNvSpPr txBox="1"/>
          <p:nvPr/>
        </p:nvSpPr>
        <p:spPr>
          <a:xfrm>
            <a:off x="8345720" y="186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1" name="TextBox 350"/>
          <p:cNvSpPr txBox="1"/>
          <p:nvPr/>
        </p:nvSpPr>
        <p:spPr>
          <a:xfrm>
            <a:off x="8345720" y="2279998"/>
            <a:ext cx="236727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2" name="TextBox 351"/>
          <p:cNvSpPr txBox="1"/>
          <p:nvPr/>
        </p:nvSpPr>
        <p:spPr>
          <a:xfrm>
            <a:off x="6465720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03" name="TextBox 352"/>
          <p:cNvSpPr txBox="1"/>
          <p:nvPr/>
        </p:nvSpPr>
        <p:spPr>
          <a:xfrm>
            <a:off x="6465720" y="4400000"/>
            <a:ext cx="287019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348;p38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06" name="TextBox 348"/>
          <p:cNvSpPr txBox="1"/>
          <p:nvPr/>
        </p:nvSpPr>
        <p:spPr>
          <a:xfrm>
            <a:off x="565717" y="419998"/>
            <a:ext cx="4299094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функций: задача</a:t>
            </a:r>
          </a:p>
        </p:txBody>
      </p:sp>
      <p:sp>
        <p:nvSpPr>
          <p:cNvPr id="507" name="TextBox 349"/>
          <p:cNvSpPr txBox="1"/>
          <p:nvPr/>
        </p:nvSpPr>
        <p:spPr>
          <a:xfrm>
            <a:off x="565719" y="1049998"/>
            <a:ext cx="5609062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Функция скидки — чистая и нечистая версии.</a:t>
            </a:r>
          </a:p>
        </p:txBody>
      </p:sp>
      <p:sp>
        <p:nvSpPr>
          <p:cNvPr id="508" name="TextBox 350"/>
          <p:cNvSpPr txBox="1"/>
          <p:nvPr/>
        </p:nvSpPr>
        <p:spPr>
          <a:xfrm>
            <a:off x="565720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9" name="TextBox 351"/>
          <p:cNvSpPr txBox="1"/>
          <p:nvPr/>
        </p:nvSpPr>
        <p:spPr>
          <a:xfrm>
            <a:off x="565715" y="2279998"/>
            <a:ext cx="3456937" cy="151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 rate price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current_rate = ref </a:t>
            </a:r>
            <a:r>
              <a:rPr>
                <a:solidFill>
                  <a:srgbClr val="7F8C8D"/>
                </a:solidFill>
              </a:rPr>
              <a:t>0.1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2C6FA6"/>
                </a:solidFill>
              </a:rPr>
              <a:t>discount_impure</a:t>
            </a:r>
            <a:r>
              <a:rPr>
                <a:solidFill>
                  <a:srgbClr val="1A1A1A"/>
                </a:solidFill>
              </a:rPr>
              <a:t> price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current_rate := !current_rate +. 0.05;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!current_rate)</a:t>
            </a:r>
          </a:p>
        </p:txBody>
      </p:sp>
      <p:sp>
        <p:nvSpPr>
          <p:cNvPr id="510" name="TextBox 352"/>
          <p:cNvSpPr txBox="1"/>
          <p:nvPr/>
        </p:nvSpPr>
        <p:spPr>
          <a:xfrm>
            <a:off x="795719" y="398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11" name="TextBox 353"/>
          <p:cNvSpPr txBox="1"/>
          <p:nvPr/>
        </p:nvSpPr>
        <p:spPr>
          <a:xfrm>
            <a:off x="795717" y="4400000"/>
            <a:ext cx="488187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(rate: Double, price: Double): Double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discountIO</a:t>
            </a:r>
            <a:r>
              <a:rPr>
                <a:solidFill>
                  <a:srgbClr val="1A1A1A"/>
                </a:solidFill>
              </a:rPr>
              <a:t>(rate: Double, price: Double): IO[Double]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IO.println(s"rate: $rate") *&gt;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IO.pure(discount(rate, price))</a:t>
            </a:r>
          </a:p>
        </p:txBody>
      </p:sp>
      <p:sp>
        <p:nvSpPr>
          <p:cNvPr id="512" name="TextBox 354"/>
          <p:cNvSpPr txBox="1"/>
          <p:nvPr/>
        </p:nvSpPr>
        <p:spPr>
          <a:xfrm>
            <a:off x="4175719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13" name="TextBox 355"/>
          <p:cNvSpPr txBox="1"/>
          <p:nvPr/>
        </p:nvSpPr>
        <p:spPr>
          <a:xfrm>
            <a:off x="4175719" y="2279998"/>
            <a:ext cx="404367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(rate: f64, price: f64) -&gt; f64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</a:t>
            </a:r>
            <a:r>
              <a:rPr>
                <a:solidFill>
                  <a:srgbClr val="1A1A1A"/>
                </a:solidFill>
              </a:rPr>
              <a:t>RATE: f64 = </a:t>
            </a:r>
            <a:r>
              <a:rPr>
                <a:solidFill>
                  <a:srgbClr val="7F8C8D"/>
                </a:solidFill>
              </a:rPr>
              <a:t>0.1</a:t>
            </a:r>
            <a:r>
              <a:rPr>
                <a:solidFill>
                  <a:srgbClr val="1A1A1A"/>
                </a:solidFill>
              </a:rPr>
              <a:t>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discount_impure</a:t>
            </a:r>
            <a:r>
              <a:rPr>
                <a:solidFill>
                  <a:srgbClr val="1A1A1A"/>
                </a:solidFill>
              </a:rPr>
              <a:t>(price: f64) -&gt; f64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</a:t>
            </a:r>
            <a:r>
              <a:rPr>
                <a:solidFill>
                  <a:srgbClr val="1A1A1A"/>
                </a:solidFill>
              </a:rPr>
              <a:t>{ RATE += </a:t>
            </a:r>
            <a:r>
              <a:rPr>
                <a:solidFill>
                  <a:srgbClr val="7F8C8D"/>
                </a:solidFill>
              </a:rPr>
              <a:t>0.05</a:t>
            </a:r>
            <a:r>
              <a:rPr>
                <a:solidFill>
                  <a:srgbClr val="1A1A1A"/>
                </a:solidFill>
              </a:rPr>
              <a:t>; price * (1.0 - RATE)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14" name="TextBox 356"/>
          <p:cNvSpPr txBox="1"/>
          <p:nvPr/>
        </p:nvSpPr>
        <p:spPr>
          <a:xfrm>
            <a:off x="8345720" y="186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15" name="TextBox 357"/>
          <p:cNvSpPr txBox="1"/>
          <p:nvPr/>
        </p:nvSpPr>
        <p:spPr>
          <a:xfrm>
            <a:off x="8345720" y="2279998"/>
            <a:ext cx="236727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16" name="TextBox 358"/>
          <p:cNvSpPr txBox="1"/>
          <p:nvPr/>
        </p:nvSpPr>
        <p:spPr>
          <a:xfrm>
            <a:off x="6465720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7" name="TextBox 359"/>
          <p:cNvSpPr txBox="1"/>
          <p:nvPr/>
        </p:nvSpPr>
        <p:spPr>
          <a:xfrm>
            <a:off x="6465720" y="4400000"/>
            <a:ext cx="287019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355;p39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20" name="TextBox 355"/>
          <p:cNvSpPr txBox="1"/>
          <p:nvPr/>
        </p:nvSpPr>
        <p:spPr>
          <a:xfrm>
            <a:off x="565717" y="419998"/>
            <a:ext cx="4299094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функций: задача</a:t>
            </a:r>
          </a:p>
        </p:txBody>
      </p:sp>
      <p:sp>
        <p:nvSpPr>
          <p:cNvPr id="521" name="TextBox 356"/>
          <p:cNvSpPr txBox="1"/>
          <p:nvPr/>
        </p:nvSpPr>
        <p:spPr>
          <a:xfrm>
            <a:off x="565719" y="1049998"/>
            <a:ext cx="5609062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Функция скидки — чистая и нечистая версии.</a:t>
            </a:r>
          </a:p>
        </p:txBody>
      </p:sp>
      <p:sp>
        <p:nvSpPr>
          <p:cNvPr id="522" name="TextBox 357"/>
          <p:cNvSpPr txBox="1"/>
          <p:nvPr/>
        </p:nvSpPr>
        <p:spPr>
          <a:xfrm>
            <a:off x="565720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3" name="TextBox 358"/>
          <p:cNvSpPr txBox="1"/>
          <p:nvPr/>
        </p:nvSpPr>
        <p:spPr>
          <a:xfrm>
            <a:off x="565715" y="2279998"/>
            <a:ext cx="3456937" cy="151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 rate price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current_rate = ref </a:t>
            </a:r>
            <a:r>
              <a:rPr>
                <a:solidFill>
                  <a:srgbClr val="7F8C8D"/>
                </a:solidFill>
              </a:rPr>
              <a:t>0.1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2C6FA6"/>
                </a:solidFill>
              </a:rPr>
              <a:t>discount_impure</a:t>
            </a:r>
            <a:r>
              <a:rPr>
                <a:solidFill>
                  <a:srgbClr val="1A1A1A"/>
                </a:solidFill>
              </a:rPr>
              <a:t> price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current_rate := !current_rate +. 0.05;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!current_rate)</a:t>
            </a:r>
          </a:p>
        </p:txBody>
      </p:sp>
      <p:sp>
        <p:nvSpPr>
          <p:cNvPr id="524" name="TextBox 359"/>
          <p:cNvSpPr txBox="1"/>
          <p:nvPr/>
        </p:nvSpPr>
        <p:spPr>
          <a:xfrm>
            <a:off x="795719" y="398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5" name="TextBox 360"/>
          <p:cNvSpPr txBox="1"/>
          <p:nvPr/>
        </p:nvSpPr>
        <p:spPr>
          <a:xfrm>
            <a:off x="795717" y="4400000"/>
            <a:ext cx="488187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(rate: Double, price: Double): Double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discountIO</a:t>
            </a:r>
            <a:r>
              <a:rPr>
                <a:solidFill>
                  <a:srgbClr val="1A1A1A"/>
                </a:solidFill>
              </a:rPr>
              <a:t>(rate: Double, price: Double): IO[Double]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IO.println(s"rate: $rate") *&gt;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IO.pure(discount(rate, price))</a:t>
            </a:r>
          </a:p>
        </p:txBody>
      </p:sp>
      <p:sp>
        <p:nvSpPr>
          <p:cNvPr id="526" name="TextBox 361"/>
          <p:cNvSpPr txBox="1"/>
          <p:nvPr/>
        </p:nvSpPr>
        <p:spPr>
          <a:xfrm>
            <a:off x="4175719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7" name="TextBox 362"/>
          <p:cNvSpPr txBox="1"/>
          <p:nvPr/>
        </p:nvSpPr>
        <p:spPr>
          <a:xfrm>
            <a:off x="4175719" y="2279998"/>
            <a:ext cx="404367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(rate: f64, price: f64) -&gt; f64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</a:t>
            </a:r>
            <a:r>
              <a:rPr>
                <a:solidFill>
                  <a:srgbClr val="1A1A1A"/>
                </a:solidFill>
              </a:rPr>
              <a:t>RATE: f64 = </a:t>
            </a:r>
            <a:r>
              <a:rPr>
                <a:solidFill>
                  <a:srgbClr val="7F8C8D"/>
                </a:solidFill>
              </a:rPr>
              <a:t>0.1</a:t>
            </a:r>
            <a:r>
              <a:rPr>
                <a:solidFill>
                  <a:srgbClr val="1A1A1A"/>
                </a:solidFill>
              </a:rPr>
              <a:t>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discount_impure</a:t>
            </a:r>
            <a:r>
              <a:rPr>
                <a:solidFill>
                  <a:srgbClr val="1A1A1A"/>
                </a:solidFill>
              </a:rPr>
              <a:t>(price: f64) -&gt; f64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</a:t>
            </a:r>
            <a:r>
              <a:rPr>
                <a:solidFill>
                  <a:srgbClr val="1A1A1A"/>
                </a:solidFill>
              </a:rPr>
              <a:t>{ RATE += </a:t>
            </a:r>
            <a:r>
              <a:rPr>
                <a:solidFill>
                  <a:srgbClr val="7F8C8D"/>
                </a:solidFill>
              </a:rPr>
              <a:t>0.05</a:t>
            </a:r>
            <a:r>
              <a:rPr>
                <a:solidFill>
                  <a:srgbClr val="1A1A1A"/>
                </a:solidFill>
              </a:rPr>
              <a:t>; price * (1.0 - RATE)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8" name="TextBox 363"/>
          <p:cNvSpPr txBox="1"/>
          <p:nvPr/>
        </p:nvSpPr>
        <p:spPr>
          <a:xfrm>
            <a:off x="8345720" y="186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9" name="TextBox 364"/>
          <p:cNvSpPr txBox="1"/>
          <p:nvPr/>
        </p:nvSpPr>
        <p:spPr>
          <a:xfrm>
            <a:off x="8345720" y="2279998"/>
            <a:ext cx="236727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(rate, price):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7F8C8D"/>
                </a:solidFill>
              </a:rPr>
              <a:t>0.1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discount_impure</a:t>
            </a:r>
            <a:r>
              <a:rPr>
                <a:solidFill>
                  <a:srgbClr val="1A1A1A"/>
                </a:solidFill>
              </a:rPr>
              <a:t>(price):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</a:t>
            </a:r>
            <a:r>
              <a:rPr>
                <a:solidFill>
                  <a:srgbClr val="1A1A1A"/>
                </a:solidFill>
              </a:rPr>
              <a:t>rate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7F8C8D"/>
                </a:solidFill>
              </a:rPr>
              <a:t>0.05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30" name="TextBox 365"/>
          <p:cNvSpPr txBox="1"/>
          <p:nvPr/>
        </p:nvSpPr>
        <p:spPr>
          <a:xfrm>
            <a:off x="6465720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31" name="TextBox 366"/>
          <p:cNvSpPr txBox="1"/>
          <p:nvPr/>
        </p:nvSpPr>
        <p:spPr>
          <a:xfrm>
            <a:off x="6465720" y="4400000"/>
            <a:ext cx="287019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362;p40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34" name="TextBox 362"/>
          <p:cNvSpPr txBox="1"/>
          <p:nvPr/>
        </p:nvSpPr>
        <p:spPr>
          <a:xfrm>
            <a:off x="565717" y="419998"/>
            <a:ext cx="4299094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функций: задача</a:t>
            </a:r>
          </a:p>
        </p:txBody>
      </p:sp>
      <p:sp>
        <p:nvSpPr>
          <p:cNvPr id="535" name="TextBox 363"/>
          <p:cNvSpPr txBox="1"/>
          <p:nvPr/>
        </p:nvSpPr>
        <p:spPr>
          <a:xfrm>
            <a:off x="565719" y="1049998"/>
            <a:ext cx="5609062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Функция скидки — чистая и нечистая версии.</a:t>
            </a:r>
          </a:p>
        </p:txBody>
      </p:sp>
      <p:sp>
        <p:nvSpPr>
          <p:cNvPr id="536" name="TextBox 364"/>
          <p:cNvSpPr txBox="1"/>
          <p:nvPr/>
        </p:nvSpPr>
        <p:spPr>
          <a:xfrm>
            <a:off x="565720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37" name="TextBox 365"/>
          <p:cNvSpPr txBox="1"/>
          <p:nvPr/>
        </p:nvSpPr>
        <p:spPr>
          <a:xfrm>
            <a:off x="565715" y="2279998"/>
            <a:ext cx="3456937" cy="151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 rate price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current_rate = ref </a:t>
            </a:r>
            <a:r>
              <a:rPr>
                <a:solidFill>
                  <a:srgbClr val="7F8C8D"/>
                </a:solidFill>
              </a:rPr>
              <a:t>0.1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2C6FA6"/>
                </a:solidFill>
              </a:rPr>
              <a:t>discount_impure</a:t>
            </a:r>
            <a:r>
              <a:rPr>
                <a:solidFill>
                  <a:srgbClr val="1A1A1A"/>
                </a:solidFill>
              </a:rPr>
              <a:t> price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current_rate := !current_rate +. 0.05;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!current_rate)</a:t>
            </a:r>
          </a:p>
        </p:txBody>
      </p:sp>
      <p:sp>
        <p:nvSpPr>
          <p:cNvPr id="538" name="TextBox 366"/>
          <p:cNvSpPr txBox="1"/>
          <p:nvPr/>
        </p:nvSpPr>
        <p:spPr>
          <a:xfrm>
            <a:off x="795719" y="398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39" name="TextBox 367"/>
          <p:cNvSpPr txBox="1"/>
          <p:nvPr/>
        </p:nvSpPr>
        <p:spPr>
          <a:xfrm>
            <a:off x="795717" y="4400000"/>
            <a:ext cx="4881877" cy="1310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(rate: Double, price: Double): Double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discountIO</a:t>
            </a:r>
            <a:r>
              <a:rPr>
                <a:solidFill>
                  <a:srgbClr val="1A1A1A"/>
                </a:solidFill>
              </a:rPr>
              <a:t>(rate: Double, price: Double): IO[Double] =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IO.println(s"rate: $rate") *&gt;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IO.pure(discount(rate, price))</a:t>
            </a:r>
          </a:p>
        </p:txBody>
      </p:sp>
      <p:sp>
        <p:nvSpPr>
          <p:cNvPr id="540" name="TextBox 368"/>
          <p:cNvSpPr txBox="1"/>
          <p:nvPr/>
        </p:nvSpPr>
        <p:spPr>
          <a:xfrm>
            <a:off x="4175719" y="186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1" name="TextBox 369"/>
          <p:cNvSpPr txBox="1"/>
          <p:nvPr/>
        </p:nvSpPr>
        <p:spPr>
          <a:xfrm>
            <a:off x="4175719" y="2279998"/>
            <a:ext cx="404367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(rate: f64, price: f64) -&gt; f64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</a:t>
            </a:r>
            <a:r>
              <a:rPr>
                <a:solidFill>
                  <a:srgbClr val="1A1A1A"/>
                </a:solidFill>
              </a:rPr>
              <a:t>RATE: f64 = </a:t>
            </a:r>
            <a:r>
              <a:rPr>
                <a:solidFill>
                  <a:srgbClr val="7F8C8D"/>
                </a:solidFill>
              </a:rPr>
              <a:t>0.1</a:t>
            </a:r>
            <a:r>
              <a:rPr>
                <a:solidFill>
                  <a:srgbClr val="1A1A1A"/>
                </a:solidFill>
              </a:rPr>
              <a:t>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</a:t>
            </a:r>
            <a:r>
              <a:rPr>
                <a:solidFill>
                  <a:srgbClr val="2C6FA6"/>
                </a:solidFill>
              </a:rPr>
              <a:t>discount_impure</a:t>
            </a:r>
            <a:r>
              <a:rPr>
                <a:solidFill>
                  <a:srgbClr val="1A1A1A"/>
                </a:solidFill>
              </a:rPr>
              <a:t>(price: f64) -&gt; f64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</a:t>
            </a:r>
            <a:r>
              <a:rPr>
                <a:solidFill>
                  <a:srgbClr val="1A1A1A"/>
                </a:solidFill>
              </a:rPr>
              <a:t>{ RATE += </a:t>
            </a:r>
            <a:r>
              <a:rPr>
                <a:solidFill>
                  <a:srgbClr val="7F8C8D"/>
                </a:solidFill>
              </a:rPr>
              <a:t>0.05</a:t>
            </a:r>
            <a:r>
              <a:rPr>
                <a:solidFill>
                  <a:srgbClr val="1A1A1A"/>
                </a:solidFill>
              </a:rPr>
              <a:t>; price * (1.0 - RATE)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2" name="TextBox 370"/>
          <p:cNvSpPr txBox="1"/>
          <p:nvPr/>
        </p:nvSpPr>
        <p:spPr>
          <a:xfrm>
            <a:off x="8345720" y="186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3" name="TextBox 371"/>
          <p:cNvSpPr txBox="1"/>
          <p:nvPr/>
        </p:nvSpPr>
        <p:spPr>
          <a:xfrm>
            <a:off x="8345720" y="2279998"/>
            <a:ext cx="236727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(rate, price):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7F8C8D"/>
                </a:solidFill>
              </a:rPr>
              <a:t>0.1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</a:t>
            </a:r>
            <a:r>
              <a:rPr>
                <a:solidFill>
                  <a:srgbClr val="2C6FA6"/>
                </a:solidFill>
              </a:rPr>
              <a:t>discount_impure</a:t>
            </a:r>
            <a:r>
              <a:rPr>
                <a:solidFill>
                  <a:srgbClr val="1A1A1A"/>
                </a:solidFill>
              </a:rPr>
              <a:t>(price):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</a:t>
            </a:r>
            <a:r>
              <a:rPr>
                <a:solidFill>
                  <a:srgbClr val="1A1A1A"/>
                </a:solidFill>
              </a:rPr>
              <a:t>rate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7F8C8D"/>
                </a:solidFill>
              </a:rPr>
              <a:t>0.05</a:t>
            </a:r>
            <a:endParaRPr>
              <a:solidFill>
                <a:srgbClr val="7F8C8D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44" name="TextBox 372"/>
          <p:cNvSpPr txBox="1"/>
          <p:nvPr/>
        </p:nvSpPr>
        <p:spPr>
          <a:xfrm>
            <a:off x="6465720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5" name="TextBox 373"/>
          <p:cNvSpPr txBox="1"/>
          <p:nvPr/>
        </p:nvSpPr>
        <p:spPr>
          <a:xfrm>
            <a:off x="6465720" y="4400000"/>
            <a:ext cx="2870197" cy="171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</a:t>
            </a:r>
            <a:r>
              <a:rPr>
                <a:solidFill>
                  <a:srgbClr val="2C6FA6"/>
                </a:solidFill>
              </a:rPr>
              <a:t>discount</a:t>
            </a:r>
            <a:r>
              <a:rPr>
                <a:solidFill>
                  <a:srgbClr val="1A1A1A"/>
                </a:solidFill>
              </a:rPr>
              <a:t> = (rate, price) =&gt;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rate = </a:t>
            </a:r>
            <a:r>
              <a:rPr>
                <a:solidFill>
                  <a:srgbClr val="7F8C8D"/>
                </a:solidFill>
              </a:rPr>
              <a:t>0.1</a:t>
            </a:r>
            <a:r>
              <a:rPr>
                <a:solidFill>
                  <a:srgbClr val="1A1A1A"/>
                </a:solidFill>
              </a:rPr>
              <a:t>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</a:t>
            </a:r>
            <a:r>
              <a:rPr>
                <a:solidFill>
                  <a:srgbClr val="2C6FA6"/>
                </a:solidFill>
              </a:rPr>
              <a:t>discountImpure</a:t>
            </a:r>
            <a:r>
              <a:rPr>
                <a:solidFill>
                  <a:srgbClr val="1A1A1A"/>
                </a:solidFill>
              </a:rPr>
              <a:t>(price) {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</a:t>
            </a:r>
            <a:r>
              <a:rPr>
                <a:solidFill>
                  <a:srgbClr val="1A1A1A"/>
                </a:solidFill>
              </a:rPr>
              <a:t>price * (1 - rate);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369;p41"/>
          <p:cNvSpPr txBox="1"/>
          <p:nvPr>
            <p:ph type="title"/>
          </p:nvPr>
        </p:nvSpPr>
        <p:spPr>
          <a:xfrm>
            <a:off x="838080" y="2766240"/>
            <a:ext cx="10514881" cy="132516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48" name="Google Shape;370;p41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375;p42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51" name="Google Shape;376;p42"/>
          <p:cNvSpPr txBox="1"/>
          <p:nvPr>
            <p:ph type="body" sz="quarter" idx="1"/>
          </p:nvPr>
        </p:nvSpPr>
        <p:spPr>
          <a:xfrm>
            <a:off x="838080" y="543959"/>
            <a:ext cx="10941841" cy="12186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SzTx/>
              <a:buNone/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52" name="Google Shape;377;p42"/>
          <p:cNvSpPr txBox="1"/>
          <p:nvPr/>
        </p:nvSpPr>
        <p:spPr>
          <a:xfrm>
            <a:off x="883799" y="2170070"/>
            <a:ext cx="10850451" cy="3561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const / val — запрет перезаписи переменной. Иммутабельность —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запрет мутации самого значения.</a:t>
            </a:r>
          </a:p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Гарантия: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компилятором </a:t>
            </a:r>
            <a:r>
              <a:t>(OCaml let, Rust let) /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соглашением </a:t>
            </a:r>
            <a:r>
              <a:t>(Scala val)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/ опционально </a:t>
            </a:r>
            <a:r>
              <a:t>(Python frozen=True, JS Object.freeze).</a:t>
            </a:r>
          </a:p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Font typeface="Montserrat Thin Regular"/>
              <a:buChar char="●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Persistent data structures: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structural sharing</a:t>
            </a:r>
            <a:r>
              <a:t>. Обновление поля —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O(log n), не O(n)</a:t>
            </a:r>
            <a:r>
              <a:t>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382;p43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55" name="TextBox 382"/>
          <p:cNvSpPr txBox="1"/>
          <p:nvPr/>
        </p:nvSpPr>
        <p:spPr>
          <a:xfrm>
            <a:off x="565714" y="419998"/>
            <a:ext cx="4408887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Иммутабельность: задача</a:t>
            </a:r>
          </a:p>
        </p:txBody>
      </p:sp>
      <p:sp>
        <p:nvSpPr>
          <p:cNvPr id="556" name="TextBox 383"/>
          <p:cNvSpPr txBox="1"/>
          <p:nvPr/>
        </p:nvSpPr>
        <p:spPr>
          <a:xfrm>
            <a:off x="565719" y="1049998"/>
            <a:ext cx="677130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Обновить одно поле записи без изменения оригинала.</a:t>
            </a:r>
          </a:p>
        </p:txBody>
      </p:sp>
      <p:sp>
        <p:nvSpPr>
          <p:cNvPr id="557" name="TextBox 384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8" name="TextBox 385"/>
          <p:cNvSpPr txBox="1"/>
          <p:nvPr/>
        </p:nvSpPr>
        <p:spPr>
          <a:xfrm>
            <a:off x="655718" y="2279999"/>
            <a:ext cx="337311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user = { name: string; age: int 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{ name = "Alice"; age = 30 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{ user with age = 31 }</a:t>
            </a:r>
          </a:p>
        </p:txBody>
      </p:sp>
      <p:sp>
        <p:nvSpPr>
          <p:cNvPr id="559" name="TextBox 386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0" name="TextBox 387"/>
          <p:cNvSpPr txBox="1"/>
          <p:nvPr/>
        </p:nvSpPr>
        <p:spPr>
          <a:xfrm>
            <a:off x="4155718" y="2279999"/>
            <a:ext cx="337311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561" name="TextBox 388"/>
          <p:cNvSpPr txBox="1"/>
          <p:nvPr/>
        </p:nvSpPr>
        <p:spPr>
          <a:xfrm>
            <a:off x="2115716" y="398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2" name="TextBox 389"/>
          <p:cNvSpPr txBox="1"/>
          <p:nvPr/>
        </p:nvSpPr>
        <p:spPr>
          <a:xfrm>
            <a:off x="2115718" y="4400000"/>
            <a:ext cx="45465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563" name="TextBox 390"/>
          <p:cNvSpPr txBox="1"/>
          <p:nvPr/>
        </p:nvSpPr>
        <p:spPr>
          <a:xfrm>
            <a:off x="7715718" y="186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4" name="TextBox 391"/>
          <p:cNvSpPr txBox="1"/>
          <p:nvPr/>
        </p:nvSpPr>
        <p:spPr>
          <a:xfrm>
            <a:off x="7715718" y="2279999"/>
            <a:ext cx="362457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565" name="TextBox 392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6" name="TextBox 393"/>
          <p:cNvSpPr txBox="1"/>
          <p:nvPr/>
        </p:nvSpPr>
        <p:spPr>
          <a:xfrm>
            <a:off x="6875719" y="4400000"/>
            <a:ext cx="471423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389;p44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69" name="TextBox 389"/>
          <p:cNvSpPr txBox="1"/>
          <p:nvPr/>
        </p:nvSpPr>
        <p:spPr>
          <a:xfrm>
            <a:off x="565714" y="419998"/>
            <a:ext cx="4408887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Иммутабельность: задача</a:t>
            </a:r>
          </a:p>
        </p:txBody>
      </p:sp>
      <p:sp>
        <p:nvSpPr>
          <p:cNvPr id="570" name="TextBox 390"/>
          <p:cNvSpPr txBox="1"/>
          <p:nvPr/>
        </p:nvSpPr>
        <p:spPr>
          <a:xfrm>
            <a:off x="565719" y="1049998"/>
            <a:ext cx="677130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Обновить одно поле записи без изменения оригинала.</a:t>
            </a:r>
          </a:p>
        </p:txBody>
      </p:sp>
      <p:sp>
        <p:nvSpPr>
          <p:cNvPr id="571" name="TextBox 391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72" name="TextBox 392"/>
          <p:cNvSpPr txBox="1"/>
          <p:nvPr/>
        </p:nvSpPr>
        <p:spPr>
          <a:xfrm>
            <a:off x="655718" y="2279999"/>
            <a:ext cx="337311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</a:t>
            </a:r>
            <a:r>
              <a:rPr>
                <a:solidFill>
                  <a:srgbClr val="1A1A1A"/>
                </a:solidFill>
              </a:rPr>
              <a:t>user = { name: string; age: int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user = { name = "Alice"; age = 30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older = { user with age = 31 }</a:t>
            </a:r>
          </a:p>
        </p:txBody>
      </p:sp>
      <p:sp>
        <p:nvSpPr>
          <p:cNvPr id="573" name="TextBox 393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74" name="TextBox 394"/>
          <p:cNvSpPr txBox="1"/>
          <p:nvPr/>
        </p:nvSpPr>
        <p:spPr>
          <a:xfrm>
            <a:off x="4155718" y="2279999"/>
            <a:ext cx="337311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575" name="TextBox 395"/>
          <p:cNvSpPr txBox="1"/>
          <p:nvPr/>
        </p:nvSpPr>
        <p:spPr>
          <a:xfrm>
            <a:off x="2115716" y="398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76" name="TextBox 396"/>
          <p:cNvSpPr txBox="1"/>
          <p:nvPr/>
        </p:nvSpPr>
        <p:spPr>
          <a:xfrm>
            <a:off x="2115718" y="4400000"/>
            <a:ext cx="45465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577" name="TextBox 397"/>
          <p:cNvSpPr txBox="1"/>
          <p:nvPr/>
        </p:nvSpPr>
        <p:spPr>
          <a:xfrm>
            <a:off x="7715718" y="186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78" name="TextBox 398"/>
          <p:cNvSpPr txBox="1"/>
          <p:nvPr/>
        </p:nvSpPr>
        <p:spPr>
          <a:xfrm>
            <a:off x="7715718" y="2279999"/>
            <a:ext cx="362457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579" name="TextBox 399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80" name="TextBox 400"/>
          <p:cNvSpPr txBox="1"/>
          <p:nvPr/>
        </p:nvSpPr>
        <p:spPr>
          <a:xfrm>
            <a:off x="6875719" y="4400000"/>
            <a:ext cx="471423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396;p45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83" name="TextBox 396"/>
          <p:cNvSpPr txBox="1"/>
          <p:nvPr/>
        </p:nvSpPr>
        <p:spPr>
          <a:xfrm>
            <a:off x="565714" y="419998"/>
            <a:ext cx="4408887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Иммутабельность: задача</a:t>
            </a:r>
          </a:p>
        </p:txBody>
      </p:sp>
      <p:sp>
        <p:nvSpPr>
          <p:cNvPr id="584" name="TextBox 397"/>
          <p:cNvSpPr txBox="1"/>
          <p:nvPr/>
        </p:nvSpPr>
        <p:spPr>
          <a:xfrm>
            <a:off x="565719" y="1049998"/>
            <a:ext cx="677130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Обновить одно поле записи без изменения оригинала.</a:t>
            </a:r>
          </a:p>
        </p:txBody>
      </p:sp>
      <p:sp>
        <p:nvSpPr>
          <p:cNvPr id="585" name="TextBox 398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86" name="TextBox 399"/>
          <p:cNvSpPr txBox="1"/>
          <p:nvPr/>
        </p:nvSpPr>
        <p:spPr>
          <a:xfrm>
            <a:off x="655718" y="2279999"/>
            <a:ext cx="337311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</a:t>
            </a:r>
            <a:r>
              <a:rPr>
                <a:solidFill>
                  <a:srgbClr val="1A1A1A"/>
                </a:solidFill>
              </a:rPr>
              <a:t>user = { name: string; age: int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user = { name = "Alice"; age = 30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older = { user with age = 31 }</a:t>
            </a:r>
          </a:p>
        </p:txBody>
      </p:sp>
      <p:sp>
        <p:nvSpPr>
          <p:cNvPr id="587" name="TextBox 400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88" name="TextBox 401"/>
          <p:cNvSpPr txBox="1"/>
          <p:nvPr/>
        </p:nvSpPr>
        <p:spPr>
          <a:xfrm>
            <a:off x="4155718" y="2279999"/>
            <a:ext cx="337311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</a:t>
            </a:r>
            <a:r>
              <a:rPr>
                <a:solidFill>
                  <a:srgbClr val="2C6FA6"/>
                </a:solidFill>
              </a:rPr>
              <a:t>User</a:t>
            </a:r>
            <a:r>
              <a:rPr>
                <a:solidFill>
                  <a:srgbClr val="1A1A1A"/>
                </a:solidFill>
              </a:rPr>
              <a:t>(name: String, age: Int)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user = User("Alice", 30)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older = user.copy(age = 31)</a:t>
            </a:r>
          </a:p>
        </p:txBody>
      </p:sp>
      <p:sp>
        <p:nvSpPr>
          <p:cNvPr id="589" name="TextBox 402"/>
          <p:cNvSpPr txBox="1"/>
          <p:nvPr/>
        </p:nvSpPr>
        <p:spPr>
          <a:xfrm>
            <a:off x="2115716" y="398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90" name="TextBox 403"/>
          <p:cNvSpPr txBox="1"/>
          <p:nvPr/>
        </p:nvSpPr>
        <p:spPr>
          <a:xfrm>
            <a:off x="2115718" y="4400000"/>
            <a:ext cx="45465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591" name="TextBox 404"/>
          <p:cNvSpPr txBox="1"/>
          <p:nvPr/>
        </p:nvSpPr>
        <p:spPr>
          <a:xfrm>
            <a:off x="7715718" y="186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92" name="TextBox 405"/>
          <p:cNvSpPr txBox="1"/>
          <p:nvPr/>
        </p:nvSpPr>
        <p:spPr>
          <a:xfrm>
            <a:off x="7715718" y="2279999"/>
            <a:ext cx="362457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593" name="TextBox 406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94" name="TextBox 407"/>
          <p:cNvSpPr txBox="1"/>
          <p:nvPr/>
        </p:nvSpPr>
        <p:spPr>
          <a:xfrm>
            <a:off x="6875719" y="4400000"/>
            <a:ext cx="471423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403;p4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97" name="TextBox 403"/>
          <p:cNvSpPr txBox="1"/>
          <p:nvPr/>
        </p:nvSpPr>
        <p:spPr>
          <a:xfrm>
            <a:off x="565714" y="419998"/>
            <a:ext cx="4408887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Иммутабельность: задача</a:t>
            </a:r>
          </a:p>
        </p:txBody>
      </p:sp>
      <p:sp>
        <p:nvSpPr>
          <p:cNvPr id="598" name="TextBox 404"/>
          <p:cNvSpPr txBox="1"/>
          <p:nvPr/>
        </p:nvSpPr>
        <p:spPr>
          <a:xfrm>
            <a:off x="565719" y="1049998"/>
            <a:ext cx="677130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Обновить одно поле записи без изменения оригинала.</a:t>
            </a:r>
          </a:p>
        </p:txBody>
      </p:sp>
      <p:sp>
        <p:nvSpPr>
          <p:cNvPr id="599" name="TextBox 405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00" name="TextBox 406"/>
          <p:cNvSpPr txBox="1"/>
          <p:nvPr/>
        </p:nvSpPr>
        <p:spPr>
          <a:xfrm>
            <a:off x="655718" y="2279999"/>
            <a:ext cx="337311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</a:t>
            </a:r>
            <a:r>
              <a:rPr>
                <a:solidFill>
                  <a:srgbClr val="1A1A1A"/>
                </a:solidFill>
              </a:rPr>
              <a:t>user = { name: string; age: int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user = { name = "Alice"; age = 30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older = { user with age = 31 }</a:t>
            </a:r>
          </a:p>
        </p:txBody>
      </p:sp>
      <p:sp>
        <p:nvSpPr>
          <p:cNvPr id="601" name="TextBox 407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02" name="TextBox 408"/>
          <p:cNvSpPr txBox="1"/>
          <p:nvPr/>
        </p:nvSpPr>
        <p:spPr>
          <a:xfrm>
            <a:off x="4155718" y="2279999"/>
            <a:ext cx="337311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</a:t>
            </a:r>
            <a:r>
              <a:rPr>
                <a:solidFill>
                  <a:srgbClr val="2C6FA6"/>
                </a:solidFill>
              </a:rPr>
              <a:t>User</a:t>
            </a:r>
            <a:r>
              <a:rPr>
                <a:solidFill>
                  <a:srgbClr val="1A1A1A"/>
                </a:solidFill>
              </a:rPr>
              <a:t>(name: String, age: Int)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user = User("Alice", 30)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older = user.copy(age = 31)</a:t>
            </a:r>
          </a:p>
        </p:txBody>
      </p:sp>
      <p:sp>
        <p:nvSpPr>
          <p:cNvPr id="603" name="TextBox 409"/>
          <p:cNvSpPr txBox="1"/>
          <p:nvPr/>
        </p:nvSpPr>
        <p:spPr>
          <a:xfrm>
            <a:off x="2115716" y="398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04" name="TextBox 410"/>
          <p:cNvSpPr txBox="1"/>
          <p:nvPr/>
        </p:nvSpPr>
        <p:spPr>
          <a:xfrm>
            <a:off x="2115718" y="4400000"/>
            <a:ext cx="45465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</a:t>
            </a:r>
            <a:r>
              <a:rPr>
                <a:solidFill>
                  <a:srgbClr val="2C6FA6"/>
                </a:solidFill>
              </a:rPr>
              <a:t>User</a:t>
            </a:r>
            <a:r>
              <a:rPr>
                <a:solidFill>
                  <a:srgbClr val="1A1A1A"/>
                </a:solidFill>
              </a:rPr>
              <a:t> { name: String, age: u32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user = User { name: "Alice".into(), age: 30 };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older = User { age: 31, ..user };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</a:t>
            </a:r>
            <a:r>
              <a:rPr>
                <a:solidFill>
                  <a:srgbClr val="1A1A1A"/>
                </a:solidFill>
              </a:rPr>
              <a:t>draft = User { name: "Bob".into(), age: 25 };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05" name="TextBox 411"/>
          <p:cNvSpPr txBox="1"/>
          <p:nvPr/>
        </p:nvSpPr>
        <p:spPr>
          <a:xfrm>
            <a:off x="7715718" y="186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06" name="TextBox 412"/>
          <p:cNvSpPr txBox="1"/>
          <p:nvPr/>
        </p:nvSpPr>
        <p:spPr>
          <a:xfrm>
            <a:off x="7715718" y="2279999"/>
            <a:ext cx="362457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07" name="TextBox 413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08" name="TextBox 414"/>
          <p:cNvSpPr txBox="1"/>
          <p:nvPr/>
        </p:nvSpPr>
        <p:spPr>
          <a:xfrm>
            <a:off x="6875719" y="4400000"/>
            <a:ext cx="471423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410;p47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11" name="TextBox 410"/>
          <p:cNvSpPr txBox="1"/>
          <p:nvPr/>
        </p:nvSpPr>
        <p:spPr>
          <a:xfrm>
            <a:off x="565714" y="419998"/>
            <a:ext cx="4408887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Иммутабельность: задача</a:t>
            </a:r>
          </a:p>
        </p:txBody>
      </p:sp>
      <p:sp>
        <p:nvSpPr>
          <p:cNvPr id="612" name="TextBox 411"/>
          <p:cNvSpPr txBox="1"/>
          <p:nvPr/>
        </p:nvSpPr>
        <p:spPr>
          <a:xfrm>
            <a:off x="565719" y="1049998"/>
            <a:ext cx="677130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Обновить одно поле записи без изменения оригинала.</a:t>
            </a:r>
          </a:p>
        </p:txBody>
      </p:sp>
      <p:sp>
        <p:nvSpPr>
          <p:cNvPr id="613" name="TextBox 412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14" name="TextBox 413"/>
          <p:cNvSpPr txBox="1"/>
          <p:nvPr/>
        </p:nvSpPr>
        <p:spPr>
          <a:xfrm>
            <a:off x="655718" y="2279999"/>
            <a:ext cx="337311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</a:t>
            </a:r>
            <a:r>
              <a:rPr>
                <a:solidFill>
                  <a:srgbClr val="1A1A1A"/>
                </a:solidFill>
              </a:rPr>
              <a:t>user = { name: string; age: int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user = { name = "Alice"; age = 30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older = { user with age = 31 }</a:t>
            </a:r>
          </a:p>
        </p:txBody>
      </p:sp>
      <p:sp>
        <p:nvSpPr>
          <p:cNvPr id="615" name="TextBox 414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16" name="TextBox 415"/>
          <p:cNvSpPr txBox="1"/>
          <p:nvPr/>
        </p:nvSpPr>
        <p:spPr>
          <a:xfrm>
            <a:off x="4155718" y="2279999"/>
            <a:ext cx="337311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</a:t>
            </a:r>
            <a:r>
              <a:rPr>
                <a:solidFill>
                  <a:srgbClr val="2C6FA6"/>
                </a:solidFill>
              </a:rPr>
              <a:t>User</a:t>
            </a:r>
            <a:r>
              <a:rPr>
                <a:solidFill>
                  <a:srgbClr val="1A1A1A"/>
                </a:solidFill>
              </a:rPr>
              <a:t>(name: String, age: Int)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user = User("Alice", 30)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older = user.copy(age = 31)</a:t>
            </a:r>
          </a:p>
        </p:txBody>
      </p:sp>
      <p:sp>
        <p:nvSpPr>
          <p:cNvPr id="617" name="TextBox 416"/>
          <p:cNvSpPr txBox="1"/>
          <p:nvPr/>
        </p:nvSpPr>
        <p:spPr>
          <a:xfrm>
            <a:off x="2115716" y="398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18" name="TextBox 417"/>
          <p:cNvSpPr txBox="1"/>
          <p:nvPr/>
        </p:nvSpPr>
        <p:spPr>
          <a:xfrm>
            <a:off x="2115718" y="4400000"/>
            <a:ext cx="45465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</a:t>
            </a:r>
            <a:r>
              <a:rPr>
                <a:solidFill>
                  <a:srgbClr val="2C6FA6"/>
                </a:solidFill>
              </a:rPr>
              <a:t>User</a:t>
            </a:r>
            <a:r>
              <a:rPr>
                <a:solidFill>
                  <a:srgbClr val="1A1A1A"/>
                </a:solidFill>
              </a:rPr>
              <a:t> { name: String, age: u32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user = User { name: "Alice".into(), age: 30 };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older = User { age: 31, ..user };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</a:t>
            </a:r>
            <a:r>
              <a:rPr>
                <a:solidFill>
                  <a:srgbClr val="1A1A1A"/>
                </a:solidFill>
              </a:rPr>
              <a:t>draft = User { name: "Bob".into(), age: 25 };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19" name="TextBox 418"/>
          <p:cNvSpPr txBox="1"/>
          <p:nvPr/>
        </p:nvSpPr>
        <p:spPr>
          <a:xfrm>
            <a:off x="7715718" y="186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20" name="TextBox 419"/>
          <p:cNvSpPr txBox="1"/>
          <p:nvPr/>
        </p:nvSpPr>
        <p:spPr>
          <a:xfrm>
            <a:off x="7715718" y="2279999"/>
            <a:ext cx="362457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</a:t>
            </a:r>
            <a:r>
              <a:rPr>
                <a:solidFill>
                  <a:srgbClr val="1A1A1A"/>
                </a:solidFill>
              </a:rPr>
              <a:t>dataclasses </a:t>
            </a:r>
            <a:r>
              <a:t>import </a:t>
            </a:r>
            <a:r>
              <a:rPr>
                <a:solidFill>
                  <a:srgbClr val="2C6FA6"/>
                </a:solidFill>
              </a:rPr>
              <a:t>dataclass, replace</a:t>
            </a:r>
            <a:endParaRPr>
              <a:solidFill>
                <a:srgbClr val="2C6FA6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</a:t>
            </a:r>
            <a:r>
              <a:rPr>
                <a:solidFill>
                  <a:srgbClr val="2C6FA6"/>
                </a:solidFill>
              </a:rPr>
              <a:t>User</a:t>
            </a:r>
            <a:r>
              <a:rPr>
                <a:solidFill>
                  <a:srgbClr val="1A1A1A"/>
                </a:solidFill>
              </a:rPr>
              <a:t>: name: str; age: int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21" name="TextBox 420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B8B8B8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22" name="TextBox 421"/>
          <p:cNvSpPr txBox="1"/>
          <p:nvPr/>
        </p:nvSpPr>
        <p:spPr>
          <a:xfrm>
            <a:off x="6875719" y="4400000"/>
            <a:ext cx="471423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defRPr sz="1100">
                <a:solidFill>
                  <a:srgbClr val="B8B8B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417;p48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25" name="TextBox 417"/>
          <p:cNvSpPr txBox="1"/>
          <p:nvPr/>
        </p:nvSpPr>
        <p:spPr>
          <a:xfrm>
            <a:off x="565714" y="419998"/>
            <a:ext cx="4408887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Иммутабельность: задача</a:t>
            </a:r>
          </a:p>
        </p:txBody>
      </p:sp>
      <p:sp>
        <p:nvSpPr>
          <p:cNvPr id="626" name="TextBox 418"/>
          <p:cNvSpPr txBox="1"/>
          <p:nvPr/>
        </p:nvSpPr>
        <p:spPr>
          <a:xfrm>
            <a:off x="565719" y="1049998"/>
            <a:ext cx="677130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Обновить одно поле записи без изменения оригинала.</a:t>
            </a:r>
          </a:p>
        </p:txBody>
      </p:sp>
      <p:sp>
        <p:nvSpPr>
          <p:cNvPr id="627" name="TextBox 419"/>
          <p:cNvSpPr txBox="1"/>
          <p:nvPr/>
        </p:nvSpPr>
        <p:spPr>
          <a:xfrm>
            <a:off x="6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28" name="TextBox 420"/>
          <p:cNvSpPr txBox="1"/>
          <p:nvPr/>
        </p:nvSpPr>
        <p:spPr>
          <a:xfrm>
            <a:off x="655718" y="2279999"/>
            <a:ext cx="337311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</a:t>
            </a:r>
            <a:r>
              <a:rPr>
                <a:solidFill>
                  <a:srgbClr val="1A1A1A"/>
                </a:solidFill>
              </a:rPr>
              <a:t>user = { name: string; age: int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user = { name = "Alice"; age = 30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older = { user with age = 31 }</a:t>
            </a:r>
          </a:p>
        </p:txBody>
      </p:sp>
      <p:sp>
        <p:nvSpPr>
          <p:cNvPr id="629" name="TextBox 421"/>
          <p:cNvSpPr txBox="1"/>
          <p:nvPr/>
        </p:nvSpPr>
        <p:spPr>
          <a:xfrm>
            <a:off x="4155718" y="1860000"/>
            <a:ext cx="71373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30" name="TextBox 422"/>
          <p:cNvSpPr txBox="1"/>
          <p:nvPr/>
        </p:nvSpPr>
        <p:spPr>
          <a:xfrm>
            <a:off x="4155718" y="2279999"/>
            <a:ext cx="337311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</a:t>
            </a:r>
            <a:r>
              <a:rPr>
                <a:solidFill>
                  <a:srgbClr val="2C6FA6"/>
                </a:solidFill>
              </a:rPr>
              <a:t>User</a:t>
            </a:r>
            <a:r>
              <a:rPr>
                <a:solidFill>
                  <a:srgbClr val="1A1A1A"/>
                </a:solidFill>
              </a:rPr>
              <a:t>(name: String, age: Int)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user = User("Alice", 30)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</a:t>
            </a:r>
            <a:r>
              <a:rPr>
                <a:solidFill>
                  <a:srgbClr val="1A1A1A"/>
                </a:solidFill>
              </a:rPr>
              <a:t>older = user.copy(age = 31)</a:t>
            </a:r>
          </a:p>
        </p:txBody>
      </p:sp>
      <p:sp>
        <p:nvSpPr>
          <p:cNvPr id="631" name="TextBox 423"/>
          <p:cNvSpPr txBox="1"/>
          <p:nvPr/>
        </p:nvSpPr>
        <p:spPr>
          <a:xfrm>
            <a:off x="2115716" y="3980000"/>
            <a:ext cx="59181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32" name="TextBox 424"/>
          <p:cNvSpPr txBox="1"/>
          <p:nvPr/>
        </p:nvSpPr>
        <p:spPr>
          <a:xfrm>
            <a:off x="2115718" y="4400000"/>
            <a:ext cx="454659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</a:t>
            </a:r>
            <a:r>
              <a:rPr>
                <a:solidFill>
                  <a:srgbClr val="2C6FA6"/>
                </a:solidFill>
              </a:rPr>
              <a:t>User</a:t>
            </a:r>
            <a:r>
              <a:rPr>
                <a:solidFill>
                  <a:srgbClr val="1A1A1A"/>
                </a:solidFill>
              </a:rPr>
              <a:t> { name: String, age: u32 }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user = User { name: "Alice".into(), age: 30 };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</a:t>
            </a:r>
            <a:r>
              <a:rPr>
                <a:solidFill>
                  <a:srgbClr val="1A1A1A"/>
                </a:solidFill>
              </a:rPr>
              <a:t>older = User { age: 31, ..user };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</a:t>
            </a:r>
            <a:r>
              <a:rPr>
                <a:solidFill>
                  <a:srgbClr val="1A1A1A"/>
                </a:solidFill>
              </a:rPr>
              <a:t>draft = User { name: "Bob".into(), age: 25 };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33" name="TextBox 425"/>
          <p:cNvSpPr txBox="1"/>
          <p:nvPr/>
        </p:nvSpPr>
        <p:spPr>
          <a:xfrm>
            <a:off x="7715718" y="1860000"/>
            <a:ext cx="83565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34" name="TextBox 426"/>
          <p:cNvSpPr txBox="1"/>
          <p:nvPr/>
        </p:nvSpPr>
        <p:spPr>
          <a:xfrm>
            <a:off x="7715718" y="2279999"/>
            <a:ext cx="3624577" cy="1107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</a:t>
            </a:r>
            <a:r>
              <a:rPr>
                <a:solidFill>
                  <a:srgbClr val="1A1A1A"/>
                </a:solidFill>
              </a:rPr>
              <a:t>dataclasses </a:t>
            </a:r>
            <a:r>
              <a:t>import </a:t>
            </a:r>
            <a:r>
              <a:rPr>
                <a:solidFill>
                  <a:srgbClr val="2C6FA6"/>
                </a:solidFill>
              </a:rPr>
              <a:t>dataclass, replace</a:t>
            </a:r>
            <a:endParaRPr>
              <a:solidFill>
                <a:srgbClr val="2C6FA6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</a:t>
            </a:r>
            <a:r>
              <a:rPr>
                <a:solidFill>
                  <a:srgbClr val="2C6FA6"/>
                </a:solidFill>
              </a:rPr>
              <a:t>User</a:t>
            </a:r>
            <a:r>
              <a:rPr>
                <a:solidFill>
                  <a:srgbClr val="1A1A1A"/>
                </a:solidFill>
              </a:rPr>
              <a:t>: name: str; age: int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35" name="TextBox 427"/>
          <p:cNvSpPr txBox="1"/>
          <p:nvPr/>
        </p:nvSpPr>
        <p:spPr>
          <a:xfrm>
            <a:off x="6875719" y="3980000"/>
            <a:ext cx="34797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36" name="TextBox 428"/>
          <p:cNvSpPr txBox="1"/>
          <p:nvPr/>
        </p:nvSpPr>
        <p:spPr>
          <a:xfrm>
            <a:off x="6875719" y="4400000"/>
            <a:ext cx="4714237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</a:t>
            </a:r>
            <a:r>
              <a:rPr>
                <a:solidFill>
                  <a:srgbClr val="1A1A1A"/>
                </a:solidFill>
              </a:rPr>
              <a:t>user = Object.freeze({ name: "Alice", age: 30 });</a:t>
            </a:r>
            <a:endParaRPr>
              <a:solidFill>
                <a:srgbClr val="1A1A1A"/>
              </a:solidFill>
            </a:endParaRPr>
          </a:p>
          <a:p>
            <a:pPr>
              <a:defRPr sz="11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</a:t>
            </a:r>
            <a:r>
              <a:rPr>
                <a:solidFill>
                  <a:srgbClr val="1A1A1A"/>
                </a:solidFill>
              </a:rPr>
              <a:t>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424;p49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39" name="Google Shape;425;p49"/>
          <p:cNvSpPr txBox="1"/>
          <p:nvPr>
            <p:ph type="body" sz="quarter" idx="1"/>
          </p:nvPr>
        </p:nvSpPr>
        <p:spPr>
          <a:xfrm>
            <a:off x="838080" y="299879"/>
            <a:ext cx="10941841" cy="121860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SzTx/>
              <a:buNone/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Итог: пять свойств × пять языков</a:t>
            </a:r>
          </a:p>
        </p:txBody>
      </p:sp>
      <p:graphicFrame>
        <p:nvGraphicFramePr>
          <p:cNvPr id="640" name="Google Shape;426;p49"/>
          <p:cNvGraphicFramePr/>
          <p:nvPr/>
        </p:nvGraphicFramePr>
        <p:xfrm>
          <a:off x="838080" y="1400040"/>
          <a:ext cx="10941178" cy="42984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499925"/>
                <a:gridCol w="1488250"/>
                <a:gridCol w="1488250"/>
                <a:gridCol w="1488250"/>
                <a:gridCol w="1488250"/>
                <a:gridCol w="1488250"/>
              </a:tblGrid>
              <a:tr h="716400">
                <a:tc>
                  <a:txBody>
                    <a:bodyPr/>
                    <a:lstStyle/>
                    <a:p>
                      <a:pPr/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1A1A1A"/>
                          </a:solidFill>
                        </a:rPr>
                        <a:t>OCaml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1A1A1A"/>
                          </a:solidFill>
                        </a:rPr>
                        <a:t>Scala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1A1A1A"/>
                          </a:solidFill>
                        </a:rPr>
                        <a:t>Rust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1A1A1A"/>
                          </a:solidFill>
                        </a:rPr>
                        <a:t>Python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1A1A1A"/>
                          </a:solidFill>
                        </a:rPr>
                        <a:t>JS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716400">
                <a:tc>
                  <a:txBody>
                    <a:bodyPr/>
                    <a:lstStyle/>
                    <a:p>
                      <a:pPr algn="l"/>
                      <a:r>
                        <a:rPr b="1" sz="1700">
                          <a:solidFill>
                            <a:srgbClr val="1A1A1A"/>
                          </a:solidFill>
                        </a:rPr>
                        <a:t>Декларативность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980000"/>
                          </a:solidFill>
                        </a:rPr>
                        <a:t>+++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980000"/>
                          </a:solidFill>
                        </a:rPr>
                        <a:t>+++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980000"/>
                          </a:solidFill>
                        </a:rPr>
                        <a:t>+++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  <a:tr h="716400">
                <a:tc>
                  <a:txBody>
                    <a:bodyPr/>
                    <a:lstStyle/>
                    <a:p>
                      <a:pPr algn="l"/>
                      <a:r>
                        <a:rPr b="1" sz="1700">
                          <a:solidFill>
                            <a:srgbClr val="1A1A1A"/>
                          </a:solidFill>
                        </a:rPr>
                        <a:t>Выражения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980000"/>
                          </a:solidFill>
                        </a:rPr>
                        <a:t>+++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980000"/>
                          </a:solidFill>
                        </a:rPr>
                        <a:t>+++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</a:tr>
              <a:tr h="716400">
                <a:tc>
                  <a:txBody>
                    <a:bodyPr/>
                    <a:lstStyle/>
                    <a:p>
                      <a:pPr algn="l"/>
                      <a:r>
                        <a:rPr b="1" sz="1700">
                          <a:solidFill>
                            <a:srgbClr val="1A1A1A"/>
                          </a:solidFill>
                        </a:rPr>
                        <a:t>Функции как значения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980000"/>
                          </a:solidFill>
                        </a:rPr>
                        <a:t>+++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980000"/>
                          </a:solidFill>
                        </a:rPr>
                        <a:t>+++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980000"/>
                          </a:solidFill>
                        </a:rPr>
                        <a:t>+++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  <a:tr h="716400">
                <a:tc>
                  <a:txBody>
                    <a:bodyPr/>
                    <a:lstStyle/>
                    <a:p>
                      <a:pPr algn="l"/>
                      <a:r>
                        <a:rPr b="1" sz="1700">
                          <a:solidFill>
                            <a:srgbClr val="1A1A1A"/>
                          </a:solidFill>
                        </a:rPr>
                        <a:t>Чистота функций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980000"/>
                          </a:solidFill>
                        </a:rPr>
                        <a:t>+++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</a:tr>
              <a:tr h="716400">
                <a:tc>
                  <a:txBody>
                    <a:bodyPr/>
                    <a:lstStyle/>
                    <a:p>
                      <a:pPr algn="l"/>
                      <a:r>
                        <a:rPr b="1" sz="1700">
                          <a:solidFill>
                            <a:srgbClr val="1A1A1A"/>
                          </a:solidFill>
                        </a:rPr>
                        <a:t>Иммутабельность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980000"/>
                          </a:solidFill>
                        </a:rPr>
                        <a:t>+++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980000"/>
                          </a:solidFill>
                        </a:rPr>
                        <a:t>+++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1A1A1A"/>
                          </a:solidFill>
                        </a:rPr>
                        <a:t>+</a:t>
                      </a:r>
                    </a:p>
                  </a:txBody>
                  <a:tcPr marL="45725" marR="45725" marT="45725" marB="45725" anchor="t" anchorCtr="0" horzOverflow="overflow">
                    <a:lnL w="12225">
                      <a:solidFill>
                        <a:srgbClr val="FFFFFF"/>
                      </a:solidFill>
                    </a:lnL>
                    <a:lnR w="12225">
                      <a:solidFill>
                        <a:srgbClr val="FFFFFF"/>
                      </a:solidFill>
                    </a:lnR>
                    <a:lnT w="12225">
                      <a:solidFill>
                        <a:srgbClr val="FFFFFF"/>
                      </a:solidFill>
                    </a:lnT>
                    <a:lnB w="12225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sp>
        <p:nvSpPr>
          <p:cNvPr id="641" name="Google Shape;427;p49"/>
          <p:cNvSpPr txBox="1"/>
          <p:nvPr/>
        </p:nvSpPr>
        <p:spPr>
          <a:xfrm>
            <a:off x="883079" y="5780158"/>
            <a:ext cx="10851844" cy="2750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b="1" sz="1300">
                <a:solidFill>
                  <a:srgbClr val="555555"/>
                </a:solidFill>
                <a:latin typeface="+mj-lt"/>
                <a:ea typeface="+mj-ea"/>
                <a:cs typeface="+mj-cs"/>
                <a:sym typeface="Arial"/>
              </a:defRPr>
            </a:pPr>
            <a:r>
              <a:t>+++</a:t>
            </a:r>
            <a:r>
              <a:rPr b="0"/>
              <a:t> — в дизайне языка, идиоматично     </a:t>
            </a:r>
            <a:r>
              <a:t>++</a:t>
            </a:r>
            <a:r>
              <a:rPr b="0"/>
              <a:t> — поддерживается, требует дисциплины     </a:t>
            </a:r>
            <a:r>
              <a:t>+</a:t>
            </a:r>
            <a:r>
              <a:rPr b="0"/>
              <a:t> — возможно, но нетипично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432;p50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44" name="Google Shape;433;p50"/>
          <p:cNvSpPr txBox="1"/>
          <p:nvPr>
            <p:ph type="body" sz="quarter" idx="1"/>
          </p:nvPr>
        </p:nvSpPr>
        <p:spPr>
          <a:xfrm>
            <a:off x="838080" y="543959"/>
            <a:ext cx="10941841" cy="12186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SzTx/>
              <a:buNone/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Задание на дом</a:t>
            </a:r>
          </a:p>
        </p:txBody>
      </p:sp>
      <p:sp>
        <p:nvSpPr>
          <p:cNvPr id="645" name="Google Shape;434;p50"/>
          <p:cNvSpPr txBox="1"/>
          <p:nvPr/>
        </p:nvSpPr>
        <p:spPr>
          <a:xfrm>
            <a:off x="883805" y="2170076"/>
            <a:ext cx="10850390" cy="325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 marL="457200" indent="-406400">
              <a:lnSpc>
                <a:spcPct val="90000"/>
              </a:lnSpc>
              <a:buClr>
                <a:srgbClr val="000000"/>
              </a:buClr>
              <a:buSzPts val="2800"/>
              <a:buAutoNum type="arabicPeriod" startAt="1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​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Какие</a:t>
            </a:r>
            <a:r>
              <a:t> из пяти свойств присутствуют в вашем текущем проекте?</a:t>
            </a:r>
          </a:p>
          <a:p>
            <a:pPr marL="457200" indent="-4064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SzPts val="2800"/>
              <a:buAutoNum type="arabicPeriod" startAt="1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Какие из них язык гарантирует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by design</a:t>
            </a:r>
            <a:r>
              <a:t>, а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какие</a:t>
            </a:r>
            <a:r>
              <a:t> — только конвенцией?</a:t>
            </a:r>
          </a:p>
          <a:p>
            <a:pPr marL="457200" indent="-4064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SzPts val="2800"/>
              <a:buAutoNum type="arabicPeriod" startAt="1"/>
              <a:defRPr sz="2800"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Где явная иммутабельность или декларативный стиль снизили бы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когнитивную нагрузку</a:t>
            </a:r>
            <a:r>
              <a:t> в последнем PR?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121;p5"/>
          <p:cNvSpPr txBox="1"/>
          <p:nvPr>
            <p:ph type="title"/>
          </p:nvPr>
        </p:nvSpPr>
        <p:spPr>
          <a:xfrm>
            <a:off x="838080" y="2766240"/>
            <a:ext cx="10514881" cy="1325167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Бонус-трек: ФП в production</a:t>
            </a:r>
          </a:p>
        </p:txBody>
      </p:sp>
      <p:sp>
        <p:nvSpPr>
          <p:cNvPr id="648" name="Google Shape;122;p5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127;p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51" name="Google Shape;128;p6"/>
          <p:cNvSpPr txBox="1"/>
          <p:nvPr>
            <p:ph type="body" sz="quarter" idx="1"/>
          </p:nvPr>
        </p:nvSpPr>
        <p:spPr>
          <a:xfrm>
            <a:off x="838080" y="543959"/>
            <a:ext cx="10941841" cy="12186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SzTx/>
              <a:buNone/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Production: Ruby-стек</a:t>
            </a:r>
          </a:p>
        </p:txBody>
      </p:sp>
      <p:sp>
        <p:nvSpPr>
          <p:cNvPr id="652" name="Google Shape;129;p6"/>
          <p:cNvSpPr txBox="1"/>
          <p:nvPr/>
        </p:nvSpPr>
        <p:spPr>
          <a:xfrm>
            <a:off x="883805" y="2170076"/>
            <a:ext cx="10850390" cy="325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 marL="101600" indent="-50800">
              <a:lnSpc>
                <a:spcPct val="90000"/>
              </a:lnSpc>
              <a:defRPr sz="2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Фреймворк: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Rails</a:t>
            </a:r>
          </a:p>
          <a:p>
            <a:pPr marL="101600" indent="-50800">
              <a:lnSpc>
                <a:spcPct val="90000"/>
              </a:lnSpc>
              <a:defRPr sz="28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dry-types</a:t>
            </a:r>
            <a:r>
              <a:rPr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— Type constructors, Value Objects</a:t>
            </a:r>
          </a:p>
          <a:p>
            <a:pPr marL="101600" indent="-50800">
              <a:lnSpc>
                <a:spcPct val="90000"/>
              </a:lnSpc>
              <a:defRPr sz="28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dry-validation</a:t>
            </a:r>
            <a:r>
              <a:rPr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— Contract DSL</a:t>
            </a:r>
          </a:p>
          <a:p>
            <a:pPr marL="101600" indent="-50800">
              <a:lnSpc>
                <a:spcPct val="90000"/>
              </a:lnSpc>
              <a:defRPr sz="28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dry-monads</a:t>
            </a:r>
            <a:r>
              <a:rPr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— Result, Do-нотация</a:t>
            </a:r>
          </a:p>
          <a:p>
            <a:pPr marL="101600" indent="-50800">
              <a:lnSpc>
                <a:spcPct val="90000"/>
              </a:lnSpc>
              <a:defRPr sz="28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dry-matcher</a:t>
            </a:r>
            <a:r>
              <a:rPr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— Pattern matching на Result</a:t>
            </a:r>
          </a:p>
          <a:p>
            <a:pPr marL="101600" indent="-50800">
              <a:lnSpc>
                <a:spcPct val="90000"/>
              </a:lnSpc>
              <a:defRPr sz="2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</a:p>
          <a:p>
            <a:pPr marL="101600" indent="-50800">
              <a:lnSpc>
                <a:spcPct val="90000"/>
              </a:lnSpc>
              <a:defRPr sz="2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Архитектура: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CQRS + DDD, EventStore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127;p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55" name="Google Shape;128;p6"/>
          <p:cNvSpPr txBox="1"/>
          <p:nvPr>
            <p:ph type="body" sz="quarter" idx="1"/>
          </p:nvPr>
        </p:nvSpPr>
        <p:spPr>
          <a:xfrm>
            <a:off x="565718" y="419998"/>
            <a:ext cx="5654498" cy="519700"/>
          </a:xfrm>
          <a:prstGeom prst="rect">
            <a:avLst/>
          </a:prstGeom>
        </p:spPr>
        <p:txBody>
          <a:bodyPr lIns="45718" tIns="45718" rIns="45718" bIns="45718"/>
          <a:lstStyle>
            <a:lvl1pPr marL="0" indent="0" defTabSz="614407">
              <a:spcBef>
                <a:spcPts val="900"/>
              </a:spcBef>
              <a:buSzTx/>
              <a:buNone/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Event Flow: типовой сценарий</a:t>
            </a:r>
          </a:p>
        </p:txBody>
      </p:sp>
      <p:sp>
        <p:nvSpPr>
          <p:cNvPr id="656" name="Google Shape;129;p6"/>
          <p:cNvSpPr txBox="1"/>
          <p:nvPr/>
        </p:nvSpPr>
        <p:spPr>
          <a:xfrm>
            <a:off x="565715" y="1049998"/>
            <a:ext cx="405708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Actor → Command → Event → Policy</a:t>
            </a:r>
          </a:p>
        </p:txBody>
      </p:sp>
      <p:pic>
        <p:nvPicPr>
          <p:cNvPr id="657" name="Picture 650" descr="Picture 65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65719" y="2391977"/>
            <a:ext cx="11060563" cy="311605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127;p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60" name="Google Shape;128;p6"/>
          <p:cNvSpPr txBox="1"/>
          <p:nvPr>
            <p:ph type="body" sz="quarter" idx="1"/>
          </p:nvPr>
        </p:nvSpPr>
        <p:spPr>
          <a:xfrm>
            <a:off x="565718" y="419998"/>
            <a:ext cx="4408891" cy="459741"/>
          </a:xfrm>
          <a:prstGeom prst="rect">
            <a:avLst/>
          </a:prstGeom>
        </p:spPr>
        <p:txBody>
          <a:bodyPr lIns="45718" tIns="45718" rIns="45718" bIns="45718"/>
          <a:lstStyle>
            <a:lvl1pPr marL="0" indent="0" defTabSz="722830">
              <a:spcBef>
                <a:spcPts val="1100"/>
              </a:spcBef>
              <a:buSzTx/>
              <a:buNone/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ФП → DDD: маппинг</a:t>
            </a:r>
          </a:p>
        </p:txBody>
      </p:sp>
      <p:sp>
        <p:nvSpPr>
          <p:cNvPr id="661" name="Google Shape;129;p6"/>
          <p:cNvSpPr txBox="1"/>
          <p:nvPr/>
        </p:nvSpPr>
        <p:spPr>
          <a:xfrm>
            <a:off x="565715" y="1049998"/>
            <a:ext cx="486139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Пять принципов и их  ddd-воплощения</a:t>
            </a:r>
          </a:p>
        </p:txBody>
      </p:sp>
      <p:sp>
        <p:nvSpPr>
          <p:cNvPr id="662" name="TextBox 661"/>
          <p:cNvSpPr txBox="1"/>
          <p:nvPr/>
        </p:nvSpPr>
        <p:spPr>
          <a:xfrm>
            <a:off x="1085200" y="1777600"/>
            <a:ext cx="202266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2000">
                <a:solidFill>
                  <a:srgbClr val="535353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Принципы ФП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6185198" y="1777600"/>
            <a:ext cx="286343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2000">
                <a:solidFill>
                  <a:srgbClr val="535353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DDD implementation</a:t>
            </a:r>
          </a:p>
        </p:txBody>
      </p:sp>
      <p:sp>
        <p:nvSpPr>
          <p:cNvPr id="664" name="Connector 663"/>
          <p:cNvSpPr/>
          <p:nvPr/>
        </p:nvSpPr>
        <p:spPr>
          <a:xfrm>
            <a:off x="630200" y="2260000"/>
            <a:ext cx="10724045" cy="2"/>
          </a:xfrm>
          <a:prstGeom prst="line">
            <a:avLst/>
          </a:prstGeom>
          <a:ln w="15240">
            <a:solidFill>
              <a:srgbClr val="D9DEE5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65" name="TextBox 664"/>
          <p:cNvSpPr txBox="1"/>
          <p:nvPr/>
        </p:nvSpPr>
        <p:spPr>
          <a:xfrm>
            <a:off x="1085200" y="2508860"/>
            <a:ext cx="290159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1800">
                <a:solidFill>
                  <a:srgbClr val="1A5276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6185198" y="2508860"/>
            <a:ext cx="4324915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1800">
                <a:solidFill>
                  <a:srgbClr val="7D6608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Command: функциональный объект</a:t>
            </a:r>
          </a:p>
        </p:txBody>
      </p:sp>
      <p:sp>
        <p:nvSpPr>
          <p:cNvPr id="667" name="Connector 666"/>
          <p:cNvSpPr/>
          <p:nvPr/>
        </p:nvSpPr>
        <p:spPr>
          <a:xfrm>
            <a:off x="630200" y="3037120"/>
            <a:ext cx="10724045" cy="2"/>
          </a:xfrm>
          <a:prstGeom prst="line">
            <a:avLst/>
          </a:prstGeom>
          <a:ln w="15240">
            <a:solidFill>
              <a:srgbClr val="D9DEE5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68" name="TextBox 667"/>
          <p:cNvSpPr txBox="1"/>
          <p:nvPr/>
        </p:nvSpPr>
        <p:spPr>
          <a:xfrm>
            <a:off x="1085200" y="3285980"/>
            <a:ext cx="218616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1800">
                <a:solidFill>
                  <a:srgbClr val="1A5276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669" name="TextBox 668"/>
          <p:cNvSpPr txBox="1"/>
          <p:nvPr/>
        </p:nvSpPr>
        <p:spPr>
          <a:xfrm>
            <a:off x="6185198" y="3285980"/>
            <a:ext cx="487428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1800">
                <a:solidFill>
                  <a:srgbClr val="7D6608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Command: изолированная операция БЛ</a:t>
            </a:r>
          </a:p>
        </p:txBody>
      </p:sp>
      <p:sp>
        <p:nvSpPr>
          <p:cNvPr id="670" name="Connector 669"/>
          <p:cNvSpPr/>
          <p:nvPr/>
        </p:nvSpPr>
        <p:spPr>
          <a:xfrm>
            <a:off x="630200" y="3814240"/>
            <a:ext cx="10724045" cy="2"/>
          </a:xfrm>
          <a:prstGeom prst="line">
            <a:avLst/>
          </a:prstGeom>
          <a:ln w="15240">
            <a:solidFill>
              <a:srgbClr val="D9DEE5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71" name="TextBox 670"/>
          <p:cNvSpPr txBox="1"/>
          <p:nvPr/>
        </p:nvSpPr>
        <p:spPr>
          <a:xfrm>
            <a:off x="1085200" y="4063100"/>
            <a:ext cx="2268511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1800">
                <a:solidFill>
                  <a:srgbClr val="1A5276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72" name="TextBox 671"/>
          <p:cNvSpPr txBox="1"/>
          <p:nvPr/>
        </p:nvSpPr>
        <p:spPr>
          <a:xfrm>
            <a:off x="6185198" y="4063100"/>
            <a:ext cx="2504606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1800">
                <a:solidFill>
                  <a:srgbClr val="7D6608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иммутабельные DTO</a:t>
            </a:r>
          </a:p>
        </p:txBody>
      </p:sp>
      <p:sp>
        <p:nvSpPr>
          <p:cNvPr id="673" name="Connector 672"/>
          <p:cNvSpPr/>
          <p:nvPr/>
        </p:nvSpPr>
        <p:spPr>
          <a:xfrm>
            <a:off x="630200" y="4591360"/>
            <a:ext cx="10724045" cy="2"/>
          </a:xfrm>
          <a:prstGeom prst="line">
            <a:avLst/>
          </a:prstGeom>
          <a:ln w="15240">
            <a:solidFill>
              <a:srgbClr val="D9DEE5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74" name="TextBox 673"/>
          <p:cNvSpPr txBox="1"/>
          <p:nvPr/>
        </p:nvSpPr>
        <p:spPr>
          <a:xfrm>
            <a:off x="1085200" y="4840220"/>
            <a:ext cx="2210323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1800">
                <a:solidFill>
                  <a:srgbClr val="1A5276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675" name="TextBox 674"/>
          <p:cNvSpPr txBox="1"/>
          <p:nvPr/>
        </p:nvSpPr>
        <p:spPr>
          <a:xfrm>
            <a:off x="6185198" y="4840220"/>
            <a:ext cx="1789843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1800">
                <a:solidFill>
                  <a:srgbClr val="7D6608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монадный DSL</a:t>
            </a:r>
          </a:p>
        </p:txBody>
      </p:sp>
      <p:sp>
        <p:nvSpPr>
          <p:cNvPr id="676" name="Connector 675"/>
          <p:cNvSpPr/>
          <p:nvPr/>
        </p:nvSpPr>
        <p:spPr>
          <a:xfrm>
            <a:off x="630200" y="5368480"/>
            <a:ext cx="10724045" cy="2"/>
          </a:xfrm>
          <a:prstGeom prst="line">
            <a:avLst/>
          </a:prstGeom>
          <a:ln w="15240">
            <a:solidFill>
              <a:srgbClr val="D9DEE5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77" name="TextBox 676"/>
          <p:cNvSpPr txBox="1"/>
          <p:nvPr/>
        </p:nvSpPr>
        <p:spPr>
          <a:xfrm>
            <a:off x="1085200" y="5617340"/>
            <a:ext cx="1490768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1800">
                <a:solidFill>
                  <a:srgbClr val="1A5276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</a:t>
            </a:r>
          </a:p>
        </p:txBody>
      </p:sp>
      <p:sp>
        <p:nvSpPr>
          <p:cNvPr id="678" name="TextBox 677"/>
          <p:cNvSpPr txBox="1"/>
          <p:nvPr/>
        </p:nvSpPr>
        <p:spPr>
          <a:xfrm>
            <a:off x="6185198" y="5617340"/>
            <a:ext cx="1512226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1800">
                <a:solidFill>
                  <a:srgbClr val="7D6608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ROP → Result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127;p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81" name="Google Shape;128;p6"/>
          <p:cNvSpPr txBox="1"/>
          <p:nvPr>
            <p:ph type="body" sz="quarter" idx="1"/>
          </p:nvPr>
        </p:nvSpPr>
        <p:spPr>
          <a:xfrm>
            <a:off x="565715" y="419998"/>
            <a:ext cx="4408901" cy="459741"/>
          </a:xfrm>
          <a:prstGeom prst="rect">
            <a:avLst/>
          </a:prstGeom>
        </p:spPr>
        <p:txBody>
          <a:bodyPr/>
          <a:lstStyle>
            <a:lvl1pPr marL="0" indent="0">
              <a:buSzTx/>
              <a:buNone/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Архитектура команды</a:t>
            </a:r>
          </a:p>
        </p:txBody>
      </p:sp>
      <p:sp>
        <p:nvSpPr>
          <p:cNvPr id="682" name="Google Shape;129;p6"/>
          <p:cNvSpPr txBox="1"/>
          <p:nvPr/>
        </p:nvSpPr>
        <p:spPr>
          <a:xfrm>
            <a:off x="565717" y="1049998"/>
            <a:ext cx="6156775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Controller → Command → EventStore → Async Handler</a:t>
            </a:r>
          </a:p>
        </p:txBody>
      </p:sp>
      <p:pic>
        <p:nvPicPr>
          <p:cNvPr id="683" name="Picture 653" descr="Picture 65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65720" y="2654880"/>
            <a:ext cx="11060560" cy="259024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127;p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86" name="Google Shape;128;p6"/>
          <p:cNvSpPr txBox="1"/>
          <p:nvPr>
            <p:ph type="body" sz="quarter" idx="1"/>
          </p:nvPr>
        </p:nvSpPr>
        <p:spPr>
          <a:xfrm>
            <a:off x="565715" y="419998"/>
            <a:ext cx="4408901" cy="459741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SzTx/>
              <a:buNone/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ROP в команде</a:t>
            </a:r>
          </a:p>
        </p:txBody>
      </p:sp>
      <p:sp>
        <p:nvSpPr>
          <p:cNvPr id="687" name="Google Shape;129;p6"/>
          <p:cNvSpPr txBox="1"/>
          <p:nvPr/>
        </p:nvSpPr>
        <p:spPr>
          <a:xfrm>
            <a:off x="565717" y="1049998"/>
            <a:ext cx="509428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t>Railway-Oriented Programming через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.bind</a:t>
            </a:r>
          </a:p>
        </p:txBody>
      </p:sp>
      <p:sp>
        <p:nvSpPr>
          <p:cNvPr id="688" name="TextBox 129"/>
          <p:cNvSpPr txBox="1"/>
          <p:nvPr/>
        </p:nvSpPr>
        <p:spPr>
          <a:xfrm>
            <a:off x="813765" y="2519579"/>
            <a:ext cx="4569461" cy="2197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  <a:p>
            <a: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Ruby</a:t>
            </a:r>
            <a:endParaRPr>
              <a:solidFill>
                <a:srgbClr val="B8B8B8"/>
              </a:solidFill>
            </a:endParaRPr>
          </a:p>
          <a:p>
            <a:pPr>
              <a:defRPr sz="800">
                <a:latin typeface="+mj-lt"/>
                <a:ea typeface="+mj-ea"/>
                <a:cs typeface="+mj-cs"/>
                <a:sym typeface="Arial"/>
              </a:defRPr>
            </a:pPr>
          </a:p>
          <a:p>
            <a:pPr>
              <a:defRPr sz="13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1A1A1A"/>
                </a:solidFill>
              </a:rPr>
              <a:t> call(raw_input = {})</a:t>
            </a:r>
            <a:endParaRPr>
              <a:solidFill>
                <a:srgbClr val="1A1A1A"/>
              </a:solidFill>
            </a:endParaR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@context_result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C6FA6"/>
                </a:solidFill>
              </a:rPr>
              <a:t>.bind</a:t>
            </a:r>
            <a:r>
              <a:t> { do_validate(raw_input) }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C6FA6"/>
                </a:solidFill>
              </a:rPr>
              <a:t>.bind</a:t>
            </a:r>
            <a:r>
              <a:t> { |input| do_prepare(**input) }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C6FA6"/>
                </a:solidFill>
              </a:rPr>
              <a:t>.bind</a:t>
            </a:r>
            <a:r>
              <a:t> { |input| do_persist!(**input) }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C6FA6"/>
                </a:solidFill>
              </a:rPr>
              <a:t>.bind</a:t>
            </a:r>
            <a:r>
              <a:t> { |result| publish_events!(result) }</a:t>
            </a:r>
          </a:p>
          <a:p>
            <a:pPr>
              <a:defRPr sz="13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127;p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91" name="Google Shape;128;p6"/>
          <p:cNvSpPr txBox="1"/>
          <p:nvPr>
            <p:ph type="body" sz="quarter" idx="1"/>
          </p:nvPr>
        </p:nvSpPr>
        <p:spPr>
          <a:xfrm>
            <a:off x="565715" y="419998"/>
            <a:ext cx="4408901" cy="459741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SzTx/>
              <a:buNone/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Do-нотация</a:t>
            </a:r>
          </a:p>
        </p:txBody>
      </p:sp>
      <p:sp>
        <p:nvSpPr>
          <p:cNvPr id="692" name="Google Shape;129;p6"/>
          <p:cNvSpPr txBox="1"/>
          <p:nvPr/>
        </p:nvSpPr>
        <p:spPr>
          <a:xfrm>
            <a:off x="565717" y="1049998"/>
            <a:ext cx="513026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yield</a:t>
            </a:r>
            <a:r>
              <a:t> разворачивает Result внутри монады</a:t>
            </a:r>
          </a:p>
        </p:txBody>
      </p:sp>
      <p:sp>
        <p:nvSpPr>
          <p:cNvPr id="693" name="TextBox 129"/>
          <p:cNvSpPr txBox="1"/>
          <p:nvPr/>
        </p:nvSpPr>
        <p:spPr>
          <a:xfrm>
            <a:off x="733085" y="2290979"/>
            <a:ext cx="4074161" cy="265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  <a:p>
            <a: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Ruby</a:t>
            </a:r>
            <a:endParaRPr>
              <a:solidFill>
                <a:srgbClr val="B8B8B8"/>
              </a:solidFill>
            </a:endParaRPr>
          </a:p>
          <a:p>
            <a:pPr>
              <a:defRPr sz="800">
                <a:latin typeface="+mj-lt"/>
                <a:ea typeface="+mj-ea"/>
                <a:cs typeface="+mj-cs"/>
                <a:sym typeface="Arial"/>
              </a:defRPr>
            </a:pPr>
          </a:p>
          <a:p>
            <a:pPr>
              <a:defRPr sz="13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include</a:t>
            </a:r>
            <a:r>
              <a:rPr>
                <a:solidFill>
                  <a:srgbClr val="1A1A1A"/>
                </a:solidFill>
              </a:rPr>
              <a:t> </a:t>
            </a:r>
            <a:r>
              <a:rPr>
                <a:solidFill>
                  <a:srgbClr val="2C6FA6"/>
                </a:solidFill>
              </a:rPr>
              <a:t>Dry</a:t>
            </a:r>
            <a:r>
              <a:rPr>
                <a:solidFill>
                  <a:srgbClr val="1A1A1A"/>
                </a:solidFill>
              </a:rPr>
              <a:t>:</a:t>
            </a:r>
            <a:r>
              <a:rPr>
                <a:solidFill>
                  <a:srgbClr val="7F8C8D"/>
                </a:solidFill>
              </a:rPr>
              <a:t>:Monads</a:t>
            </a:r>
            <a:r>
              <a:rPr>
                <a:solidFill>
                  <a:srgbClr val="1A1A1A"/>
                </a:solidFill>
              </a:rPr>
              <a:t>:</a:t>
            </a:r>
            <a:r>
              <a:rPr>
                <a:solidFill>
                  <a:srgbClr val="7F8C8D"/>
                </a:solidFill>
              </a:rPr>
              <a:t>:Do</a:t>
            </a:r>
            <a:r>
              <a:rPr>
                <a:solidFill>
                  <a:srgbClr val="2C6FA6"/>
                </a:solidFill>
              </a:rPr>
              <a:t>.for</a:t>
            </a:r>
            <a:r>
              <a:rPr>
                <a:solidFill>
                  <a:srgbClr val="1A1A1A"/>
                </a:solidFill>
              </a:rPr>
              <a:t>(</a:t>
            </a:r>
            <a:r>
              <a:rPr>
                <a:solidFill>
                  <a:srgbClr val="7F8C8D"/>
                </a:solidFill>
              </a:rPr>
              <a:t>:load_entity</a:t>
            </a:r>
            <a:r>
              <a:rPr>
                <a:solidFill>
                  <a:srgbClr val="1A1A1A"/>
                </a:solidFill>
              </a:rPr>
              <a:t>)</a:t>
            </a:r>
            <a:endParaRPr>
              <a:solidFill>
                <a:srgbClr val="1A1A1A"/>
              </a:solidFill>
            </a:endParaR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3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1A1A1A"/>
                </a:solidFill>
              </a:rPr>
              <a:t> load_entity(id:)</a:t>
            </a:r>
            <a:endParaRPr>
              <a:solidFill>
                <a:srgbClr val="1A1A1A"/>
              </a:solidFill>
            </a:endParaR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owner  = </a:t>
            </a:r>
            <a:r>
              <a:rPr>
                <a:solidFill>
                  <a:srgbClr val="C0392B"/>
                </a:solidFill>
              </a:rPr>
              <a:t>yield</a:t>
            </a:r>
            <a:r>
              <a:t> find_owner(id)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config = </a:t>
            </a:r>
            <a:r>
              <a:rPr>
                <a:solidFill>
                  <a:srgbClr val="C0392B"/>
                </a:solidFill>
              </a:rPr>
              <a:t>yield</a:t>
            </a:r>
            <a:r>
              <a:t> load_config(owner)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state  = </a:t>
            </a:r>
            <a:r>
              <a:rPr>
                <a:solidFill>
                  <a:srgbClr val="C0392B"/>
                </a:solidFill>
              </a:rPr>
              <a:t>yield</a:t>
            </a:r>
            <a:r>
              <a:t> resolve_state(config)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2C6FA6"/>
                </a:solidFill>
              </a:rPr>
              <a:t>Success</a:t>
            </a:r>
            <a:r>
              <a:t>(owner:, config:, state:)</a:t>
            </a:r>
          </a:p>
          <a:p>
            <a:pPr>
              <a:defRPr sz="13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127;p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96" name="Google Shape;128;p6"/>
          <p:cNvSpPr txBox="1"/>
          <p:nvPr>
            <p:ph type="body" sz="quarter" idx="1"/>
          </p:nvPr>
        </p:nvSpPr>
        <p:spPr>
          <a:xfrm>
            <a:off x="565715" y="419998"/>
            <a:ext cx="4408901" cy="459741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SzTx/>
              <a:buNone/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Типовые контракты</a:t>
            </a:r>
          </a:p>
        </p:txBody>
      </p:sp>
      <p:sp>
        <p:nvSpPr>
          <p:cNvPr id="697" name="Google Shape;129;p6"/>
          <p:cNvSpPr txBox="1"/>
          <p:nvPr/>
        </p:nvSpPr>
        <p:spPr>
          <a:xfrm>
            <a:off x="565717" y="1049998"/>
            <a:ext cx="5332745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dry-types</a:t>
            </a:r>
            <a:r>
              <a:t>: конструкторы типов как значения</a:t>
            </a:r>
          </a:p>
        </p:txBody>
      </p:sp>
      <p:sp>
        <p:nvSpPr>
          <p:cNvPr id="698" name="TextBox 129"/>
          <p:cNvSpPr txBox="1"/>
          <p:nvPr/>
        </p:nvSpPr>
        <p:spPr>
          <a:xfrm>
            <a:off x="595839" y="2176679"/>
            <a:ext cx="6649721" cy="288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  <a:p>
            <a: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Ruby</a:t>
            </a:r>
            <a:endParaRPr>
              <a:solidFill>
                <a:srgbClr val="B8B8B8"/>
              </a:solidFill>
            </a:endParaRPr>
          </a:p>
          <a:p>
            <a:pPr>
              <a:defRPr sz="800">
                <a:latin typeface="+mj-lt"/>
                <a:ea typeface="+mj-ea"/>
                <a:cs typeface="+mj-cs"/>
                <a:sym typeface="Arial"/>
              </a:defRPr>
            </a:pPr>
          </a:p>
          <a:p>
            <a:pPr>
              <a:defRPr sz="13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module</a:t>
            </a:r>
            <a:r>
              <a:rPr>
                <a:solidFill>
                  <a:srgbClr val="1A1A1A"/>
                </a:solidFill>
              </a:rPr>
              <a:t> </a:t>
            </a:r>
            <a:r>
              <a:rPr>
                <a:solidFill>
                  <a:srgbClr val="2C6FA6"/>
                </a:solidFill>
              </a:rPr>
              <a:t>DomainTypes</a:t>
            </a:r>
            <a:endParaRPr>
              <a:solidFill>
                <a:srgbClr val="2C6FA6"/>
              </a:solidFill>
            </a:endParaR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2C6FA6"/>
                </a:solidFill>
              </a:rPr>
              <a:t>DownCasedString</a:t>
            </a:r>
            <a:r>
              <a:t> = </a:t>
            </a:r>
            <a:r>
              <a:rPr>
                <a:solidFill>
                  <a:srgbClr val="2C6FA6"/>
                </a:solidFill>
              </a:rPr>
              <a:t>Types</a:t>
            </a:r>
            <a:r>
              <a:t>:</a:t>
            </a:r>
            <a:r>
              <a:rPr>
                <a:solidFill>
                  <a:srgbClr val="7F8C8D"/>
                </a:solidFill>
              </a:rPr>
              <a:t>:String</a:t>
            </a:r>
            <a:r>
              <a:rPr>
                <a:solidFill>
                  <a:srgbClr val="2C6FA6"/>
                </a:solidFill>
              </a:rPr>
              <a:t>.constructor</a:t>
            </a:r>
            <a:r>
              <a:t> { |v| v&amp;</a:t>
            </a:r>
            <a:r>
              <a:rPr>
                <a:solidFill>
                  <a:srgbClr val="2C6FA6"/>
                </a:solidFill>
              </a:rPr>
              <a:t>.downcase</a:t>
            </a:r>
            <a:r>
              <a:t> }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2C6FA6"/>
                </a:solidFill>
              </a:rPr>
              <a:t>Email</a:t>
            </a:r>
            <a:r>
              <a:t> = </a:t>
            </a:r>
            <a:r>
              <a:rPr>
                <a:solidFill>
                  <a:srgbClr val="2C6FA6"/>
                </a:solidFill>
              </a:rPr>
              <a:t>DownCasedString.constrained</a:t>
            </a:r>
            <a:r>
              <a:t>(format: </a:t>
            </a:r>
            <a:r>
              <a:rPr>
                <a:solidFill>
                  <a:srgbClr val="2C6FA6"/>
                </a:solidFill>
              </a:rPr>
              <a:t>EMAIL_REGEXP</a:t>
            </a:r>
            <a:r>
              <a:t>)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2C6FA6"/>
                </a:solidFill>
              </a:rPr>
              <a:t>Uuid</a:t>
            </a:r>
            <a:r>
              <a:t>  = </a:t>
            </a:r>
            <a:r>
              <a:rPr>
                <a:solidFill>
                  <a:srgbClr val="2C6FA6"/>
                </a:solidFill>
              </a:rPr>
              <a:t>StrippedString.constrained</a:t>
            </a:r>
            <a:r>
              <a:t>(format: </a:t>
            </a:r>
            <a:r>
              <a:rPr>
                <a:solidFill>
                  <a:srgbClr val="2C6FA6"/>
                </a:solidFill>
              </a:rPr>
              <a:t>UUID_REGEXP</a:t>
            </a:r>
            <a:r>
              <a:t>)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C0392B"/>
                </a:solidFill>
              </a:rPr>
              <a:t>module</a:t>
            </a:r>
            <a:r>
              <a:t> </a:t>
            </a:r>
            <a:r>
              <a:rPr>
                <a:solidFill>
                  <a:srgbClr val="2C6FA6"/>
                </a:solidFill>
              </a:rPr>
              <a:t>HttpTypes</a:t>
            </a:r>
            <a:endParaRPr>
              <a:solidFill>
                <a:srgbClr val="2C6FA6"/>
              </a:solidFill>
            </a:endParaR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C6FA6"/>
                </a:solidFill>
              </a:rPr>
              <a:t>Method</a:t>
            </a:r>
            <a:r>
              <a:t>     = </a:t>
            </a:r>
            <a:r>
              <a:rPr>
                <a:solidFill>
                  <a:srgbClr val="2C6FA6"/>
                </a:solidFill>
              </a:rPr>
              <a:t>Types</a:t>
            </a:r>
            <a:r>
              <a:t>:</a:t>
            </a:r>
            <a:r>
              <a:rPr>
                <a:solidFill>
                  <a:srgbClr val="7F8C8D"/>
                </a:solidFill>
              </a:rPr>
              <a:t>:String</a:t>
            </a:r>
            <a:r>
              <a:rPr>
                <a:solidFill>
                  <a:srgbClr val="2C6FA6"/>
                </a:solidFill>
              </a:rPr>
              <a:t>.enum</a:t>
            </a:r>
            <a:r>
              <a:t>(*%w[</a:t>
            </a:r>
            <a:r>
              <a:rPr>
                <a:solidFill>
                  <a:srgbClr val="2C6FA6"/>
                </a:solidFill>
              </a:rPr>
              <a:t>GET</a:t>
            </a:r>
            <a:r>
              <a:t> </a:t>
            </a:r>
            <a:r>
              <a:rPr>
                <a:solidFill>
                  <a:srgbClr val="2C6FA6"/>
                </a:solidFill>
              </a:rPr>
              <a:t>POST</a:t>
            </a:r>
            <a:r>
              <a:t> </a:t>
            </a:r>
            <a:r>
              <a:rPr>
                <a:solidFill>
                  <a:srgbClr val="2C6FA6"/>
                </a:solidFill>
              </a:rPr>
              <a:t>PUT</a:t>
            </a:r>
            <a:r>
              <a:t> </a:t>
            </a:r>
            <a:r>
              <a:rPr>
                <a:solidFill>
                  <a:srgbClr val="2C6FA6"/>
                </a:solidFill>
              </a:rPr>
              <a:t>PATCH</a:t>
            </a:r>
            <a:r>
              <a:t> </a:t>
            </a:r>
            <a:r>
              <a:rPr>
                <a:solidFill>
                  <a:srgbClr val="2C6FA6"/>
                </a:solidFill>
              </a:rPr>
              <a:t>DELETE</a:t>
            </a:r>
            <a:r>
              <a:t>])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C6FA6"/>
                </a:solidFill>
              </a:rPr>
              <a:t>SafeMethod</a:t>
            </a:r>
            <a:r>
              <a:t> = </a:t>
            </a:r>
            <a:r>
              <a:rPr>
                <a:solidFill>
                  <a:srgbClr val="2C6FA6"/>
                </a:solidFill>
              </a:rPr>
              <a:t>Types</a:t>
            </a:r>
            <a:r>
              <a:t>:</a:t>
            </a:r>
            <a:r>
              <a:rPr>
                <a:solidFill>
                  <a:srgbClr val="7F8C8D"/>
                </a:solidFill>
              </a:rPr>
              <a:t>:String</a:t>
            </a:r>
            <a:r>
              <a:rPr>
                <a:solidFill>
                  <a:srgbClr val="2C6FA6"/>
                </a:solidFill>
              </a:rPr>
              <a:t>.enum</a:t>
            </a:r>
            <a:r>
              <a:t>(*%w[</a:t>
            </a:r>
            <a:r>
              <a:rPr>
                <a:solidFill>
                  <a:srgbClr val="2C6FA6"/>
                </a:solidFill>
              </a:rPr>
              <a:t>GET</a:t>
            </a:r>
            <a:r>
              <a:t> </a:t>
            </a:r>
            <a:r>
              <a:rPr>
                <a:solidFill>
                  <a:srgbClr val="2C6FA6"/>
                </a:solidFill>
              </a:rPr>
              <a:t>HEAD</a:t>
            </a:r>
            <a:r>
              <a:t> </a:t>
            </a:r>
            <a:r>
              <a:rPr>
                <a:solidFill>
                  <a:srgbClr val="2C6FA6"/>
                </a:solidFill>
              </a:rPr>
              <a:t>OPTIONS</a:t>
            </a:r>
            <a:r>
              <a:t>])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C0392B"/>
                </a:solidFill>
              </a:rPr>
              <a:t>end</a:t>
            </a:r>
            <a:endParaRPr>
              <a:solidFill>
                <a:srgbClr val="C0392B"/>
              </a:solidFill>
            </a:endParaRPr>
          </a:p>
          <a:p>
            <a:pPr>
              <a:defRPr sz="13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127;p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701" name="Google Shape;128;p6"/>
          <p:cNvSpPr txBox="1"/>
          <p:nvPr>
            <p:ph type="body" sz="quarter" idx="1"/>
          </p:nvPr>
        </p:nvSpPr>
        <p:spPr>
          <a:xfrm>
            <a:off x="565715" y="419998"/>
            <a:ext cx="5770832" cy="53137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SzTx/>
              <a:buNone/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Доменные ошибки как значения</a:t>
            </a:r>
          </a:p>
        </p:txBody>
      </p:sp>
      <p:sp>
        <p:nvSpPr>
          <p:cNvPr id="702" name="Google Shape;129;p6"/>
          <p:cNvSpPr txBox="1"/>
          <p:nvPr/>
        </p:nvSpPr>
        <p:spPr>
          <a:xfrm>
            <a:off x="565717" y="1049998"/>
            <a:ext cx="5243146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lvl1pPr>
          </a:lstStyle>
          <a:p>
            <a:pPr/>
            <a:r>
              <a:t>DomainError — иммутабельный value object</a:t>
            </a:r>
          </a:p>
        </p:txBody>
      </p:sp>
      <p:sp>
        <p:nvSpPr>
          <p:cNvPr id="703" name="TextBox 129"/>
          <p:cNvSpPr txBox="1"/>
          <p:nvPr/>
        </p:nvSpPr>
        <p:spPr>
          <a:xfrm>
            <a:off x="770161" y="1944309"/>
            <a:ext cx="5361941" cy="3797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  <a:p>
            <a: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Ruby</a:t>
            </a:r>
            <a:endParaRPr>
              <a:solidFill>
                <a:srgbClr val="B8B8B8"/>
              </a:solidFill>
            </a:endParaRPr>
          </a:p>
          <a:p>
            <a:pPr>
              <a:defRPr sz="800">
                <a:latin typeface="+mj-lt"/>
                <a:ea typeface="+mj-ea"/>
                <a:cs typeface="+mj-cs"/>
                <a:sym typeface="Arial"/>
              </a:defRPr>
            </a:pPr>
          </a:p>
          <a:p>
            <a:pPr>
              <a:defRPr sz="13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1A1A1A"/>
                </a:solidFill>
              </a:rPr>
              <a:t> </a:t>
            </a:r>
            <a:r>
              <a:rPr>
                <a:solidFill>
                  <a:srgbClr val="2C6FA6"/>
                </a:solidFill>
              </a:rPr>
              <a:t>DomainError</a:t>
            </a:r>
            <a:endParaRPr>
              <a:solidFill>
                <a:srgbClr val="2C6FA6"/>
              </a:solidFill>
            </a:endParaR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C0392B"/>
                </a:solidFill>
              </a:rPr>
              <a:t>extend</a:t>
            </a:r>
            <a:r>
              <a:t> </a:t>
            </a:r>
            <a:r>
              <a:rPr>
                <a:solidFill>
                  <a:srgbClr val="2C6FA6"/>
                </a:solidFill>
              </a:rPr>
              <a:t>Dry</a:t>
            </a:r>
            <a:r>
              <a:t>:</a:t>
            </a:r>
            <a:r>
              <a:rPr>
                <a:solidFill>
                  <a:srgbClr val="7F8C8D"/>
                </a:solidFill>
              </a:rPr>
              <a:t>:Initializer</a:t>
            </a:r>
            <a:endParaRPr>
              <a:solidFill>
                <a:srgbClr val="7F8C8D"/>
              </a:solidFill>
            </a:endParaRPr>
          </a:p>
          <a:p>
            <a:pPr>
              <a:defRPr sz="1300">
                <a:solidFill>
                  <a:srgbClr val="7F8C8D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7F8C8D"/>
                </a:solidFill>
              </a:rPr>
              <a:t>:field</a:t>
            </a:r>
            <a:r>
              <a:t>, optional: </a:t>
            </a:r>
            <a:r>
              <a:rPr>
                <a:solidFill>
                  <a:srgbClr val="C0392B"/>
                </a:solidFill>
              </a:rPr>
              <a:t>true</a:t>
            </a:r>
            <a:endParaRPr>
              <a:solidFill>
                <a:srgbClr val="C0392B"/>
              </a:solidFill>
            </a:endParaR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7F8C8D"/>
                </a:solidFill>
              </a:rPr>
              <a:t>:meta</a:t>
            </a:r>
            <a:r>
              <a:t>,  optional: </a:t>
            </a:r>
            <a:r>
              <a:rPr>
                <a:solidFill>
                  <a:srgbClr val="C0392B"/>
                </a:solidFill>
              </a:rPr>
              <a:t>true</a:t>
            </a:r>
            <a:endParaRPr>
              <a:solidFill>
                <a:srgbClr val="C0392B"/>
              </a:solidFill>
            </a:endParaRPr>
          </a:p>
          <a:p>
            <a:pPr>
              <a:defRPr sz="13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C0392B"/>
                </a:solidFill>
              </a:rPr>
              <a:t>def</a:t>
            </a:r>
            <a:r>
              <a:t> to_monad = </a:t>
            </a:r>
            <a:r>
              <a:rPr>
                <a:solidFill>
                  <a:srgbClr val="2C6FA6"/>
                </a:solidFill>
              </a:rPr>
              <a:t>Dry</a:t>
            </a:r>
            <a:r>
              <a:t>:</a:t>
            </a:r>
            <a:r>
              <a:rPr>
                <a:solidFill>
                  <a:srgbClr val="7F8C8D"/>
                </a:solidFill>
              </a:rPr>
              <a:t>:Monads</a:t>
            </a:r>
            <a:r>
              <a:t>:</a:t>
            </a:r>
            <a:r>
              <a:rPr>
                <a:solidFill>
                  <a:srgbClr val="7F8C8D"/>
                </a:solidFill>
              </a:rPr>
              <a:t>:Failure</a:t>
            </a:r>
            <a:r>
              <a:t>(</a:t>
            </a:r>
            <a:r>
              <a:rPr>
                <a:solidFill>
                  <a:srgbClr val="C0392B"/>
                </a:solidFill>
              </a:rPr>
              <a:t>self</a:t>
            </a:r>
            <a:r>
              <a:t>)</a:t>
            </a:r>
          </a:p>
          <a:p>
            <a:pPr>
              <a:defRPr sz="13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300">
                <a:solidFill>
                  <a:srgbClr val="2C6FA6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ExternalApiError</a:t>
            </a:r>
            <a:r>
              <a:rPr>
                <a:solidFill>
                  <a:srgbClr val="1A1A1A"/>
                </a:solidFill>
              </a:rPr>
              <a:t> = </a:t>
            </a:r>
            <a:r>
              <a:t>Class.new</a:t>
            </a:r>
            <a:r>
              <a:rPr>
                <a:solidFill>
                  <a:srgbClr val="1A1A1A"/>
                </a:solidFill>
              </a:rPr>
              <a:t>(</a:t>
            </a:r>
            <a:r>
              <a:t>DomainError</a:t>
            </a:r>
            <a:r>
              <a:rPr>
                <a:solidFill>
                  <a:srgbClr val="1A1A1A"/>
                </a:solidFill>
              </a:rPr>
              <a:t>) </a:t>
            </a:r>
            <a:r>
              <a:rPr>
                <a:solidFill>
                  <a:srgbClr val="C0392B"/>
                </a:solidFill>
              </a:rPr>
              <a:t>do</a:t>
            </a:r>
            <a:endParaRPr>
              <a:solidFill>
                <a:srgbClr val="C0392B"/>
              </a:solidFill>
            </a:endParaR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7F8C8D"/>
                </a:solidFill>
              </a:rPr>
              <a:t>:path</a:t>
            </a:r>
            <a:endParaRPr>
              <a:solidFill>
                <a:srgbClr val="7F8C8D"/>
              </a:solidFill>
            </a:endParaR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7F8C8D"/>
                </a:solidFill>
              </a:rPr>
              <a:t>:error_type</a:t>
            </a:r>
            <a:r>
              <a:t>   </a:t>
            </a:r>
            <a:r>
              <a:rPr>
                <a:solidFill>
                  <a:srgbClr val="95A5A6"/>
                </a:solidFill>
              </a:rPr>
              <a:t># :timeout | :connection_failed</a:t>
            </a:r>
            <a:endParaRPr>
              <a:solidFill>
                <a:srgbClr val="95A5A6"/>
              </a:solidFill>
            </a:endParaR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7F8C8D"/>
                </a:solidFill>
              </a:rPr>
              <a:t>:http_status</a:t>
            </a:r>
            <a:r>
              <a:t>  </a:t>
            </a:r>
            <a:r>
              <a:rPr>
                <a:solidFill>
                  <a:srgbClr val="95A5A6"/>
                </a:solidFill>
              </a:rPr>
              <a:t># 502 | 504</a:t>
            </a:r>
            <a:endParaRPr>
              <a:solidFill>
                <a:srgbClr val="95A5A6"/>
              </a:solidFill>
            </a:endParaRPr>
          </a:p>
          <a:p>
            <a:pPr>
              <a:defRPr sz="13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127;p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706" name="Google Shape;128;p6"/>
          <p:cNvSpPr txBox="1"/>
          <p:nvPr>
            <p:ph type="body" sz="quarter" idx="1"/>
          </p:nvPr>
        </p:nvSpPr>
        <p:spPr>
          <a:xfrm>
            <a:off x="565715" y="419998"/>
            <a:ext cx="4408901" cy="459741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SzTx/>
              <a:buNone/>
              <a:defRPr sz="2400">
                <a:solidFill>
                  <a:srgbClr val="1A1A1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Бизнес-DSL</a:t>
            </a:r>
          </a:p>
        </p:txBody>
      </p:sp>
      <p:sp>
        <p:nvSpPr>
          <p:cNvPr id="707" name="Google Shape;129;p6"/>
          <p:cNvSpPr txBox="1"/>
          <p:nvPr/>
        </p:nvSpPr>
        <p:spPr>
          <a:xfrm>
            <a:off x="565717" y="1049998"/>
            <a:ext cx="6931695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1800"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defRPr>
            </a:pP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DomainFailureMatcher</a:t>
            </a:r>
            <a:r>
              <a:t>: декларативный 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pattern matching</a:t>
            </a:r>
          </a:p>
        </p:txBody>
      </p:sp>
      <p:sp>
        <p:nvSpPr>
          <p:cNvPr id="708" name="TextBox 129"/>
          <p:cNvSpPr txBox="1"/>
          <p:nvPr/>
        </p:nvSpPr>
        <p:spPr>
          <a:xfrm>
            <a:off x="1053414" y="2405279"/>
            <a:ext cx="5956301" cy="2425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  <a:p>
            <a:pPr>
              <a:defRPr sz="1600">
                <a:solidFill>
                  <a:srgbClr val="1A1A1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Ruby</a:t>
            </a:r>
            <a:endParaRPr>
              <a:solidFill>
                <a:srgbClr val="B8B8B8"/>
              </a:solidFill>
            </a:endParaRPr>
          </a:p>
          <a:p>
            <a:pPr>
              <a:defRPr sz="800">
                <a:latin typeface="+mj-lt"/>
                <a:ea typeface="+mj-ea"/>
                <a:cs typeface="+mj-cs"/>
                <a:sym typeface="Arial"/>
              </a:defRPr>
            </a:pPr>
          </a:p>
          <a:p>
            <a:pPr>
              <a:defRPr sz="1300">
                <a:solidFill>
                  <a:srgbClr val="2C6FA6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MATCHER</a:t>
            </a:r>
            <a:r>
              <a:rPr>
                <a:solidFill>
                  <a:srgbClr val="1A1A1A"/>
                </a:solidFill>
              </a:rPr>
              <a:t> = </a:t>
            </a:r>
            <a:r>
              <a:t>DomainFailureMatcher.define_matcher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defRPr sz="1300">
                <a:solidFill>
                  <a:srgbClr val="2C6FA6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MATCHER.call</a:t>
            </a:r>
            <a:r>
              <a:rPr>
                <a:solidFill>
                  <a:srgbClr val="1A1A1A"/>
                </a:solidFill>
              </a:rPr>
              <a:t>(command</a:t>
            </a:r>
            <a:r>
              <a:t>.call</a:t>
            </a:r>
            <a:r>
              <a:rPr>
                <a:solidFill>
                  <a:srgbClr val="1A1A1A"/>
                </a:solidFill>
              </a:rPr>
              <a:t>(params)) </a:t>
            </a:r>
            <a:r>
              <a:rPr>
                <a:solidFill>
                  <a:srgbClr val="C0392B"/>
                </a:solidFill>
              </a:rPr>
              <a:t>do</a:t>
            </a:r>
            <a:r>
              <a:rPr>
                <a:solidFill>
                  <a:srgbClr val="1A1A1A"/>
                </a:solidFill>
              </a:rPr>
              <a:t> |m|</a:t>
            </a:r>
            <a:endParaRPr>
              <a:solidFill>
                <a:srgbClr val="1A1A1A"/>
              </a:solidFill>
            </a:endParaRP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</a:t>
            </a:r>
            <a:r>
              <a:rPr>
                <a:solidFill>
                  <a:srgbClr val="2C6FA6"/>
                </a:solidFill>
              </a:rPr>
              <a:t>.success</a:t>
            </a:r>
            <a:r>
              <a:t>                   { |result| render_ok(result) }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</a:t>
            </a:r>
            <a:r>
              <a:rPr>
                <a:solidFill>
                  <a:srgbClr val="2C6FA6"/>
                </a:solidFill>
              </a:rPr>
              <a:t>.failure</a:t>
            </a:r>
            <a:r>
              <a:t>(</a:t>
            </a:r>
            <a:r>
              <a:rPr>
                <a:solidFill>
                  <a:srgbClr val="2C6FA6"/>
                </a:solidFill>
              </a:rPr>
              <a:t>ExternalApiError</a:t>
            </a:r>
            <a:r>
              <a:t>) { |e| render_proxy_error(e) }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</a:t>
            </a:r>
            <a:r>
              <a:rPr>
                <a:solidFill>
                  <a:srgbClr val="2C6FA6"/>
                </a:solidFill>
              </a:rPr>
              <a:t>.failure</a:t>
            </a:r>
            <a:r>
              <a:t>(</a:t>
            </a:r>
            <a:r>
              <a:rPr>
                <a:solidFill>
                  <a:srgbClr val="2C6FA6"/>
                </a:solidFill>
              </a:rPr>
              <a:t>ContractError</a:t>
            </a:r>
            <a:r>
              <a:t>)    { |e| render_validation(e) }</a:t>
            </a:r>
          </a:p>
          <a:p>
            <a:pPr>
              <a:defRPr sz="1300">
                <a:solidFill>
                  <a:srgbClr val="1A1A1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</a:t>
            </a:r>
            <a:r>
              <a:rPr>
                <a:solidFill>
                  <a:srgbClr val="2C6FA6"/>
                </a:solidFill>
              </a:rPr>
              <a:t>.failure</a:t>
            </a:r>
            <a:r>
              <a:t>                   { |e| render_unexpected(e) }</a:t>
            </a:r>
          </a:p>
          <a:p>
            <a:pPr>
              <a:defRPr sz="1300">
                <a:solidFill>
                  <a:srgbClr val="C0392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127;p6"/>
          <p:cNvSpPr txBox="1"/>
          <p:nvPr>
            <p:ph type="sldNum" sz="quarter" idx="4294967295"/>
          </p:nvPr>
        </p:nvSpPr>
        <p:spPr>
          <a:xfrm>
            <a:off x="10994586" y="6356520"/>
            <a:ext cx="358372" cy="3506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711" name="Google Shape;128;p6"/>
          <p:cNvSpPr txBox="1"/>
          <p:nvPr>
            <p:ph type="body" sz="quarter" idx="1"/>
          </p:nvPr>
        </p:nvSpPr>
        <p:spPr>
          <a:xfrm>
            <a:off x="838080" y="543959"/>
            <a:ext cx="10941841" cy="12186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SzTx/>
              <a:buNone/>
              <a:defRPr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Синтез: пять принципов в production</a:t>
            </a:r>
          </a:p>
        </p:txBody>
      </p:sp>
      <p:sp>
        <p:nvSpPr>
          <p:cNvPr id="712" name="Google Shape;129;p6"/>
          <p:cNvSpPr txBox="1"/>
          <p:nvPr/>
        </p:nvSpPr>
        <p:spPr>
          <a:xfrm>
            <a:off x="883805" y="2170076"/>
            <a:ext cx="10850390" cy="325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 indent="148587">
              <a:spcBef>
                <a:spcPts val="1400"/>
              </a:spcBef>
              <a:defRPr sz="2000">
                <a:solidFill>
                  <a:srgbClr val="2C6FA6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000000"/>
                </a:solidFill>
              </a:rPr>
              <a:t>Декларативность  →  </a:t>
            </a:r>
            <a:r>
              <a:rPr>
                <a:solidFill>
                  <a:srgbClr val="1A1A1A"/>
                </a:solidFill>
              </a:rPr>
              <a:t>Contract </a:t>
            </a:r>
            <a:r>
              <a:rPr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DSL, </a:t>
            </a:r>
            <a:r>
              <a:rPr>
                <a:solidFill>
                  <a:srgbClr val="1A1A1A"/>
                </a:solidFill>
              </a:rPr>
              <a:t>Result </a:t>
            </a:r>
            <a:r>
              <a:rPr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pipeline</a:t>
            </a:r>
          </a:p>
          <a:p>
            <a:pPr indent="148587">
              <a:spcBef>
                <a:spcPts val="1400"/>
              </a:spcBef>
              <a:defRPr sz="2000">
                <a:solidFill>
                  <a:srgbClr val="2C6FA6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000000"/>
                </a:solidFill>
              </a:rPr>
              <a:t>Выражения  →  </a:t>
            </a:r>
            <a:r>
              <a:rPr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Каждый </a:t>
            </a:r>
            <a:r>
              <a:rPr>
                <a:solidFill>
                  <a:srgbClr val="1A1A1A"/>
                </a:solidFill>
              </a:rPr>
              <a:t>.bind</a:t>
            </a:r>
            <a:r>
              <a:rPr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возвращает </a:t>
            </a:r>
            <a:r>
              <a:rPr>
                <a:solidFill>
                  <a:srgbClr val="1A1A1A"/>
                </a:solidFill>
              </a:rPr>
              <a:t>Result</a:t>
            </a:r>
          </a:p>
          <a:p>
            <a:pPr indent="148587">
              <a:spcBef>
                <a:spcPts val="1400"/>
              </a:spcBef>
              <a:defRPr sz="2000">
                <a:solidFill>
                  <a:srgbClr val="2C6FA6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000000"/>
                </a:solidFill>
              </a:rPr>
              <a:t>Функции как значения  →</a:t>
            </a:r>
            <a:r>
              <a:t>  </a:t>
            </a:r>
            <a:r>
              <a:rPr>
                <a:solidFill>
                  <a:srgbClr val="1A1A1A"/>
                </a:solidFill>
              </a:rPr>
              <a:t>.bind</a:t>
            </a:r>
            <a:r>
              <a:rPr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, лямбды в </a:t>
            </a:r>
            <a:r>
              <a:rPr>
                <a:solidFill>
                  <a:srgbClr val="1A1A1A"/>
                </a:solidFill>
              </a:rPr>
              <a:t>DSL</a:t>
            </a:r>
          </a:p>
          <a:p>
            <a:pPr indent="148587">
              <a:spcBef>
                <a:spcPts val="1400"/>
              </a:spcBef>
              <a:defRPr sz="2000">
                <a:solidFill>
                  <a:srgbClr val="2C6FA6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000000"/>
                </a:solidFill>
              </a:rPr>
              <a:t>Чистота функций  →</a:t>
            </a:r>
            <a:r>
              <a:t>  </a:t>
            </a:r>
            <a:r>
              <a:rPr>
                <a:solidFill>
                  <a:srgbClr val="1A1A1A"/>
                </a:solidFill>
              </a:rPr>
              <a:t>Command</a:t>
            </a:r>
            <a:r>
              <a:rPr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без глобального состояния</a:t>
            </a:r>
          </a:p>
          <a:p>
            <a:pPr indent="148587">
              <a:spcBef>
                <a:spcPts val="1400"/>
              </a:spcBef>
              <a:defRPr sz="2000">
                <a:solidFill>
                  <a:srgbClr val="2C6FA6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000000"/>
                </a:solidFill>
              </a:rPr>
              <a:t>Иммутабельность  →  </a:t>
            </a:r>
            <a:r>
              <a:rPr>
                <a:solidFill>
                  <a:srgbClr val="1A1A1A"/>
                </a:solidFill>
              </a:rPr>
              <a:t>Type constructors</a:t>
            </a:r>
            <a:r>
              <a:rPr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, </a:t>
            </a:r>
            <a:r>
              <a:rPr>
                <a:solidFill>
                  <a:srgbClr val="1A1A1A"/>
                </a:solidFill>
              </a:rPr>
              <a:t>DomainError</a:t>
            </a:r>
            <a:r>
              <a:rPr>
                <a:solidFill>
                  <a:srgbClr val="1A1A1A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как value object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439;p51"/>
          <p:cNvSpPr txBox="1"/>
          <p:nvPr/>
        </p:nvSpPr>
        <p:spPr>
          <a:xfrm>
            <a:off x="677025" y="1895949"/>
            <a:ext cx="5151310" cy="7067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90000"/>
              </a:lnSpc>
              <a:defRPr b="1" i="1" sz="4400">
                <a:latin typeface="+mj-lt"/>
                <a:ea typeface="+mj-ea"/>
                <a:cs typeface="+mj-cs"/>
                <a:sym typeface="Arial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715" name="Google Shape;440;p51"/>
          <p:cNvSpPr txBox="1"/>
          <p:nvPr/>
        </p:nvSpPr>
        <p:spPr>
          <a:xfrm>
            <a:off x="677019" y="3346493"/>
            <a:ext cx="5151313" cy="484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90000"/>
              </a:lnSpc>
              <a:defRPr i="1" sz="2800">
                <a:latin typeface="+mj-lt"/>
                <a:ea typeface="+mj-ea"/>
                <a:cs typeface="+mj-cs"/>
                <a:sym typeface="Arial"/>
              </a:defRPr>
            </a:lvl1pPr>
          </a:lstStyle>
          <a:p>
            <a:pPr/>
            <a:r>
              <a:t>Tg: @argent_smith</a:t>
            </a:r>
          </a:p>
        </p:txBody>
      </p:sp>
      <p:sp>
        <p:nvSpPr>
          <p:cNvPr id="716" name="Google Shape;441;p51"/>
          <p:cNvSpPr txBox="1"/>
          <p:nvPr/>
        </p:nvSpPr>
        <p:spPr>
          <a:xfrm>
            <a:off x="677019" y="5693466"/>
            <a:ext cx="5151313" cy="484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90000"/>
              </a:lnSpc>
              <a:defRPr b="1" sz="2800">
                <a:latin typeface="+mj-lt"/>
                <a:ea typeface="+mj-ea"/>
                <a:cs typeface="+mj-cs"/>
                <a:sym typeface="Arial"/>
              </a:defRPr>
            </a:lvl1pPr>
          </a:lstStyle>
          <a:p>
            <a:pPr/>
            <a:r>
              <a:t>2026</a:t>
            </a:r>
          </a:p>
        </p:txBody>
      </p:sp>
      <p:pic>
        <p:nvPicPr>
          <p:cNvPr id="717" name="qr-code (1).pngGoogle Shape;442;p51" descr="qr-code (1).pngGoogle Shape;442;p5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651423" y="3250245"/>
            <a:ext cx="3144333" cy="31443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
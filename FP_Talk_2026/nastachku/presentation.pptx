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12192000"/>
  <p:notesSz cx="7559675" cy="10691800"/>
  <p:embeddedFontLst>
    <p:embeddedFont>
      <p:font typeface="Montserrat"/>
      <p:regular r:id="rId57"/>
      <p:bold r:id="rId58"/>
      <p:italic r:id="rId59"/>
      <p:boldItalic r:id="rId60"/>
    </p:embeddedFont>
    <p:embeddedFont>
      <p:font typeface="JetBrains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gXFI7thKgqTAOK/cQCixN6wUpy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51CCB1-F8CD-4254-B468-538DBF4B1AE9}">
  <a:tblStyle styleId="{0B51CCB1-F8CD-4254-B468-538DBF4B1A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JetBrainsMono-bold.fntdata"/><Relationship Id="rId61" Type="http://schemas.openxmlformats.org/officeDocument/2006/relationships/font" Target="fonts/JetBrainsMono-regular.fntdata"/><Relationship Id="rId20" Type="http://schemas.openxmlformats.org/officeDocument/2006/relationships/slide" Target="slides/slide15.xml"/><Relationship Id="rId64" Type="http://schemas.openxmlformats.org/officeDocument/2006/relationships/font" Target="fonts/JetBrainsMono-boldItalic.fntdata"/><Relationship Id="rId63" Type="http://schemas.openxmlformats.org/officeDocument/2006/relationships/font" Target="fonts/JetBrains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ontserra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_digital marketing" type="blank">
  <p:cSld name="BLANK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53"/>
          <p:cNvSpPr txBox="1"/>
          <p:nvPr>
            <p:ph idx="1" type="body"/>
          </p:nvPr>
        </p:nvSpPr>
        <p:spPr>
          <a:xfrm>
            <a:off x="546120" y="248220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19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53"/>
          <p:cNvSpPr txBox="1"/>
          <p:nvPr>
            <p:ph idx="2" type="body"/>
          </p:nvPr>
        </p:nvSpPr>
        <p:spPr>
          <a:xfrm>
            <a:off x="546120" y="329544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6860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68604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8604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8604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53"/>
          <p:cNvSpPr txBox="1"/>
          <p:nvPr>
            <p:ph idx="3" type="body"/>
          </p:nvPr>
        </p:nvSpPr>
        <p:spPr>
          <a:xfrm>
            <a:off x="546120" y="4108320"/>
            <a:ext cx="4857120" cy="166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81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−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433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81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−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4329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4329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4329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53"/>
          <p:cNvSpPr txBox="1"/>
          <p:nvPr>
            <p:ph idx="4" type="body"/>
          </p:nvPr>
        </p:nvSpPr>
        <p:spPr>
          <a:xfrm>
            <a:off x="546120" y="288864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6860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68604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8604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8604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53"/>
          <p:cNvSpPr/>
          <p:nvPr/>
        </p:nvSpPr>
        <p:spPr>
          <a:xfrm>
            <a:off x="257040" y="243000"/>
            <a:ext cx="8190360" cy="6328800"/>
          </a:xfrm>
          <a:custGeom>
            <a:rect b="b" l="l" r="r" t="t"/>
            <a:pathLst>
              <a:path extrusionOk="0" h="6329362" w="9626703">
                <a:moveTo>
                  <a:pt x="0" y="218426"/>
                </a:moveTo>
                <a:cubicBezTo>
                  <a:pt x="0" y="97793"/>
                  <a:pt x="97793" y="0"/>
                  <a:pt x="218426" y="0"/>
                </a:cubicBezTo>
                <a:lnTo>
                  <a:pt x="9453418" y="27501"/>
                </a:lnTo>
                <a:cubicBezTo>
                  <a:pt x="9574051" y="27501"/>
                  <a:pt x="9677451" y="149575"/>
                  <a:pt x="9599836" y="310848"/>
                </a:cubicBezTo>
                <a:lnTo>
                  <a:pt x="7233444" y="6110936"/>
                </a:lnTo>
                <a:cubicBezTo>
                  <a:pt x="7168705" y="6281145"/>
                  <a:pt x="7135651" y="6329362"/>
                  <a:pt x="7015018" y="6329362"/>
                </a:cubicBezTo>
                <a:lnTo>
                  <a:pt x="218426" y="6329362"/>
                </a:lnTo>
                <a:cubicBezTo>
                  <a:pt x="97793" y="6329362"/>
                  <a:pt x="0" y="6231569"/>
                  <a:pt x="0" y="6110936"/>
                </a:cubicBezTo>
                <a:lnTo>
                  <a:pt x="0" y="218426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3"/>
          <p:cNvSpPr/>
          <p:nvPr/>
        </p:nvSpPr>
        <p:spPr>
          <a:xfrm rot="10800000">
            <a:off x="14758920" y="286200"/>
            <a:ext cx="5006880" cy="6328800"/>
          </a:xfrm>
          <a:custGeom>
            <a:rect b="b" l="l" r="r" t="t"/>
            <a:pathLst>
              <a:path extrusionOk="0" h="6329362" w="9609213">
                <a:moveTo>
                  <a:pt x="0" y="218426"/>
                </a:moveTo>
                <a:cubicBezTo>
                  <a:pt x="0" y="97793"/>
                  <a:pt x="97793" y="0"/>
                  <a:pt x="218426" y="0"/>
                </a:cubicBezTo>
                <a:lnTo>
                  <a:pt x="9453418" y="27501"/>
                </a:lnTo>
                <a:cubicBezTo>
                  <a:pt x="9574051" y="27501"/>
                  <a:pt x="9656582" y="114064"/>
                  <a:pt x="9578967" y="275337"/>
                </a:cubicBezTo>
                <a:lnTo>
                  <a:pt x="5771228" y="6068264"/>
                </a:lnTo>
                <a:cubicBezTo>
                  <a:pt x="5665948" y="6237665"/>
                  <a:pt x="5486270" y="6304978"/>
                  <a:pt x="5365637" y="6304978"/>
                </a:cubicBezTo>
                <a:lnTo>
                  <a:pt x="218426" y="6329362"/>
                </a:lnTo>
                <a:cubicBezTo>
                  <a:pt x="97793" y="6329362"/>
                  <a:pt x="0" y="6231569"/>
                  <a:pt x="0" y="6110936"/>
                </a:cubicBezTo>
                <a:lnTo>
                  <a:pt x="0" y="218426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53"/>
          <p:cNvSpPr txBox="1"/>
          <p:nvPr>
            <p:ph idx="5" type="body"/>
          </p:nvPr>
        </p:nvSpPr>
        <p:spPr>
          <a:xfrm>
            <a:off x="6658920" y="250200"/>
            <a:ext cx="5192640" cy="63212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14" name="Google Shape;14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6120" y="699480"/>
            <a:ext cx="3524040" cy="385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53"/>
          <p:cNvSpPr txBox="1"/>
          <p:nvPr>
            <p:ph idx="6" type="body"/>
          </p:nvPr>
        </p:nvSpPr>
        <p:spPr>
          <a:xfrm>
            <a:off x="546120" y="1261440"/>
            <a:ext cx="372816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7432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19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53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пикере">
  <p:cSld name="о спикере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3341400">
            <a:off x="-5028840" y="-1390680"/>
            <a:ext cx="12016440" cy="11230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5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54"/>
          <p:cNvSpPr txBox="1"/>
          <p:nvPr>
            <p:ph idx="1" type="body"/>
          </p:nvPr>
        </p:nvSpPr>
        <p:spPr>
          <a:xfrm>
            <a:off x="831600" y="1387800"/>
            <a:ext cx="3885480" cy="364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54"/>
          <p:cNvSpPr txBox="1"/>
          <p:nvPr>
            <p:ph type="title"/>
          </p:nvPr>
        </p:nvSpPr>
        <p:spPr>
          <a:xfrm>
            <a:off x="6656400" y="1138320"/>
            <a:ext cx="469692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54"/>
          <p:cNvSpPr txBox="1"/>
          <p:nvPr>
            <p:ph idx="2" type="body"/>
          </p:nvPr>
        </p:nvSpPr>
        <p:spPr>
          <a:xfrm>
            <a:off x="6656400" y="2776680"/>
            <a:ext cx="469692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79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23" name="Google Shape;2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5"/>
          <p:cNvSpPr txBox="1"/>
          <p:nvPr>
            <p:ph type="title"/>
          </p:nvPr>
        </p:nvSpPr>
        <p:spPr>
          <a:xfrm>
            <a:off x="6656400" y="1138320"/>
            <a:ext cx="469692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5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55"/>
          <p:cNvSpPr txBox="1"/>
          <p:nvPr>
            <p:ph idx="1" type="body"/>
          </p:nvPr>
        </p:nvSpPr>
        <p:spPr>
          <a:xfrm>
            <a:off x="6656400" y="2776680"/>
            <a:ext cx="469692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79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28" name="Google Shape;2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-3450600" y="-3008160"/>
            <a:ext cx="9869040" cy="922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/>
          <p:nvPr>
            <p:ph type="title"/>
          </p:nvPr>
        </p:nvSpPr>
        <p:spPr>
          <a:xfrm>
            <a:off x="838080" y="27662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5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" name="Google Shape;3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6"/>
          <p:cNvSpPr txBox="1"/>
          <p:nvPr>
            <p:ph idx="1"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7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5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57"/>
          <p:cNvSpPr txBox="1"/>
          <p:nvPr>
            <p:ph idx="2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39" name="Google Shape;3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7"/>
          <p:cNvSpPr txBox="1"/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8"/>
          <p:cNvSpPr txBox="1"/>
          <p:nvPr>
            <p:ph idx="1" type="body"/>
          </p:nvPr>
        </p:nvSpPr>
        <p:spPr>
          <a:xfrm>
            <a:off x="623880" y="52308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лавная мысль, разделитель">
  <p:cSld name="главная мысль, разделитель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/>
          <p:nvPr>
            <p:ph type="title"/>
          </p:nvPr>
        </p:nvSpPr>
        <p:spPr>
          <a:xfrm>
            <a:off x="838080" y="27662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5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" name="Google Shape;4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инка + текст + рупоры">
  <p:cSld name="Картинка + текст + рупоры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0"/>
          <p:cNvSpPr txBox="1"/>
          <p:nvPr>
            <p:ph type="title"/>
          </p:nvPr>
        </p:nvSpPr>
        <p:spPr>
          <a:xfrm>
            <a:off x="838080" y="365040"/>
            <a:ext cx="708516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49" name="Google Shape;4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22440" y="1847520"/>
            <a:ext cx="13776120" cy="1287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5833080" y="-2120400"/>
            <a:ext cx="13776120" cy="1287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0"/>
          <p:cNvSpPr txBox="1"/>
          <p:nvPr>
            <p:ph idx="1" type="body"/>
          </p:nvPr>
        </p:nvSpPr>
        <p:spPr>
          <a:xfrm>
            <a:off x="838080" y="3740400"/>
            <a:ext cx="437112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60"/>
          <p:cNvSpPr txBox="1"/>
          <p:nvPr>
            <p:ph idx="2" type="body"/>
          </p:nvPr>
        </p:nvSpPr>
        <p:spPr>
          <a:xfrm>
            <a:off x="7924320" y="2017800"/>
            <a:ext cx="3429000" cy="37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800"/>
              <a:buFont typeface="Arial"/>
              <a:buNone/>
              <a:defRPr b="0" sz="1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инка + текст">
  <p:cSld name="Картинка + текст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61"/>
          <p:cNvSpPr txBox="1"/>
          <p:nvPr>
            <p:ph idx="1" type="body"/>
          </p:nvPr>
        </p:nvSpPr>
        <p:spPr>
          <a:xfrm>
            <a:off x="838080" y="495360"/>
            <a:ext cx="5542920" cy="554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61"/>
          <p:cNvSpPr txBox="1"/>
          <p:nvPr>
            <p:ph type="title"/>
          </p:nvPr>
        </p:nvSpPr>
        <p:spPr>
          <a:xfrm>
            <a:off x="6656400" y="495360"/>
            <a:ext cx="469692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61"/>
          <p:cNvSpPr txBox="1"/>
          <p:nvPr>
            <p:ph idx="2" type="body"/>
          </p:nvPr>
        </p:nvSpPr>
        <p:spPr>
          <a:xfrm>
            <a:off x="6656400" y="2172240"/>
            <a:ext cx="469692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79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60" name="Google Shape;60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много картинок">
  <p:cSld name="Заголовок + много картинок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2"/>
          <p:cNvSpPr txBox="1"/>
          <p:nvPr>
            <p:ph idx="1" type="body"/>
          </p:nvPr>
        </p:nvSpPr>
        <p:spPr>
          <a:xfrm>
            <a:off x="623880" y="1741320"/>
            <a:ext cx="264096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6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62"/>
          <p:cNvSpPr txBox="1"/>
          <p:nvPr>
            <p:ph idx="2" type="body"/>
          </p:nvPr>
        </p:nvSpPr>
        <p:spPr>
          <a:xfrm>
            <a:off x="623880" y="523080"/>
            <a:ext cx="1072908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62"/>
          <p:cNvSpPr txBox="1"/>
          <p:nvPr>
            <p:ph idx="3" type="body"/>
          </p:nvPr>
        </p:nvSpPr>
        <p:spPr>
          <a:xfrm>
            <a:off x="3453480" y="1741320"/>
            <a:ext cx="264096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62"/>
          <p:cNvSpPr txBox="1"/>
          <p:nvPr>
            <p:ph idx="4" type="body"/>
          </p:nvPr>
        </p:nvSpPr>
        <p:spPr>
          <a:xfrm>
            <a:off x="6283440" y="1741320"/>
            <a:ext cx="264096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62"/>
          <p:cNvSpPr txBox="1"/>
          <p:nvPr>
            <p:ph idx="5" type="body"/>
          </p:nvPr>
        </p:nvSpPr>
        <p:spPr>
          <a:xfrm>
            <a:off x="9113040" y="1741320"/>
            <a:ext cx="2640960" cy="3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8003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0035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0035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0035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68" name="Google Shape;6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блока текста (без элементов)">
  <p:cSld name="Заголовок + 2 блока текста (без элементов)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3"/>
          <p:cNvSpPr txBox="1"/>
          <p:nvPr>
            <p:ph idx="1" type="body"/>
          </p:nvPr>
        </p:nvSpPr>
        <p:spPr>
          <a:xfrm>
            <a:off x="623880" y="52308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63"/>
          <p:cNvSpPr txBox="1"/>
          <p:nvPr>
            <p:ph idx="2" type="body"/>
          </p:nvPr>
        </p:nvSpPr>
        <p:spPr>
          <a:xfrm>
            <a:off x="623880" y="2170080"/>
            <a:ext cx="5069520" cy="31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63"/>
          <p:cNvSpPr txBox="1"/>
          <p:nvPr>
            <p:ph idx="3" type="body"/>
          </p:nvPr>
        </p:nvSpPr>
        <p:spPr>
          <a:xfrm>
            <a:off x="6496200" y="2170080"/>
            <a:ext cx="5069520" cy="31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861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74" name="Google Shape;7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4"/>
          <p:cNvSpPr txBox="1"/>
          <p:nvPr>
            <p:ph type="title"/>
          </p:nvPr>
        </p:nvSpPr>
        <p:spPr>
          <a:xfrm>
            <a:off x="1263960" y="1386720"/>
            <a:ext cx="469692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6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  <a:defRPr b="0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838800" y="1070640"/>
            <a:ext cx="5830920" cy="47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4"/>
          <p:cNvSpPr txBox="1"/>
          <p:nvPr>
            <p:ph idx="1" type="body"/>
          </p:nvPr>
        </p:nvSpPr>
        <p:spPr>
          <a:xfrm>
            <a:off x="6907320" y="1069920"/>
            <a:ext cx="4446000" cy="471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79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79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79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80" name="Google Shape;8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 (для контактов)">
  <p:cSld name="пустой слайд (для контактов)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80" y="6356520"/>
            <a:ext cx="1750320" cy="19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hyperlink" Target="http://evrone.ru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idx="1" type="body"/>
          </p:nvPr>
        </p:nvSpPr>
        <p:spPr>
          <a:xfrm>
            <a:off x="575280" y="479412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"/>
              <a:buNone/>
            </a:pPr>
            <a:r>
              <a:rPr b="1" lang="ru-RU" sz="16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Павел Аргентов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>
            <p:ph idx="1" type="body"/>
          </p:nvPr>
        </p:nvSpPr>
        <p:spPr>
          <a:xfrm>
            <a:off x="575280" y="560736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None/>
            </a:pPr>
            <a:r>
              <a:rPr b="0" lang="ru-RU" sz="1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FP Guru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575280" y="1680840"/>
            <a:ext cx="4863960" cy="131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r>
              <a:rPr b="1" lang="ru-RU" sz="35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Древняя магия каждый день</a:t>
            </a:r>
            <a:endParaRPr b="0" sz="3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575280" y="520056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None/>
            </a:pPr>
            <a:r>
              <a:rPr b="0" lang="ru-RU" sz="1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Evrone.ru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040" y="531000"/>
            <a:ext cx="1741320" cy="1741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1" type="body"/>
          </p:nvPr>
        </p:nvSpPr>
        <p:spPr>
          <a:xfrm>
            <a:off x="575280" y="2997000"/>
            <a:ext cx="5126040" cy="86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10"/>
              <a:buNone/>
            </a:pPr>
            <a:r>
              <a:rPr b="0" lang="ru-RU" sz="1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Пять принципов FP в пяти языках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8722080" y="6296760"/>
            <a:ext cx="3300480" cy="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None/>
            </a:pPr>
            <a:r>
              <a:rPr b="1" lang="ru-RU" sz="1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00" y="1440000"/>
            <a:ext cx="3419640" cy="34196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>
            <p:ph type="title"/>
          </p:nvPr>
        </p:nvSpPr>
        <p:spPr>
          <a:xfrm>
            <a:off x="6656400" y="1138320"/>
            <a:ext cx="469656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Павел Аргентов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6656400" y="2776680"/>
            <a:ext cx="4696560" cy="251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b="0" lang="ru-RU" sz="2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много опыта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b="0" lang="ru-RU" sz="2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разрабатывал всё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b="0" lang="ru-RU" sz="2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FP с 2002 г.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80"/>
              <a:buNone/>
            </a:pPr>
            <a:r>
              <a:rPr b="1" lang="ru-RU" sz="2400" strike="noStrike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Evrone.ru</a:t>
            </a:r>
            <a:r>
              <a:rPr b="1" lang="ru-RU" sz="2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lang="ru-RU" sz="2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разработка разработчиков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6095880" y="270720"/>
            <a:ext cx="5817960" cy="155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ФП:</a:t>
            </a:r>
            <a:r>
              <a:rPr b="0" i="0" lang="ru-RU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пять ĸонĸретных свойств ĸода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Смысл:</a:t>
            </a:r>
            <a:r>
              <a:rPr b="0" i="0" lang="ru-RU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описание результата, а не миĸроменеджмент процесса.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5401080" y="3910320"/>
            <a:ext cx="6512760" cy="23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[1,2,3].map(x =&gt; x * 2)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add = x =&gt; y =&gt; x + 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x = 1; x = 2 // TypeError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80000" y="1620000"/>
            <a:ext cx="502344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3600" u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(λx.M) N</a:t>
            </a:r>
            <a:r>
              <a:rPr b="1" lang="ru-RU" sz="3600" u="none" strike="noStrike">
                <a:solidFill>
                  <a:srgbClr val="C0392B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b="1" lang="ru-RU" sz="3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b="0" lang="ru-RU" sz="360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β</a:t>
            </a:r>
            <a:r>
              <a:rPr b="0" lang="ru-RU" sz="3600" u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 M[x := N]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458640" y="497520"/>
            <a:ext cx="379512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b="0" lang="ru-RU" sz="4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Пять языков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6" name="Google Shape;116;p4"/>
          <p:cNvGraphicFramePr/>
          <p:nvPr/>
        </p:nvGraphicFramePr>
        <p:xfrm>
          <a:off x="6656400" y="1446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{0B51CCB1-F8CD-4254-B468-538DBF4B1AE9}</a:tableStyleId>
              </a:tblPr>
              <a:tblGrid>
                <a:gridCol w="2189525"/>
                <a:gridCol w="2664725"/>
              </a:tblGrid>
              <a:tr h="60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OCaml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язык богов (тм)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Scala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почти OCaml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Python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язык МНС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JS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вездесущ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Rust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2400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всемогущ</a:t>
                      </a:r>
                      <a:endParaRPr b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075" marB="91075" marR="91075" marL="9107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38080" y="2766240"/>
            <a:ext cx="10514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b="1" lang="ru-RU" sz="4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Императивный код — микроменеджмент.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Деĸларативный ĸод — спецификация. 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… WHERE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vs </a:t>
            </a:r>
            <a:r>
              <a:rPr b="0" lang="ru-RU" sz="2800" u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… in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… end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vs </a:t>
            </a:r>
            <a:r>
              <a:rPr b="0" lang="ru-RU" sz="2800" u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list.map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Людям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понятность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Машинам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законы оптимизации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для работы понадобится все остальные свойства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FP</a:t>
            </a:r>
            <a:endParaRPr b="1" sz="2800" u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Декларативность: задача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Сумма скидок для заказов дороже 100, скидка 10%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Декларативность: OCaml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838080" y="176292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total_discount orders =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orders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|&gt;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filter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 -&gt; o.price 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100.0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|&gt;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 -&gt; o.price *.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|&gt;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fold_left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 +. )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Декларативность: Scala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838080" y="176292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totalDiscount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(orders: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orders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filter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(_.price 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100.0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(_.price *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.sum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1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Декларативность: Rust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838080" y="176292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total_discount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(orders: &amp;[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 -&gt; f64 {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orders.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filter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(|o| o.price 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100.0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(|o| o.price *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Декларативность: Python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838080" y="176292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ru-RU" sz="22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2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total_discount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(orders):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90"/>
              <a:buNone/>
            </a:pP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2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2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(o.price * </a:t>
            </a:r>
            <a:r>
              <a:rPr b="0" lang="ru-RU" sz="22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2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 </a:t>
            </a:r>
            <a:r>
              <a:rPr b="0" lang="ru-RU" sz="22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orders </a:t>
            </a:r>
            <a:r>
              <a:rPr b="0" lang="ru-RU" sz="22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o.price &gt; </a:t>
            </a:r>
            <a:r>
              <a:rPr b="0" lang="ru-RU" sz="22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100.0</a:t>
            </a:r>
            <a:r>
              <a:rPr b="0" lang="ru-RU" sz="22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Декларативность: JS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838080" y="176292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totalDiscount = (orders) =&gt;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orders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filter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((o) =&gt; o.price 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((o) =&gt; o.price *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reduce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((acc, d) =&gt; acc + d,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838080" y="2766240"/>
            <a:ext cx="10514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b="1" lang="ru-RU" sz="4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Инструкции производят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эффект</a:t>
            </a:r>
            <a:endParaRPr b="1" sz="2800" u="none" strike="noStrike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вычисляются в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значения</a:t>
            </a:r>
            <a:endParaRPr b="1" sz="2800" u="none" strike="noStrike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Значения можно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компоновать</a:t>
            </a:r>
            <a:endParaRPr b="1" sz="2800" u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6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инструкций: задача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Классификация числа — вернуть метку без промежуточной переменной.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инструкций: OCaml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classify n =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 n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&lt;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"negative"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-&gt;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"zero"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 _            -&gt;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"positive"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label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(-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|&gt;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.uppercase_ascii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8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инструкций: Scala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n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&lt;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"negative"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=&gt;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"zero"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_          =&gt;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"positive"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}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label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(-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).toUpperCase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инструкций: Rust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(n: i32) -&gt; &amp;'static str {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match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{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n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&lt;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"negative"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=&gt;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"zero"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_          =&gt;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"positive"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label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(-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to_uppercase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инструкций: Python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(n: int) -&gt; str: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"negative"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&lt;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"zero"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==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"positive"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(-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upper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match n: ... → match — инструкция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Выражения вместо инструкций: JS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classify = (n) =&gt;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n &lt;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?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"negative"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: n ===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?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"zero"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: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"positive"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label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(-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toUpperCase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if (...) {} → инструкция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838080" y="2766240"/>
            <a:ext cx="10514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b="1" lang="ru-RU" sz="4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3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Функция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first-class value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передаётся аргументом, связывается с переменной, возвращается из функции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HOF — принимает или возвращает функцию:</a:t>
            </a:r>
            <a:br>
              <a:rPr lang="ru-RU" sz="2800"/>
            </a:b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map, filter, fold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Замыкание — захват лексического окружения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Каррирование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f(a, b) → f(a)(b)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4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задача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умножитель с коэффициентом и применить к списку.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5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OCaml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каррирование по умолчанию *)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multiply factor x = x * factor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triple = multiply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замыкание *)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make_adder base =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x -&gt; base + x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add10 = make_adder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HOF *)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result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.map triple [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Scala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каррирование (multiple param lists)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multiply(factor: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)(x: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= factor * x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triple: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=&gt;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multiply(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замыкание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base =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addBase: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=&gt;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x =&gt; x + base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HOF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result = </a:t>
            </a: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).map(triple)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7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Rust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auto_curry::curry;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#[curry] — процедурный макрос, каррирует функцию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#[curry]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multiply(factor: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x: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factor * x 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triple: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multiply(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8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Rust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triple — multiply, каррированный по factor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add_base — замыкание: base захвачен из окружения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base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add_base: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move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|x| x + base;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HOF: map принимает функцию аргументом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result: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Vec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=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vec![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].into_iter().map(triple).collect();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Python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functools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partial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multiply(factor, x):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factor * x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triple = partial(multiply,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 </a:t>
            </a: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каррирование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HOF: map принимает функцию аргументом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 = list(map(triple, [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[3, 6, 9, 12, 15]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30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Python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0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result = list(map(triple, [1, 2, 3, 4, 5]))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декоратор = HOF: fn → fn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logged(fn):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wrapper(*a):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fn(*a)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wrapper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@logged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triple2(x): </a:t>
            </a:r>
            <a:r>
              <a:rPr b="0" lang="ru-RU" sz="28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8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x * </a:t>
            </a:r>
            <a:r>
              <a:rPr b="0" lang="ru-RU" sz="28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1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JS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as R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"ramda"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R.curry — каррирование через библиотеку Ramda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multiply = R.curry((factor, x) =&gt; factor * x);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triple = multiply(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addBase — замыкание: base захвачен из окружения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base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addBase = (x) =&gt; x + base;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32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как значения: JS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2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const triple = multiply(3)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const addBase = (x) =&gt; x + base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HOF: map принимает функцию аргументом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result = [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].map(triple);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[3, 6, 9, 12, 15]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>
            <p:ph type="title"/>
          </p:nvPr>
        </p:nvSpPr>
        <p:spPr>
          <a:xfrm>
            <a:off x="838080" y="2766240"/>
            <a:ext cx="10514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b="1" lang="ru-RU" sz="4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4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Чистая функция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возвращаемое значение зависит только от аргументов;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нет побочных эффектов.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Следствия: </a:t>
            </a:r>
            <a:r>
              <a:rPr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мемоизация;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независимость порядка вычислений</a:t>
            </a:r>
            <a:r>
              <a:rPr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 data race–free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параллелизм.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Эффекты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неизбежны (I/O, время, состояние). Стратегия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изоляция </a:t>
            </a:r>
            <a:r>
              <a:rPr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границах системы.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5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прозрачность: задача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Функция скидки — чистая и нечистая версии.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6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прозрачность: OCaml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current_discount =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нечистая: глобальное состояние *)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price_with_global_discount price =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price *. 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-. !current_discount)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чистая *)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apply_discount rate price =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price *. 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-. rate)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discounted = apply_discount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100.0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7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прозрачность: Scala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7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чистая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applyDiscount(rate: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price: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price * 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rate)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эффекты — в типе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withLog(rate: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price: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.println("...") *&gt;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.pure(applyDiscount(rate, price))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8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прозрачность: Rust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8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чистая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apply_discount(rate: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f64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price: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f64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f64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price * 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rate)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нечистая: &amp;mut в сигнатуре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apply_discount_mut(rate: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f64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price: &amp;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f64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*price *=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rate;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9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прозрачность: Python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9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current_discount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нечистая: зависит от глобального состояния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price_with_global_discount(price: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price * 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current_discount)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чистая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apply_discount(rate: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price: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price * 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rate)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40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Ссылочная прозрачность: JS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0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нечистая: захватывает внешнее состояние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taxRate = 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0.2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priceWithTax = (price) =&gt; price * (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taxRate);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чистая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applyDiscount = (rate) =&gt; (price) =&gt; price * (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rate);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"/>
          <p:cNvSpPr txBox="1"/>
          <p:nvPr>
            <p:ph type="title"/>
          </p:nvPr>
        </p:nvSpPr>
        <p:spPr>
          <a:xfrm>
            <a:off x="838080" y="2766240"/>
            <a:ext cx="1051488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</a:pPr>
            <a:r>
              <a:rPr b="1" lang="ru-RU" sz="44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2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2"/>
          <p:cNvSpPr txBox="1"/>
          <p:nvPr>
            <p:ph idx="1" type="body"/>
          </p:nvPr>
        </p:nvSpPr>
        <p:spPr>
          <a:xfrm>
            <a:off x="838075" y="2170075"/>
            <a:ext cx="109419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 / val — запрет перезаписи переменной. Иммутабельность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запрет мутации самого значения.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Гарантия: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компилятором </a:t>
            </a:r>
            <a:r>
              <a:rPr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(OCaml let, Rust let) /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соглашением </a:t>
            </a:r>
            <a:r>
              <a:rPr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(Scala val)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опционально </a:t>
            </a:r>
            <a:r>
              <a:rPr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(Python frozen=True, JS Object.freeze).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●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Persistent data structures: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structural sharing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Обновление поля —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O(log n), не O(n)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3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3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Обновить одно поле записи без изменения оригинала.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44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Иммутабельность: OCaml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4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record иммутабелен по умолчанию *)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user = {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name: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age: 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user = { name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"Alice"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age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older = { user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age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(* user не изменился *)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45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Иммутабельность: Scala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5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case class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(name: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age: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user =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"Alice"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older = user.copy(age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user.age = 31 → error: reassignment to val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46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Иммутабельность: Rust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struct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name: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age: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u32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user =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name: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"Alice"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.into(), age: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older =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age: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..user };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mut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draft =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name: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"Bob"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.into(), age: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};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draft.age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// только let mut допускает мутацию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7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47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Иммутабельность: Python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7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dataclasses 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dataclass, replace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@dataclass(frozen=</a:t>
            </a: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name: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age: 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t/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  = </a:t>
            </a:r>
            <a:r>
              <a:rPr b="0" lang="ru-RU" sz="2300" u="none" strike="noStrike">
                <a:solidFill>
                  <a:srgbClr val="2C6F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"Alice"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older = replace(user, age=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1035"/>
              <a:buNone/>
            </a:pP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user.age = </a:t>
            </a:r>
            <a:r>
              <a:rPr b="0" lang="ru-RU" sz="23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3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lang="ru-RU" sz="23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FrozenInstanceError</a:t>
            </a:r>
            <a:endParaRPr b="0" sz="2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8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Иммутабельность: JS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8"/>
          <p:cNvSpPr txBox="1"/>
          <p:nvPr>
            <p:ph idx="1" type="body"/>
          </p:nvPr>
        </p:nvSpPr>
        <p:spPr>
          <a:xfrm>
            <a:off x="1138320" y="1762920"/>
            <a:ext cx="1064196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"use strict"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user = Object.freeze({ name: 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"Alice"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age: 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});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C0392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older = { ...user, age: 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};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ts val="900"/>
              <a:buNone/>
            </a:pP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user.age = </a:t>
            </a:r>
            <a:r>
              <a:rPr b="0" lang="ru-RU" sz="2000" u="none" strike="noStrike">
                <a:solidFill>
                  <a:srgbClr val="7F8C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r>
              <a:rPr b="0" lang="ru-RU" sz="200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 </a:t>
            </a:r>
            <a:r>
              <a:rPr b="0" lang="ru-RU" sz="2000" u="none" strike="noStrike">
                <a:solidFill>
                  <a:srgbClr val="95A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TypeError: Cannot assign to read only property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9"/>
          <p:cNvSpPr txBox="1"/>
          <p:nvPr>
            <p:ph idx="1" type="body"/>
          </p:nvPr>
        </p:nvSpPr>
        <p:spPr>
          <a:xfrm>
            <a:off x="838080" y="29988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Итог: пять свойств × пять языков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p49"/>
          <p:cNvGraphicFramePr/>
          <p:nvPr/>
        </p:nvGraphicFramePr>
        <p:xfrm>
          <a:off x="838080" y="1400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{0B51CCB1-F8CD-4254-B468-538DBF4B1AE9}</a:tableStyleId>
              </a:tblPr>
              <a:tblGrid>
                <a:gridCol w="3499925"/>
                <a:gridCol w="1488250"/>
                <a:gridCol w="1488250"/>
                <a:gridCol w="1488250"/>
                <a:gridCol w="1488250"/>
                <a:gridCol w="1488250"/>
              </a:tblGrid>
              <a:tr h="7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OCaml</a:t>
                      </a:r>
                      <a:endParaRPr b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Scala</a:t>
                      </a:r>
                      <a:endParaRPr b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Rust</a:t>
                      </a:r>
                      <a:endParaRPr b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</a:t>
                      </a:r>
                      <a:endParaRPr b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</a:t>
                      </a:r>
                      <a:endParaRPr b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7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1A1A1A"/>
                          </a:solidFill>
                        </a:rPr>
                        <a:t>Декларативность</a:t>
                      </a:r>
                      <a:endParaRPr b="1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</a:tr>
              <a:tr h="7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1A1A1A"/>
                          </a:solidFill>
                        </a:rPr>
                        <a:t>Выражения</a:t>
                      </a:r>
                      <a:endParaRPr b="1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</a:tr>
              <a:tr h="7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1A1A1A"/>
                          </a:solidFill>
                        </a:rPr>
                        <a:t>Функции как значения</a:t>
                      </a:r>
                      <a:endParaRPr b="1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</a:tr>
              <a:tr h="7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1A1A1A"/>
                          </a:solidFill>
                        </a:rPr>
                        <a:t>Ссылочная прозрачность</a:t>
                      </a:r>
                      <a:endParaRPr b="1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4"/>
                    </a:solidFill>
                  </a:tcPr>
                </a:tc>
              </a:tr>
              <a:tr h="71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1A1A1A"/>
                          </a:solidFill>
                        </a:rPr>
                        <a:t>Иммутабельность</a:t>
                      </a:r>
                      <a:endParaRPr b="1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7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+++</a:t>
                      </a:r>
                      <a:endParaRPr b="0" sz="17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7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b="0" sz="1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427" name="Google Shape;427;p49"/>
          <p:cNvSpPr/>
          <p:nvPr/>
        </p:nvSpPr>
        <p:spPr>
          <a:xfrm>
            <a:off x="838080" y="5780160"/>
            <a:ext cx="10941840" cy="39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0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+++</a:t>
            </a:r>
            <a:r>
              <a:rPr b="0" lang="ru-RU" sz="130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— в дизайне языка, идиоматично     </a:t>
            </a:r>
            <a:r>
              <a:rPr b="1" lang="ru-RU" sz="130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++</a:t>
            </a:r>
            <a:r>
              <a:rPr b="0" lang="ru-RU" sz="130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— поддерживается, требует дисциплины     </a:t>
            </a:r>
            <a:r>
              <a:rPr b="1" lang="ru-RU" sz="130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lang="ru-RU" sz="1300" u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— возможно, но нетипично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0"/>
          <p:cNvSpPr txBox="1"/>
          <p:nvPr>
            <p:ph idx="12" type="sldNum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ru-RU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50"/>
          <p:cNvSpPr txBox="1"/>
          <p:nvPr>
            <p:ph idx="1" type="body"/>
          </p:nvPr>
        </p:nvSpPr>
        <p:spPr>
          <a:xfrm>
            <a:off x="838080" y="543960"/>
            <a:ext cx="1094184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Задание на дом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0"/>
          <p:cNvSpPr txBox="1"/>
          <p:nvPr>
            <p:ph idx="1" type="body"/>
          </p:nvPr>
        </p:nvSpPr>
        <p:spPr>
          <a:xfrm>
            <a:off x="838080" y="2170080"/>
            <a:ext cx="10941840" cy="325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AutoNum type="arabicPeriod"/>
            </a:pP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Какие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из пяти свойств присутствуют в вашем текущем проекте?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AutoNum type="arabicPeriod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Какие из них язык гарантирует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design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а какие — только конвенцией?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1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Montserrat"/>
              <a:buAutoNum type="arabicPeriod"/>
            </a:pP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Где явная иммутабельность или декларативный стиль снизили бы </a:t>
            </a:r>
            <a:r>
              <a:rPr b="1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когнитивную нагрузку</a:t>
            </a:r>
            <a:r>
              <a:rPr b="0" lang="ru-RU" sz="2800" u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последнем PR?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1"/>
          <p:cNvSpPr/>
          <p:nvPr/>
        </p:nvSpPr>
        <p:spPr>
          <a:xfrm>
            <a:off x="632030" y="1895950"/>
            <a:ext cx="52413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4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Павел Аргентов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1"/>
          <p:cNvSpPr/>
          <p:nvPr/>
        </p:nvSpPr>
        <p:spPr>
          <a:xfrm>
            <a:off x="632025" y="3346493"/>
            <a:ext cx="5241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Tg: @argent_smith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1"/>
          <p:cNvSpPr/>
          <p:nvPr/>
        </p:nvSpPr>
        <p:spPr>
          <a:xfrm>
            <a:off x="632025" y="5693468"/>
            <a:ext cx="52413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</a:rPr>
              <a:t>2026</a:t>
            </a:r>
            <a:endParaRPr b="1" sz="2800" u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p51" title="qr-cod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425" y="3250247"/>
            <a:ext cx="3144326" cy="314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2024-06-10T09:01:31Z</dcterms:created>
  <dc:creator>Мария Теутул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
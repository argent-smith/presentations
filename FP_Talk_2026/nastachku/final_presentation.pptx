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2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30"/>
    <p:sldId id="271" r:id="rId31"/>
    <p:sldId id="278" r:id="rId37"/>
    <p:sldId id="277" r:id="rId32"/>
    <p:sldId id="273" r:id="rId33"/>
    <p:sldId id="274" r:id="rId34"/>
    <p:sldId id="275" r:id="rId35"/>
    <p:sldId id="276" r:id="rId36"/>
    <p:sldId id="279" r:id="rId38"/>
    <p:sldId id="280" r:id="rId39"/>
    <p:sldId id="281" r:id="rId40"/>
    <p:sldId id="282" r:id="rId41"/>
    <p:sldId id="283" r:id="rId42"/>
    <p:sldId id="284" r:id="rId43"/>
    <p:sldId id="290" r:id="rId49"/>
    <p:sldId id="291" r:id="rId50"/>
    <p:sldId id="292" r:id="rId51"/>
    <p:sldId id="293" r:id="rId52"/>
    <p:sldId id="294" r:id="rId53"/>
    <p:sldId id="296" r:id="rId55"/>
    <p:sldId id="297" r:id="rId56"/>
    <p:sldId id="303" r:id="rId62"/>
    <p:sldId id="298" r:id="rId57"/>
    <p:sldId id="299" r:id="rId58"/>
    <p:sldId id="300" r:id="rId59"/>
    <p:sldId id="301" r:id="rId60"/>
    <p:sldId id="302" r:id="rId61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295" r:id="rId54"/>
  </p:sldIdLst>
  <p:sldSz cy="6858000" cx="12192000"/>
  <p:notesSz cx="12192000" cy="6858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rXinYKcKLXS9HgmKw9A2enWgd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DF0169-250F-49E1-8410-1719DFD9D788}">
  <a:tblStyle styleId="{DBDF0169-250F-49E1-8410-1719DFD9D7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31.xml"/><Relationship Id="rId21" Type="http://schemas.openxmlformats.org/officeDocument/2006/relationships/font" Target="fonts/Montserrat-regular.fntdata"/><Relationship Id="rId22" Type="http://schemas.openxmlformats.org/officeDocument/2006/relationships/font" Target="fonts/Montserrat-bold.fntdata"/><Relationship Id="rId23" Type="http://schemas.openxmlformats.org/officeDocument/2006/relationships/font" Target="fonts/Montserrat-italic.fntdata"/><Relationship Id="rId24" Type="http://schemas.openxmlformats.org/officeDocument/2006/relationships/font" Target="fonts/Montserrat-boldItalic.fntdata"/><Relationship Id="rId25" Type="http://schemas.openxmlformats.org/officeDocument/2006/relationships/font" Target="fonts/JetBrainsMono-regular.fntdata"/><Relationship Id="rId26" Type="http://schemas.openxmlformats.org/officeDocument/2006/relationships/font" Target="fonts/JetBrainsMono-bold.fntdata"/><Relationship Id="rId27" Type="http://schemas.openxmlformats.org/officeDocument/2006/relationships/font" Target="fonts/JetBrainsMono-italic.fntdata"/><Relationship Id="rId28" Type="http://schemas.openxmlformats.org/officeDocument/2006/relationships/font" Target="fonts/JetBrainsMono-boldItalic.fntdata"/><Relationship Id="rId29" Type="http://customschemas.google.com/relationships/presentationmetadata" Target="metadata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16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28.xml"/><Relationship Id="rId47" Type="http://schemas.openxmlformats.org/officeDocument/2006/relationships/slide" Target="slides/slide30.xml"/><Relationship Id="rId48" Type="http://schemas.openxmlformats.org/officeDocument/2006/relationships/slide" Target="slides/slide32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51.xml"/><Relationship Id="rId55" Type="http://schemas.openxmlformats.org/officeDocument/2006/relationships/slide" Target="slides/slide33.xml"/><Relationship Id="rId56" Type="http://schemas.openxmlformats.org/officeDocument/2006/relationships/slide" Target="slides/slide34.xml"/><Relationship Id="rId57" Type="http://schemas.openxmlformats.org/officeDocument/2006/relationships/slide" Target="slides/slide36.xml"/><Relationship Id="rId58" Type="http://schemas.openxmlformats.org/officeDocument/2006/relationships/slide" Target="slides/slide37.xml"/><Relationship Id="rId59" Type="http://schemas.openxmlformats.org/officeDocument/2006/relationships/slide" Target="slides/slide38.xml"/><Relationship Id="rId60" Type="http://schemas.openxmlformats.org/officeDocument/2006/relationships/slide" Target="slides/slide39.xml"/><Relationship Id="rId61" Type="http://schemas.openxmlformats.org/officeDocument/2006/relationships/slide" Target="slides/slide40.xml"/><Relationship Id="rId62" Type="http://schemas.openxmlformats.org/officeDocument/2006/relationships/slide" Target="slides/slide35.xml"/><Relationship Id="rId63" Type="http://schemas.openxmlformats.org/officeDocument/2006/relationships/slide" Target="slides/slide41.xml"/><Relationship Id="rId64" Type="http://schemas.openxmlformats.org/officeDocument/2006/relationships/slide" Target="slides/slide42.xml"/><Relationship Id="rId65" Type="http://schemas.openxmlformats.org/officeDocument/2006/relationships/slide" Target="slides/slide43.xml"/><Relationship Id="rId66" Type="http://schemas.openxmlformats.org/officeDocument/2006/relationships/slide" Target="slides/slide44.xml"/><Relationship Id="rId67" Type="http://schemas.openxmlformats.org/officeDocument/2006/relationships/slide" Target="slides/slide45.xml"/><Relationship Id="rId68" Type="http://schemas.openxmlformats.org/officeDocument/2006/relationships/slide" Target="slides/slide46.xml"/><Relationship Id="rId69" Type="http://schemas.openxmlformats.org/officeDocument/2006/relationships/slide" Target="slides/slide47.xml"/><Relationship Id="rId70" Type="http://schemas.openxmlformats.org/officeDocument/2006/relationships/slide" Target="slides/slide48.xml"/><Relationship Id="rId71" Type="http://schemas.openxmlformats.org/officeDocument/2006/relationships/slide" Target="slides/slide49.xml"/><Relationship Id="rId72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9141108f_0_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09141108f_0_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09141108f_0_2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09141108f_0_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9141108f_0_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9141108f_0_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09141108f_0_3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09141108f_0_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09141108f_0_4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09141108f_0_4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09141108f_0_7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09141108f_0_7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09141108f_0_4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09141108f_0_4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09141108f_0_5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09141108f_0_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09141108f_0_6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09141108f_0_6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09141108f_0_6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09141108f_0_6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09141108f_0_7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09141108f_0_7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_digital marketing">
  <p:cSld name="Титульный слайд_digital marketing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8"/>
          <p:cNvSpPr txBox="1"/>
          <p:nvPr>
            <p:ph idx="1" type="body"/>
          </p:nvPr>
        </p:nvSpPr>
        <p:spPr>
          <a:xfrm>
            <a:off x="546100" y="2482151"/>
            <a:ext cx="3301207" cy="281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2" type="body"/>
          </p:nvPr>
        </p:nvSpPr>
        <p:spPr>
          <a:xfrm>
            <a:off x="546100" y="3295300"/>
            <a:ext cx="3301207" cy="281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3" type="body"/>
          </p:nvPr>
        </p:nvSpPr>
        <p:spPr>
          <a:xfrm>
            <a:off x="546100" y="4108450"/>
            <a:ext cx="4857750" cy="16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4" type="body"/>
          </p:nvPr>
        </p:nvSpPr>
        <p:spPr>
          <a:xfrm>
            <a:off x="546100" y="2888725"/>
            <a:ext cx="3301207" cy="281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8"/>
          <p:cNvSpPr/>
          <p:nvPr/>
        </p:nvSpPr>
        <p:spPr>
          <a:xfrm>
            <a:off x="257177" y="242888"/>
            <a:ext cx="8191054" cy="6329362"/>
          </a:xfrm>
          <a:custGeom>
            <a:rect b="b" l="l" r="r" t="t"/>
            <a:pathLst>
              <a:path extrusionOk="0" h="6329362" w="9626703">
                <a:moveTo>
                  <a:pt x="0" y="218426"/>
                </a:moveTo>
                <a:cubicBezTo>
                  <a:pt x="0" y="97793"/>
                  <a:pt x="97793" y="0"/>
                  <a:pt x="218426" y="0"/>
                </a:cubicBezTo>
                <a:lnTo>
                  <a:pt x="9453418" y="27501"/>
                </a:lnTo>
                <a:cubicBezTo>
                  <a:pt x="9574051" y="27501"/>
                  <a:pt x="9677451" y="149575"/>
                  <a:pt x="9599836" y="310848"/>
                </a:cubicBezTo>
                <a:lnTo>
                  <a:pt x="7233444" y="6110936"/>
                </a:lnTo>
                <a:cubicBezTo>
                  <a:pt x="7168705" y="6281145"/>
                  <a:pt x="7135651" y="6329362"/>
                  <a:pt x="7015018" y="6329362"/>
                </a:cubicBezTo>
                <a:lnTo>
                  <a:pt x="218426" y="6329362"/>
                </a:lnTo>
                <a:cubicBezTo>
                  <a:pt x="97793" y="6329362"/>
                  <a:pt x="0" y="6231569"/>
                  <a:pt x="0" y="6110936"/>
                </a:cubicBezTo>
                <a:lnTo>
                  <a:pt x="0" y="218426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 rot="10800000">
            <a:off x="14758156" y="285750"/>
            <a:ext cx="5007616" cy="6329362"/>
          </a:xfrm>
          <a:custGeom>
            <a:rect b="b" l="l" r="r" t="t"/>
            <a:pathLst>
              <a:path extrusionOk="0" h="6329362" w="9609213">
                <a:moveTo>
                  <a:pt x="0" y="218426"/>
                </a:moveTo>
                <a:cubicBezTo>
                  <a:pt x="0" y="97793"/>
                  <a:pt x="97793" y="0"/>
                  <a:pt x="218426" y="0"/>
                </a:cubicBezTo>
                <a:lnTo>
                  <a:pt x="9453418" y="27501"/>
                </a:lnTo>
                <a:cubicBezTo>
                  <a:pt x="9574051" y="27501"/>
                  <a:pt x="9656582" y="114064"/>
                  <a:pt x="9578967" y="275337"/>
                </a:cubicBezTo>
                <a:lnTo>
                  <a:pt x="5771228" y="6068264"/>
                </a:lnTo>
                <a:cubicBezTo>
                  <a:pt x="5665948" y="6237665"/>
                  <a:pt x="5486270" y="6304978"/>
                  <a:pt x="5365637" y="6304978"/>
                </a:cubicBezTo>
                <a:lnTo>
                  <a:pt x="218426" y="6329362"/>
                </a:lnTo>
                <a:cubicBezTo>
                  <a:pt x="97793" y="6329362"/>
                  <a:pt x="0" y="6231569"/>
                  <a:pt x="0" y="6110936"/>
                </a:cubicBezTo>
                <a:lnTo>
                  <a:pt x="0" y="218426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 txBox="1"/>
          <p:nvPr>
            <p:ph idx="5" type="body"/>
          </p:nvPr>
        </p:nvSpPr>
        <p:spPr>
          <a:xfrm>
            <a:off x="6658813" y="250238"/>
            <a:ext cx="5193461" cy="63220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6100" y="699504"/>
            <a:ext cx="3524660" cy="38634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/>
          <p:nvPr>
            <p:ph idx="6" type="body"/>
          </p:nvPr>
        </p:nvSpPr>
        <p:spPr>
          <a:xfrm>
            <a:off x="546100" y="1261418"/>
            <a:ext cx="3728945" cy="281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title"/>
          </p:nvPr>
        </p:nvSpPr>
        <p:spPr>
          <a:xfrm>
            <a:off x="1264023" y="1386859"/>
            <a:ext cx="4697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838198" y="1070532"/>
            <a:ext cx="5831541" cy="4716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/>
          <p:nvPr>
            <p:ph idx="1" type="body"/>
          </p:nvPr>
        </p:nvSpPr>
        <p:spPr>
          <a:xfrm>
            <a:off x="6907212" y="1069975"/>
            <a:ext cx="4446587" cy="471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1" name="Google Shape;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пикере">
  <p:cSld name="о спикере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341271">
            <a:off x="-5029016" y="-1390831"/>
            <a:ext cx="12017003" cy="1123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476" y="1387929"/>
            <a:ext cx="3886200" cy="3641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type="title"/>
          </p:nvPr>
        </p:nvSpPr>
        <p:spPr>
          <a:xfrm>
            <a:off x="6656280" y="1138465"/>
            <a:ext cx="4697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2" type="body"/>
          </p:nvPr>
        </p:nvSpPr>
        <p:spPr>
          <a:xfrm>
            <a:off x="6656280" y="2776765"/>
            <a:ext cx="4697520" cy="251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8" name="Google Shape;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 (для контактов)">
  <p:cSld name="пустой слайд (для контактов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623888" y="522951"/>
            <a:ext cx="1094263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1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6" name="Google Shape;3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лавная мысль, разделитель">
  <p:cSld name="главная мысль, разделитель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  <a:defRPr b="1" i="0" sz="4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6656280" y="1138465"/>
            <a:ext cx="4697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6656280" y="2776765"/>
            <a:ext cx="4697520" cy="251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5" name="Google Shape;4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-3451198" y="-3008288"/>
            <a:ext cx="9869707" cy="9224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idx="1" type="body"/>
          </p:nvPr>
        </p:nvSpPr>
        <p:spPr>
          <a:xfrm>
            <a:off x="838198" y="543878"/>
            <a:ext cx="1094263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" name="Google Shape;50;p19"/>
          <p:cNvSpPr txBox="1"/>
          <p:nvPr>
            <p:ph idx="2" type="body"/>
          </p:nvPr>
        </p:nvSpPr>
        <p:spPr>
          <a:xfrm>
            <a:off x="838200" y="2170113"/>
            <a:ext cx="10942638" cy="325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1" name="Google Shape;5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инка + текст + рупоры">
  <p:cSld name="Картинка + текст + рупоры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838200" y="365126"/>
            <a:ext cx="7086035" cy="114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222607" y="1847684"/>
            <a:ext cx="13776785" cy="12876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1">
            <a:off x="5833197" y="-2121764"/>
            <a:ext cx="13776785" cy="128764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838200" y="3740242"/>
            <a:ext cx="4371975" cy="199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7924235" y="2017805"/>
            <a:ext cx="3429565" cy="37211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инка + текст">
  <p:cSld name="Картинка + текст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2" name="Google Shape;62;p20"/>
          <p:cNvSpPr/>
          <p:nvPr>
            <p:ph idx="2" type="pic"/>
          </p:nvPr>
        </p:nvSpPr>
        <p:spPr>
          <a:xfrm>
            <a:off x="838200" y="495300"/>
            <a:ext cx="5543550" cy="554355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0"/>
          <p:cNvSpPr txBox="1"/>
          <p:nvPr>
            <p:ph type="title"/>
          </p:nvPr>
        </p:nvSpPr>
        <p:spPr>
          <a:xfrm>
            <a:off x="6656280" y="495300"/>
            <a:ext cx="4697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6656280" y="2172153"/>
            <a:ext cx="4697520" cy="251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5" name="Google Shape;6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много картинок">
  <p:cSld name="Заголовок + много картинок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/>
          <p:nvPr>
            <p:ph idx="2" type="pic"/>
          </p:nvPr>
        </p:nvSpPr>
        <p:spPr>
          <a:xfrm>
            <a:off x="623888" y="1741488"/>
            <a:ext cx="2641600" cy="398938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623889" y="522951"/>
            <a:ext cx="10729912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1"/>
          <p:cNvSpPr/>
          <p:nvPr>
            <p:ph idx="3" type="pic"/>
          </p:nvPr>
        </p:nvSpPr>
        <p:spPr>
          <a:xfrm>
            <a:off x="3453606" y="1741488"/>
            <a:ext cx="2641600" cy="3989387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1"/>
          <p:cNvSpPr/>
          <p:nvPr>
            <p:ph idx="4" type="pic"/>
          </p:nvPr>
        </p:nvSpPr>
        <p:spPr>
          <a:xfrm>
            <a:off x="6283325" y="1741488"/>
            <a:ext cx="2641600" cy="3989387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/>
          <p:cNvSpPr/>
          <p:nvPr>
            <p:ph idx="5" type="pic"/>
          </p:nvPr>
        </p:nvSpPr>
        <p:spPr>
          <a:xfrm>
            <a:off x="9113044" y="1741488"/>
            <a:ext cx="2641600" cy="3989387"/>
          </a:xfrm>
          <a:prstGeom prst="rect">
            <a:avLst/>
          </a:prstGeom>
          <a:noFill/>
          <a:ln>
            <a:noFill/>
          </a:ln>
        </p:spPr>
      </p:sp>
      <p:pic>
        <p:nvPicPr>
          <p:cNvPr id="73" name="Google Shape;7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блока текста (без элементов)">
  <p:cSld name="Заголовок + 2 блока текста (без элементов)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>
            <a:off x="623888" y="522951"/>
            <a:ext cx="1094263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2"/>
          <p:cNvSpPr txBox="1"/>
          <p:nvPr>
            <p:ph idx="2" type="body"/>
          </p:nvPr>
        </p:nvSpPr>
        <p:spPr>
          <a:xfrm>
            <a:off x="623888" y="2170112"/>
            <a:ext cx="5070329" cy="317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2"/>
          <p:cNvSpPr txBox="1"/>
          <p:nvPr>
            <p:ph idx="3" type="body"/>
          </p:nvPr>
        </p:nvSpPr>
        <p:spPr>
          <a:xfrm>
            <a:off x="6496196" y="2170113"/>
            <a:ext cx="5070329" cy="317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9" name="Google Shape;7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356350"/>
            <a:ext cx="1751028" cy="19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evrone.ru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body"/>
          </p:nvPr>
        </p:nvSpPr>
        <p:spPr>
          <a:xfrm>
            <a:off x="575250" y="4794051"/>
            <a:ext cx="3301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ru-RU"/>
              <a:t>Павел Аргентов</a:t>
            </a:r>
            <a:endParaRPr/>
          </a:p>
        </p:txBody>
      </p:sp>
      <p:sp>
        <p:nvSpPr>
          <p:cNvPr id="85" name="Google Shape;85;p1"/>
          <p:cNvSpPr txBox="1"/>
          <p:nvPr>
            <p:ph idx="2" type="body"/>
          </p:nvPr>
        </p:nvSpPr>
        <p:spPr>
          <a:xfrm>
            <a:off x="575250" y="5607200"/>
            <a:ext cx="3301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ru-RU"/>
              <a:t>FP Guru</a:t>
            </a:r>
            <a:endParaRPr/>
          </a:p>
        </p:txBody>
      </p:sp>
      <p:sp>
        <p:nvSpPr>
          <p:cNvPr id="86" name="Google Shape;86;p1"/>
          <p:cNvSpPr txBox="1"/>
          <p:nvPr>
            <p:ph idx="3" type="body"/>
          </p:nvPr>
        </p:nvSpPr>
        <p:spPr>
          <a:xfrm>
            <a:off x="575250" y="1680900"/>
            <a:ext cx="48645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ru-RU" sz="3500"/>
              <a:t>Древняя магия каждый день</a:t>
            </a:r>
            <a:endParaRPr sz="3500"/>
          </a:p>
        </p:txBody>
      </p:sp>
      <p:sp>
        <p:nvSpPr>
          <p:cNvPr id="87" name="Google Shape;87;p1"/>
          <p:cNvSpPr txBox="1"/>
          <p:nvPr>
            <p:ph idx="4" type="body"/>
          </p:nvPr>
        </p:nvSpPr>
        <p:spPr>
          <a:xfrm>
            <a:off x="575250" y="5200625"/>
            <a:ext cx="3301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ru-RU"/>
              <a:t>Evrone.ru</a:t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043" y="531014"/>
            <a:ext cx="1741910" cy="174191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idx="4" type="body"/>
          </p:nvPr>
        </p:nvSpPr>
        <p:spPr>
          <a:xfrm>
            <a:off x="575250" y="2997000"/>
            <a:ext cx="51267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ru-RU" sz="1800"/>
              <a:t>Пять принципов FP в пяти языках</a:t>
            </a:r>
            <a:endParaRPr sz="1800"/>
          </a:p>
        </p:txBody>
      </p:sp>
      <p:sp>
        <p:nvSpPr>
          <p:cNvPr id="90" name="Google Shape;90;p1"/>
          <p:cNvSpPr txBox="1"/>
          <p:nvPr>
            <p:ph idx="2" type="body"/>
          </p:nvPr>
        </p:nvSpPr>
        <p:spPr>
          <a:xfrm>
            <a:off x="8722150" y="6296875"/>
            <a:ext cx="3301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1" lang="ru-RU"/>
              <a:t>2026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6656280" y="1138465"/>
            <a:ext cx="4697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</a:pPr>
            <a:r>
              <a:rPr lang="ru-RU"/>
              <a:t>Павел Аргентов</a:t>
            </a:r>
            <a:endParaRPr/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/>
              <a:t>2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1476" y="1387929"/>
            <a:ext cx="3886200" cy="3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2" type="body"/>
          </p:nvPr>
        </p:nvSpPr>
        <p:spPr>
          <a:xfrm>
            <a:off x="6656280" y="2776765"/>
            <a:ext cx="4697400" cy="251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ru-RU"/>
              <a:t>много опыта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ru-RU"/>
              <a:t>разрабатывал всё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ru-RU"/>
              <a:t>FP с 2002 г.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>
                <a:uFill>
                  <a:noFill/>
                </a:uFill>
                <a:hlinkClick r:id="rId3"/>
              </a:rPr>
              <a:t>Evrone.ru</a:t>
            </a:r>
            <a:r>
              <a:rPr b="1" lang="ru-RU"/>
              <a:t>:</a:t>
            </a:r>
            <a:r>
              <a:rPr lang="ru-RU"/>
              <a:t> разработка разработчиков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9141108f_0_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3</a:t>
            </a:r>
            <a:endParaRPr/>
          </a:p>
        </p:txBody>
      </p:sp>
      <p:sp>
        <p:nvSpPr>
          <p:cNvPr id="104" name="Google Shape;104;g3d09141108f_0_5"/>
          <p:cNvSpPr txBox="1"/>
          <p:nvPr>
            <p:ph idx="1" type="body"/>
          </p:nvPr>
        </p:nvSpPr>
        <p:spPr>
          <a:xfrm>
            <a:off x="6096000" y="270600"/>
            <a:ext cx="5818500" cy="155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/>
              <a:t>ФП:</a:t>
            </a:r>
            <a:r>
              <a:rPr lang="ru-RU"/>
              <a:t> п</a:t>
            </a:r>
            <a:r>
              <a:rPr lang="ru-RU"/>
              <a:t>ять ĸонĸретных свойств ĸода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/>
              <a:t>Смысл:</a:t>
            </a:r>
            <a:r>
              <a:rPr lang="ru-RU"/>
              <a:t> описание результата, а не миĸроменеджмент процесса.</a:t>
            </a:r>
            <a:endParaRPr/>
          </a:p>
        </p:txBody>
      </p:sp>
      <p:sp>
        <p:nvSpPr>
          <p:cNvPr id="105" name="Google Shape;105;g3d09141108f_0_5"/>
          <p:cNvSpPr txBox="1"/>
          <p:nvPr>
            <p:ph idx="1" type="body"/>
          </p:nvPr>
        </p:nvSpPr>
        <p:spPr>
          <a:xfrm>
            <a:off x="5400925" y="3910275"/>
            <a:ext cx="6513600" cy="233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JetBrains Mono"/>
              <a:buChar char="●"/>
            </a:pPr>
            <a:r>
              <a:rPr lang="ru-RU">
                <a:latin typeface="JetBrains Mono"/>
                <a:ea typeface="JetBrains Mono"/>
                <a:cs typeface="JetBrains Mono"/>
                <a:sym typeface="JetBrains Mono"/>
              </a:rPr>
              <a:t>[1,2,3].map(x =&gt; x * 2)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JetBrains Mono"/>
              <a:buChar char="●"/>
            </a:pPr>
            <a:r>
              <a:rPr lang="ru-RU">
                <a:latin typeface="JetBrains Mono"/>
                <a:ea typeface="JetBrains Mono"/>
                <a:cs typeface="JetBrains Mono"/>
                <a:sym typeface="JetBrains Mono"/>
              </a:rPr>
              <a:t>const add = x =&gt; y =&gt; x + y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JetBrains Mono"/>
              <a:buChar char="●"/>
            </a:pPr>
            <a:r>
              <a:rPr lang="ru-RU">
                <a:latin typeface="JetBrains Mono"/>
                <a:ea typeface="JetBrains Mono"/>
                <a:cs typeface="JetBrains Mono"/>
                <a:sym typeface="JetBrains Mono"/>
              </a:rPr>
              <a:t>const x = 1; x = 2 // TypeError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09141108f_0_20"/>
          <p:cNvSpPr txBox="1"/>
          <p:nvPr>
            <p:ph type="title"/>
          </p:nvPr>
        </p:nvSpPr>
        <p:spPr>
          <a:xfrm>
            <a:off x="458801" y="497350"/>
            <a:ext cx="37959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Пять языков</a:t>
            </a:r>
            <a:endParaRPr/>
          </a:p>
        </p:txBody>
      </p:sp>
      <p:sp>
        <p:nvSpPr>
          <p:cNvPr id="111" name="Google Shape;111;g3d09141108f_0_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12" name="Google Shape;112;g3d09141108f_0_20"/>
          <p:cNvGraphicFramePr/>
          <p:nvPr/>
        </p:nvGraphicFramePr>
        <p:xfrm>
          <a:off x="6656275" y="14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{DBDF0169-250F-49E1-8410-1719DFD9D788}</a:tableStyleId>
              </a:tblPr>
              <a:tblGrid>
                <a:gridCol w="2189725"/>
                <a:gridCol w="2664875"/>
              </a:tblGrid>
              <a:tr h="6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OCaml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язык богов (тм)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Scala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почти OCaml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Python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язык</a:t>
                      </a:r>
                      <a:r>
                        <a:rPr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МНС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JS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вездесущ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Rust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всемогущ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09141108f_0_27"/>
          <p:cNvSpPr txBox="1"/>
          <p:nvPr>
            <p:ph type="title"/>
          </p:nvPr>
        </p:nvSpPr>
        <p:spPr>
          <a:xfrm>
            <a:off x="838200" y="276621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Декларативность</a:t>
            </a:r>
            <a:endParaRPr/>
          </a:p>
        </p:txBody>
      </p:sp>
      <p:sp>
        <p:nvSpPr>
          <p:cNvPr id="118" name="Google Shape;118;g3d09141108f_0_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9141108f_0_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4" name="Google Shape;124;g3d09141108f_0_3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Декларативность</a:t>
            </a:r>
            <a:endParaRPr/>
          </a:p>
        </p:txBody>
      </p:sp>
      <p:sp>
        <p:nvSpPr>
          <p:cNvPr id="125" name="Google Shape;125;g3d09141108f_0_3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ru-RU"/>
              <a:t>Императивный код — микроменеджмент.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ru-RU"/>
              <a:t>Деĸларативный ĸод — спецификация.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>
                <a:latin typeface="JetBrains Mono"/>
                <a:ea typeface="JetBrains Mono"/>
                <a:cs typeface="JetBrains Mono"/>
                <a:sym typeface="JetBrains Mono"/>
              </a:rPr>
              <a:t>SELECT … WHERE</a:t>
            </a:r>
            <a:r>
              <a:rPr lang="ru-RU"/>
              <a:t> vs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</a:rPr>
              <a:t>for … in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>
                <a:latin typeface="JetBrains Mono"/>
                <a:ea typeface="JetBrains Mono"/>
                <a:cs typeface="JetBrains Mono"/>
                <a:sym typeface="JetBrains Mono"/>
              </a:rPr>
              <a:t>for … end</a:t>
            </a:r>
            <a:r>
              <a:rPr lang="ru-RU"/>
              <a:t> vs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</a:rPr>
              <a:t>list.map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9141108f_0_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1" name="Google Shape;131;g3d09141108f_0_4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Декларативность</a:t>
            </a:r>
            <a:endParaRPr/>
          </a:p>
        </p:txBody>
      </p:sp>
      <p:sp>
        <p:nvSpPr>
          <p:cNvPr id="132" name="Google Shape;132;g3d09141108f_0_40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ru-RU"/>
              <a:t>Людям — понятность.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ru-RU"/>
              <a:t>Машинам — законы оптимизации.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* для работы понадобится все остальные свойства FP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9141108f_0_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8" name="Google Shape;138;g3d09141108f_0_7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Декларативность: задача</a:t>
            </a:r>
            <a:endParaRPr/>
          </a:p>
        </p:txBody>
      </p:sp>
      <p:sp>
        <p:nvSpPr>
          <p:cNvPr id="139" name="Google Shape;139;g3d09141108f_0_7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</a:t>
            </a:r>
            <a:r>
              <a:rPr lang="ru-RU"/>
              <a:t>умма скидок для заказов дороже 100, скидка 10%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09141108f_0_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g3d09141108f_0_46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Декларативность: OCaml</a:t>
            </a:r>
            <a:endParaRPr/>
          </a:p>
        </p:txBody>
      </p:sp>
      <p:sp>
        <p:nvSpPr>
          <p:cNvPr id="146" name="Google Shape;146;g3d09141108f_0_46"/>
          <p:cNvSpPr txBox="1"/>
          <p:nvPr>
            <p:ph idx="2" type="body"/>
          </p:nvPr>
        </p:nvSpPr>
        <p:spPr>
          <a:xfrm>
            <a:off x="838200" y="176306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total_discount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filter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fun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100.0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map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fun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*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0.1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fold_left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+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0.0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Декларативность: Scala</a:t>
            </a:r>
            <a:endParaRPr/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838200" y="176306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totalDiscount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List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[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Order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]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Double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filter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_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100.0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map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_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*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0.1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sum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Декларативность: Rust</a:t>
            </a:r>
            <a:endParaRPr/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838200" y="176306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fn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total_discount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&amp;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[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Order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]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f64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{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iter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filter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100.0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map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*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0.1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sum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9141108f_0_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6" name="Google Shape;166;g3d09141108f_0_67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Декларативность: Python</a:t>
            </a:r>
            <a:endParaRPr/>
          </a:p>
        </p:txBody>
      </p:sp>
      <p:sp>
        <p:nvSpPr>
          <p:cNvPr id="167" name="Google Shape;167;g3d09141108f_0_67"/>
          <p:cNvSpPr txBox="1"/>
          <p:nvPr>
            <p:ph idx="2" type="body"/>
          </p:nvPr>
        </p:nvSpPr>
        <p:spPr>
          <a:xfrm>
            <a:off x="838200" y="176306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total_discount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return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sum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*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0.1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for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in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if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100.0</a:t>
            </a:r>
            <a:r>
              <a:rPr lang="ru-RU" sz="22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9141108f_0_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g3d09141108f_0_79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Декларативность: JS</a:t>
            </a:r>
            <a:endParaRPr/>
          </a:p>
        </p:txBody>
      </p:sp>
      <p:sp>
        <p:nvSpPr>
          <p:cNvPr id="174" name="Google Shape;174;g3d09141108f_0_79"/>
          <p:cNvSpPr txBox="1"/>
          <p:nvPr>
            <p:ph idx="2" type="body"/>
          </p:nvPr>
        </p:nvSpPr>
        <p:spPr>
          <a:xfrm>
            <a:off x="838200" y="176306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totalDiscount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orders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filter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100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map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price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*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0.1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reduce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acc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d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acc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+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d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 lang="ru-RU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09141108f_0_27"/>
          <p:cNvSpPr txBox="1"/>
          <p:nvPr>
            <p:ph type="title"/>
          </p:nvPr>
        </p:nvSpPr>
        <p:spPr>
          <a:xfrm>
            <a:off x="838200" y="276621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Выражения вместо инструкций</a:t>
            </a:r>
          </a:p>
        </p:txBody>
      </p:sp>
      <p:sp>
        <p:nvSpPr>
          <p:cNvPr id="118" name="Google Shape;118;g3d09141108f_0_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9141108f_0_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4" name="Google Shape;124;g3d09141108f_0_3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Выражения вместо инструкций</a:t>
            </a:r>
          </a:p>
        </p:txBody>
      </p:sp>
      <p:sp>
        <p:nvSpPr>
          <p:cNvPr id="125" name="Google Shape;125;g3d09141108f_0_3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t>Инструкции производят эффект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t>Выражения вычисляются в значения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t>Значения можно компоновать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9141108f_0_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8" name="Google Shape;138;g3d09141108f_0_7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Выражения вместо инструкций: задача</a:t>
            </a:r>
          </a:p>
        </p:txBody>
      </p:sp>
      <p:sp>
        <p:nvSpPr>
          <p:cNvPr id="139" name="Google Shape;139;g3d09141108f_0_7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Классификация числа — вернуть метку без промежуточной переменной.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Выражения вместо инструкций: OCaml</a:t>
            </a:r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match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with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when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&lt;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"negative"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"zero"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_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"positive"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label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|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String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uppercase_ascii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Выражения вместо инструкций: Scala</a:t>
            </a:r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String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match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{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case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if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&lt;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"negative"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case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"zero"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case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_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"positive"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val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label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toUpperCase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Выражения вместо инструкций: Rust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i32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&amp;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'static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str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{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match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{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if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&lt;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"negative"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"zero"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_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"positive"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label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to_uppercase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9141108f_0_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6" name="Google Shape;166;g3d09141108f_0_67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Выражения вместо инструкций: Python</a:t>
            </a:r>
          </a:p>
        </p:txBody>
      </p:sp>
      <p:sp>
        <p:nvSpPr>
          <p:cNvPr id="167" name="Google Shape;167;g3d09141108f_0_67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int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str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return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"negative"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if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&lt;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else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"zero"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if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else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"positive"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label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upper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match n: ... → match — инструкция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9141108f_0_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g3d09141108f_0_79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Выражения вместо инструкций: JS</a:t>
            </a:r>
          </a:p>
        </p:txBody>
      </p:sp>
      <p:sp>
        <p:nvSpPr>
          <p:cNvPr id="174" name="Google Shape;174;g3d09141108f_0_79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&lt;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?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"negative"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n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?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"zero"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"positive"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label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=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classify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-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toUpperCase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if (...) {} → инструкция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09141108f_0_27"/>
          <p:cNvSpPr txBox="1"/>
          <p:nvPr>
            <p:ph type="title"/>
          </p:nvPr>
        </p:nvSpPr>
        <p:spPr>
          <a:xfrm>
            <a:off x="838200" y="276621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</a:t>
            </a:r>
          </a:p>
        </p:txBody>
      </p:sp>
      <p:sp>
        <p:nvSpPr>
          <p:cNvPr id="118" name="Google Shape;118;g3d09141108f_0_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9141108f_0_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4" name="Google Shape;124;g3d09141108f_0_3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</a:t>
            </a:r>
          </a:p>
        </p:txBody>
      </p:sp>
      <p:sp>
        <p:nvSpPr>
          <p:cNvPr id="125" name="Google Shape;125;g3d09141108f_0_3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t>Функция — </a:t>
            </a:r>
            <a:r>
              <a:rPr b="1"/>
              <a:t>first-class value</a:t>
            </a:r>
            <a:r>
              <a:t>: передаётся аргументом, связывается с переменной, возвращается из функции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t>HOF — принимает или возвращает функцию:</a:t>
            </a:r>
            <a:br/>
            <a:r>
              <a:rPr b="1"/>
              <a:t>map, filter, fold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t>Замыкание — захват лексического окружения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t>Каррирование — </a:t>
            </a:r>
            <a:r>
              <a:rPr b="1"/>
              <a:t>f(a, b) → f(a)(b)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9141108f_0_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8" name="Google Shape;138;g3d09141108f_0_7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задача</a:t>
            </a:r>
          </a:p>
        </p:txBody>
      </p:sp>
      <p:sp>
        <p:nvSpPr>
          <p:cNvPr id="139" name="Google Shape;139;g3d09141108f_0_7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Создать умножитель с коэффициентом и применить к списку.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OCaml</a:t>
            </a:r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(* каррирование по умолчанию *)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multiply factor x = x * factor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triple = multiply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(* замыкание *)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make_adder base =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fun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x -&gt; base + x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add10 = make_adder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(* HOF *)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result =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List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.map triple [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2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4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Scala</a:t>
            </a:r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каррирование (multiple param lists)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multiply(factor: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)(x: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= factor * x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val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triple: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=&gt;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= multiply(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замыкание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val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base =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val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addBase: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=&gt;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= x =&gt; x + base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HOF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val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result =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List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2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4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).map(triple)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Rust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use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auto_curry::curry;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#[curry] — процедурный макрос, каррирует функцию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#[curry]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fn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multiply(factor: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x: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-&gt;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{ factor * x 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triple: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impl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Fn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-&gt;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= multiply(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Rust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triple — multiply, каррированный по factor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add_base — замыкание: base захвачен из окружения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base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add_base: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impl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Fn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-&gt;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move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|x| x + base;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HOF: map принимает функцию аргументом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result: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Vec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&lt;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&gt; 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vec![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4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].into_iter().map(triple).collect();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Python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from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functools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import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partial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multiply(factor, x):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return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factor * x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triple = partial(multiply,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каррирование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HOF: map принимает функцию аргументом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result = list(map(triple, [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2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4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]))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[3, 6, 9, 12, 15]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Python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result = list(map(triple, [1, 2, 3, 4, 5]))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декоратор = HOF: fn → fn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logged(fn):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wrapper(*a):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return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fn(*a)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return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wrapper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@logged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triple2(x):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return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x * </a:t>
            </a:r>
            <a:r>
              <a:rPr lang="ru-RU" altLang="en-US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JS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import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* as R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from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"ramda"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R.curry — каррирование через библиотеку Ramda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multiply = R.curry((factor, x) =&gt; factor * x);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triple = multiply(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addBase — замыкание: base захвачен из окружения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base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addBase = (x) =&gt; x + base;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Функции как значения: JS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const triple = multiply(3)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const addBase = (x) =&gt; x + base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HOF: map принимает функцию аргументом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result = [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4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5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].map(triple);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[3, 6, 9, 12, 15]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09141108f_0_27"/>
          <p:cNvSpPr txBox="1"/>
          <p:nvPr>
            <p:ph type="title"/>
          </p:nvPr>
        </p:nvSpPr>
        <p:spPr>
          <a:xfrm>
            <a:off x="838200" y="276621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Ссылочная прозрачность</a:t>
            </a:r>
          </a:p>
        </p:txBody>
      </p:sp>
      <p:sp>
        <p:nvSpPr>
          <p:cNvPr id="118" name="Google Shape;118;g3d09141108f_0_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9141108f_0_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4" name="Google Shape;124;g3d09141108f_0_3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Ссылочная прозрачность</a:t>
            </a:r>
          </a:p>
        </p:txBody>
      </p:sp>
      <p:sp>
        <p:nvSpPr>
          <p:cNvPr id="125" name="Google Shape;125;g3d09141108f_0_3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rPr lang="ru-RU"/>
              <a:t>Чистая функция: возвращаемое значение зависит только от аргументов; </a:t>
            </a:r>
            <a:r>
              <a:rPr lang="ru-RU" b="1"/>
              <a:t>нет побочных эффектов.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rPr lang="ru-RU"/>
              <a:t>Следствия: </a:t>
            </a:r>
            <a:r>
              <a:rPr lang="ru-RU" b="1"/>
              <a:t>мемоизация; независимость порядка вычислений; data race–free параллелизм.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rPr lang="ru-RU"/>
              <a:t>Эффекты неизбежны (I/O, время, состояние). Стратегия — </a:t>
            </a:r>
            <a:r>
              <a:rPr lang="ru-RU" b="1"/>
              <a:t>изоляция на границах системы.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9141108f_0_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8" name="Google Shape;138;g3d09141108f_0_7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Ссылочная прозрачность: задача</a:t>
            </a:r>
          </a:p>
        </p:txBody>
      </p:sp>
      <p:sp>
        <p:nvSpPr>
          <p:cNvPr id="139" name="Google Shape;139;g3d09141108f_0_7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Функция скидки — чистая и нечистая версии.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Ссылочная прозрачность: OCaml</a:t>
            </a:r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current_discount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ref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0.1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(* нечистая: глобальное состояние *)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price_with_global_discount price 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price *. 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1.0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-. !current_discount)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(* чистая *)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apply_discount rate price 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price *. 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1.0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-. rate)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discounted = apply_discount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100.0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Ссылочная прозрачность: Scala</a:t>
            </a:r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чистая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applyDiscount(rate: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Double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price: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Double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Double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price * 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1.0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- rate)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эффекты — в типе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withLog(rate: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Double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price: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Double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IO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[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Double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] =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IO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.println("...") *&gt;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IO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.pure(applyDiscount(rate, price))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Ссылочная прозрачность: Rust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чистая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fn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apply_discount(rate: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f64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price: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f64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-&gt;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f64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{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price * 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1.0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- rate)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нечистая: &amp;mut в сигнатуре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fn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apply_discount_mut(rate: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f64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price: &amp;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mut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f64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{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*price *=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1.0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- rate;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Ссылочная прозрачность: Python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current_discount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0.1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нечистая: зависит от глобального состояния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price_with_global_discount(price: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float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-&gt;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float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return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price * 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- current_discount)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чистая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def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apply_discount(rate: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float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price: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float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 -&gt;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float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return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price * 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- rate)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Ссылочная прозрачность: JS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нечистая: захватывает внешнее состояние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taxRate = 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0.2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priceWithTax = (price) =&gt; price * (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+ taxRate);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чистая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applyDiscount = (rate) =&gt; (price) =&gt; price * (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1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- rate);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09141108f_0_27"/>
          <p:cNvSpPr txBox="1"/>
          <p:nvPr>
            <p:ph type="title"/>
          </p:nvPr>
        </p:nvSpPr>
        <p:spPr>
          <a:xfrm>
            <a:off x="838200" y="276621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Иммутабельность</a:t>
            </a:r>
          </a:p>
        </p:txBody>
      </p:sp>
      <p:sp>
        <p:nvSpPr>
          <p:cNvPr id="118" name="Google Shape;118;g3d09141108f_0_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9141108f_0_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4" name="Google Shape;124;g3d09141108f_0_3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Иммутабельность</a:t>
            </a:r>
          </a:p>
        </p:txBody>
      </p:sp>
      <p:sp>
        <p:nvSpPr>
          <p:cNvPr id="125" name="Google Shape;125;g3d09141108f_0_3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rPr lang="ru-RU"/>
              <a:t>const / val — запрет перезаписи переменной. Иммутабельность — </a:t>
            </a:r>
            <a:r>
              <a:rPr lang="ru-RU" b="1"/>
              <a:t>запрет мутации самого значения.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rPr lang="ru-RU"/>
              <a:t>Гарантия: </a:t>
            </a:r>
            <a:r>
              <a:rPr lang="ru-RU" b="1"/>
              <a:t>компилятором (OCaml let, Rust let) / соглашением (Scala val) / опционально (Python frozen=True, JS Object.freeze).</a:t>
            </a: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</a:pPr>
            <a:endParaRPr/>
            <a:r>
              <a:rPr lang="ru-RU"/>
              <a:t>Persistent data structures: </a:t>
            </a:r>
            <a:r>
              <a:rPr lang="ru-RU" b="1"/>
              <a:t>structural sharing</a:t>
            </a:r>
            <a:r>
              <a:rPr lang="ru-RU"/>
              <a:t>. Обновление поля — </a:t>
            </a:r>
            <a:r>
              <a:rPr lang="ru-RU" b="1"/>
              <a:t>O(log n), не O(n)</a:t>
            </a:r>
            <a:r>
              <a:rPr lang="ru-RU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9141108f_0_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8" name="Google Shape;138;g3d09141108f_0_7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Иммутабельность</a:t>
            </a:r>
          </a:p>
        </p:txBody>
      </p:sp>
      <p:sp>
        <p:nvSpPr>
          <p:cNvPr id="139" name="Google Shape;139;g3d09141108f_0_7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Обновить одно поле записи без изменения оригинала.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Иммутабельность: OCaml</a:t>
            </a:r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(* record иммутабелен по умолчанию *)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type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user = {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name: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string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age: 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user = { name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"Alice"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 age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older = { user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with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age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(* user не изменился *)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9141108f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g3d09141108f_0_54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Иммутабельность: Scala</a:t>
            </a:r>
          </a:p>
        </p:txBody>
      </p:sp>
      <p:sp>
        <p:nvSpPr>
          <p:cNvPr id="153" name="Google Shape;153;g3d09141108f_0_54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case class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User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(name: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String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age: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val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user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User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"Alice"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val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older = user.copy(age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user.age = 31 → error: reassignment to val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Иммутабельность: Rust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struct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User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{ name: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String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age: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u32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}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user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User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{ name: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"Alice"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.into(), age: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};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older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User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{ age: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..user };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let mut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draft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User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{ name: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"Bob"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.into(), age: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25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};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draft.age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26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  // только let mut допускает мутацию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Иммутабельность: Python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from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dataclasses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import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dataclass, replace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@dataclass(frozen=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True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class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User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: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name: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str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  age: 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int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user 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2c6fa6"/>
                </a:solidFill>
              </a:rPr>
              <a:t>User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(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"Alice"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30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older = replace(user, age=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)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user.age =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31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 </a:t>
            </a:r>
            <a:r>
              <a:rPr lang="ru-RU" altLang="en-US" sz="23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# FrozenInstanceError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9141108f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9" name="Google Shape;159;g3d09141108f_0_60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Иммутабельность: JS</a:t>
            </a:r>
          </a:p>
        </p:txBody>
      </p:sp>
      <p:sp>
        <p:nvSpPr>
          <p:cNvPr id="160" name="Google Shape;160;g3d09141108f_0_60"/>
          <p:cNvSpPr txBox="1"/>
          <p:nvPr>
            <p:ph idx="2" type="body"/>
          </p:nvPr>
        </p:nvSpPr>
        <p:spPr>
          <a:xfrm>
            <a:off x="1138200" y="1763063"/>
            <a:ext cx="106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"use strict"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user = Object.freeze({ name: 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"Alice"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, age: 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30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});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c0392b"/>
                </a:solidFill>
              </a:rPr>
              <a:t>const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older = { ...user, age: 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31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 };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/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JetBrains Mono"/>
              <a:ea typeface="JetBrains Mono"/>
              <a:cs typeface="JetBrains Mono"/>
              <a:sym typeface="JetBrains Mono"/>
            </a:endParaRP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user.age = 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7f8c8d"/>
                </a:solidFill>
              </a:rPr>
              <a:t>31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1a1a1a"/>
                </a:solidFill>
              </a:rPr>
              <a:t>;  </a:t>
            </a:r>
            <a:r>
              <a:rPr lang="ru-RU" altLang="en-US" sz="2000">
                <a:latin typeface="JetBrains Mono"/>
                <a:ea typeface="JetBrains Mono"/>
                <a:cs typeface="JetBrains Mono"/>
                <a:sym typeface="JetBrains Mono"/>
                <a:solidFill>
                  <a:srgbClr val="95a5a6"/>
                </a:solidFill>
              </a:rPr>
              <a:t>// TypeError: Cannot assign to read only property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9141108f_0_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4" name="Google Shape;124;g3d09141108f_0_33"/>
          <p:cNvSpPr txBox="1"/>
          <p:nvPr>
            <p:ph idx="1" type="body"/>
          </p:nvPr>
        </p:nvSpPr>
        <p:spPr>
          <a:xfrm>
            <a:off x="838198" y="300000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Итог: пять свойств × пять языков</a:t>
            </a:r>
          </a:p>
        </p:txBody>
      </p:sp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838200" y="1400000"/>
          <a:ext cx="109425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1488500"/>
                <a:gridCol w="1488500"/>
                <a:gridCol w="1488500"/>
                <a:gridCol w="1488500"/>
                <a:gridCol w="1488500"/>
              </a:tblGrid>
              <a:tr h="716666">
                <a:tc>
                  <a:txBody>
                    <a:bodyPr wrap="none"/>
                    <a:lstStyle/>
                    <a:p>
                      <a:pPr algn="l"/>
                      <a:r>
                        <a:rPr b="0" sz="1600">
                          <a:solidFill>
                            <a:srgbClr val="1A1A1A"/>
                          </a:solidFill>
                        </a:rPr>
                        <a:t>Свойство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600">
                          <a:solidFill>
                            <a:srgbClr val="1A1A1A"/>
                          </a:solidFill>
                        </a:rPr>
                        <a:t>OCaml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600">
                          <a:solidFill>
                            <a:srgbClr val="1A1A1A"/>
                          </a:solidFill>
                        </a:rPr>
                        <a:t>Scala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600">
                          <a:solidFill>
                            <a:srgbClr val="1A1A1A"/>
                          </a:solidFill>
                        </a:rPr>
                        <a:t>Rust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600">
                          <a:solidFill>
                            <a:srgbClr val="1A1A1A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600">
                          <a:solidFill>
                            <a:srgbClr val="1A1A1A"/>
                          </a:solidFill>
                        </a:rPr>
                        <a:t>JS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6666">
                <a:tc>
                  <a:txBody>
                    <a:bodyPr wrap="none"/>
                    <a:lstStyle/>
                    <a:p>
                      <a:pPr algn="l"/>
                      <a:r>
                        <a:rPr b="0" sz="1700">
                          <a:solidFill>
                            <a:srgbClr val="1A1A1A"/>
                          </a:solidFill>
                        </a:rPr>
                        <a:t>Декларативность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++</a:t>
                      </a:r>
                    </a:p>
                  </a:txBody>
                  <a:tcPr/>
                </a:tc>
              </a:tr>
              <a:tr h="716666">
                <a:tc>
                  <a:txBody>
                    <a:bodyPr wrap="none"/>
                    <a:lstStyle/>
                    <a:p>
                      <a:pPr algn="l"/>
                      <a:r>
                        <a:rPr b="0" sz="1700">
                          <a:solidFill>
                            <a:srgbClr val="1A1A1A"/>
                          </a:solidFill>
                        </a:rPr>
                        <a:t>Выражения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</a:t>
                      </a:r>
                    </a:p>
                  </a:txBody>
                  <a:tcPr/>
                </a:tc>
              </a:tr>
              <a:tr h="716666">
                <a:tc>
                  <a:txBody>
                    <a:bodyPr wrap="none"/>
                    <a:lstStyle/>
                    <a:p>
                      <a:pPr algn="l"/>
                      <a:r>
                        <a:rPr b="0" sz="1700">
                          <a:solidFill>
                            <a:srgbClr val="1A1A1A"/>
                          </a:solidFill>
                        </a:rPr>
                        <a:t>Функции как значения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</a:tr>
              <a:tr h="716666">
                <a:tc>
                  <a:txBody>
                    <a:bodyPr wrap="none"/>
                    <a:lstStyle/>
                    <a:p>
                      <a:pPr algn="l"/>
                      <a:r>
                        <a:rPr b="0" sz="1700">
                          <a:solidFill>
                            <a:srgbClr val="1A1A1A"/>
                          </a:solidFill>
                        </a:rPr>
                        <a:t>Ссылочная прозрачность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</a:t>
                      </a:r>
                    </a:p>
                  </a:txBody>
                  <a:tcPr/>
                </a:tc>
              </a:tr>
              <a:tr h="716670">
                <a:tc>
                  <a:txBody>
                    <a:bodyPr wrap="none"/>
                    <a:lstStyle/>
                    <a:p>
                      <a:pPr algn="l"/>
                      <a:r>
                        <a:rPr b="0" sz="1700">
                          <a:solidFill>
                            <a:srgbClr val="1A1A1A"/>
                          </a:solidFill>
                        </a:rPr>
                        <a:t>Иммутабельность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700">
                          <a:solidFill>
                            <a:srgbClr val="1A1A1A"/>
                          </a:solidFill>
                        </a:rPr>
                        <a:t>+++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700">
                          <a:solidFill>
                            <a:srgbClr val="1A1A1A"/>
                          </a:solidFill>
                        </a:rPr>
                        <a:t>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6" name="TextBox 125"/>
          <p:cNvSpPr txBox="1"/>
          <p:nvPr/>
        </p:nvSpPr>
        <p:spPr>
          <a:xfrm>
            <a:off x="838200" y="5780000"/>
            <a:ext cx="109425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</a:rPr>
              <a:t>+++</a:t>
            </a:r>
            <a:r>
              <a:rPr sz="1300" b="0">
                <a:solidFill>
                  <a:srgbClr val="555555"/>
                </a:solidFill>
              </a:rPr>
              <a:t> — в дизайне языка, идиоматично     </a:t>
            </a:r>
            <a:r>
              <a:rPr sz="1300" b="1">
                <a:solidFill>
                  <a:srgbClr val="555555"/>
                </a:solidFill>
              </a:rPr>
              <a:t>++</a:t>
            </a:r>
            <a:r>
              <a:rPr sz="1300" b="0">
                <a:solidFill>
                  <a:srgbClr val="555555"/>
                </a:solidFill>
              </a:rPr>
              <a:t> — поддерживается, требует дисциплины     </a:t>
            </a:r>
            <a:r>
              <a:rPr sz="1300" b="1">
                <a:solidFill>
                  <a:srgbClr val="555555"/>
                </a:solidFill>
              </a:rPr>
              <a:t>+</a:t>
            </a:r>
            <a:r>
              <a:rPr sz="1300" b="0">
                <a:solidFill>
                  <a:srgbClr val="555555"/>
                </a:solidFill>
              </a:rPr>
              <a:t> — возможно, но нетипично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9141108f_0_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8" name="Google Shape;138;g3d09141108f_0_73"/>
          <p:cNvSpPr txBox="1"/>
          <p:nvPr>
            <p:ph idx="1" type="body"/>
          </p:nvPr>
        </p:nvSpPr>
        <p:spPr>
          <a:xfrm>
            <a:off x="838198" y="543878"/>
            <a:ext cx="10942500" cy="121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Задание на дом</a:t>
            </a:r>
          </a:p>
        </p:txBody>
      </p:sp>
      <p:sp>
        <p:nvSpPr>
          <p:cNvPr id="139" name="Google Shape;139;g3d09141108f_0_73"/>
          <p:cNvSpPr txBox="1"/>
          <p:nvPr>
            <p:ph idx="2" type="body"/>
          </p:nvPr>
        </p:nvSpPr>
        <p:spPr>
          <a:xfrm>
            <a:off x="838200" y="2170113"/>
            <a:ext cx="10942500" cy="32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ru-RU"/>
              <a:t>Какие из пяти свойств присутствуют в вашем текущем проекте?</a:t>
            </a: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ru-RU"/>
              <a:t>Какие из них язык гарантирует by design, а какие — только конвенцией?</a:t>
            </a: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ru-RU"/>
              <a:t>Где явная иммутабельность или декларативный стиль снизили бы когнитивную нагрузку в последнем PR?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6096000" y="1594852"/>
            <a:ext cx="5241925" cy="106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1" lang="ru-RU" sz="4400">
                <a:solidFill>
                  <a:schemeClr val="dk1"/>
                </a:solidFill>
              </a:rPr>
              <a:t>Павел Аргентов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6110607" y="3239501"/>
            <a:ext cx="5241925" cy="2097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Tg: @</a:t>
            </a:r>
            <a:r>
              <a:rPr i="1" lang="ru-RU" sz="2800">
                <a:solidFill>
                  <a:schemeClr val="dk1"/>
                </a:solidFill>
              </a:rPr>
              <a:t>argent_smith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954" y="810796"/>
            <a:ext cx="4857410" cy="4857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2024-06-10T09:01:31Z</dcterms:created>
  <dc:creator>Мария Теутул</dc:creator>
</cp:coreProperties>
</file>
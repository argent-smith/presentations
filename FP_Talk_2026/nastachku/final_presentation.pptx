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firstSlideNum="2" strictFirstAndLastChars="0" saveSubsetFonts="1" showSpecialPlsOnTitleSld="0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70" r:id="rId30"/>
    <p:sldId id="271" r:id="rId31"/>
    <p:sldId id="278" r:id="rId37"/>
    <p:sldId id="277" r:id="rId32"/>
    <p:sldId id="273" r:id="rId33"/>
    <p:sldId id="274" r:id="rId34"/>
    <p:sldId id="275" r:id="rId35"/>
    <p:sldId id="276" r:id="rId36"/>
    <p:sldId id="279" r:id="rId38"/>
    <p:sldId id="280" r:id="rId39"/>
    <p:sldId id="281" r:id="rId40"/>
    <p:sldId id="282" r:id="rId41"/>
    <p:sldId id="283" r:id="rId42"/>
    <p:sldId id="284" r:id="rId43"/>
    <p:sldId id="290" r:id="rId49"/>
    <p:sldId id="291" r:id="rId50"/>
    <p:sldId id="292" r:id="rId51"/>
    <p:sldId id="293" r:id="rId52"/>
    <p:sldId id="294" r:id="rId53"/>
    <p:sldId id="295" r:id="rId54"/>
  </p:sldIdLst>
  <p:sldSz cy="6858000" cx="12192000"/>
  <p:notesSz cx="12192000" cy="6858000"/>
  <p:embeddedFontLst>
    <p:embeddedFont>
      <p:font typeface="Montserrat"/>
      <p:regular r:id="rId21"/>
      <p:bold r:id="rId22"/>
      <p:italic r:id="rId23"/>
      <p:boldItalic r:id="rId24"/>
    </p:embeddedFont>
    <p:embeddedFont>
      <p:font typeface="JetBrains Mono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GoogleSlidesCustomDataVersion2">
      <go:slidesCustomData xmlns:go="http://customooxmlschemas.google.com/" r:id="rId29" roundtripDataSignature="AMtx7mhrXinYKcKLXS9HgmKw9A2enWgd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BDF0169-250F-49E1-8410-1719DFD9D788}">
  <a:tblStyle styleId="{DBDF0169-250F-49E1-8410-1719DFD9D78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840"/>
        <p:guide pos="216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31.xml"/><Relationship Id="rId21" Type="http://schemas.openxmlformats.org/officeDocument/2006/relationships/font" Target="fonts/Montserrat-regular.fntdata"/><Relationship Id="rId22" Type="http://schemas.openxmlformats.org/officeDocument/2006/relationships/font" Target="fonts/Montserrat-bold.fntdata"/><Relationship Id="rId23" Type="http://schemas.openxmlformats.org/officeDocument/2006/relationships/font" Target="fonts/Montserrat-italic.fntdata"/><Relationship Id="rId24" Type="http://schemas.openxmlformats.org/officeDocument/2006/relationships/font" Target="fonts/Montserrat-boldItalic.fntdata"/><Relationship Id="rId25" Type="http://schemas.openxmlformats.org/officeDocument/2006/relationships/font" Target="fonts/JetBrainsMono-regular.fntdata"/><Relationship Id="rId26" Type="http://schemas.openxmlformats.org/officeDocument/2006/relationships/font" Target="fonts/JetBrainsMono-bold.fntdata"/><Relationship Id="rId27" Type="http://schemas.openxmlformats.org/officeDocument/2006/relationships/font" Target="fonts/JetBrainsMono-italic.fntdata"/><Relationship Id="rId28" Type="http://schemas.openxmlformats.org/officeDocument/2006/relationships/font" Target="fonts/JetBrainsMono-boldItalic.fntdata"/><Relationship Id="rId29" Type="http://customschemas.google.com/relationships/presentationmetadata" Target="metadata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16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28.xml"/><Relationship Id="rId47" Type="http://schemas.openxmlformats.org/officeDocument/2006/relationships/slide" Target="slides/slide30.xml"/><Relationship Id="rId48" Type="http://schemas.openxmlformats.org/officeDocument/2006/relationships/slide" Target="slides/slide32.xml"/><Relationship Id="rId49" Type="http://schemas.openxmlformats.org/officeDocument/2006/relationships/slide" Target="slides/slide28.xml"/><Relationship Id="rId50" Type="http://schemas.openxmlformats.org/officeDocument/2006/relationships/slide" Target="slides/slide29.xml"/><Relationship Id="rId51" Type="http://schemas.openxmlformats.org/officeDocument/2006/relationships/slide" Target="slides/slide30.xml"/><Relationship Id="rId52" Type="http://schemas.openxmlformats.org/officeDocument/2006/relationships/slide" Target="slides/slide31.xml"/><Relationship Id="rId53" Type="http://schemas.openxmlformats.org/officeDocument/2006/relationships/slide" Target="slides/slide32.xml"/><Relationship Id="rId54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09141108f_0_5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d09141108f_0_5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09141108f_0_20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09141108f_0_20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09141108f_0_27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09141108f_0_27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09141108f_0_33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d09141108f_0_33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09141108f_0_40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09141108f_0_40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09141108f_0_73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09141108f_0_73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09141108f_0_46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09141108f_0_46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d09141108f_0_54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d09141108f_0_54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09141108f_0_60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09141108f_0_60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09141108f_0_67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d09141108f_0_67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d09141108f_0_79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d09141108f_0_79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_digital marketing">
  <p:cSld name="Титульный слайд_digital marketing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8"/>
          <p:cNvSpPr txBox="1"/>
          <p:nvPr>
            <p:ph idx="1" type="body"/>
          </p:nvPr>
        </p:nvSpPr>
        <p:spPr>
          <a:xfrm>
            <a:off x="546100" y="2482151"/>
            <a:ext cx="3301207" cy="281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2" type="body"/>
          </p:nvPr>
        </p:nvSpPr>
        <p:spPr>
          <a:xfrm>
            <a:off x="546100" y="3295300"/>
            <a:ext cx="3301207" cy="281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3" type="body"/>
          </p:nvPr>
        </p:nvSpPr>
        <p:spPr>
          <a:xfrm>
            <a:off x="546100" y="4108450"/>
            <a:ext cx="4857750" cy="16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1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4" type="body"/>
          </p:nvPr>
        </p:nvSpPr>
        <p:spPr>
          <a:xfrm>
            <a:off x="546100" y="2888725"/>
            <a:ext cx="3301207" cy="281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" name="Google Shape;11;p8"/>
          <p:cNvSpPr/>
          <p:nvPr/>
        </p:nvSpPr>
        <p:spPr>
          <a:xfrm>
            <a:off x="257177" y="242888"/>
            <a:ext cx="8191054" cy="6329362"/>
          </a:xfrm>
          <a:custGeom>
            <a:rect b="b" l="l" r="r" t="t"/>
            <a:pathLst>
              <a:path extrusionOk="0" h="6329362" w="9626703">
                <a:moveTo>
                  <a:pt x="0" y="218426"/>
                </a:moveTo>
                <a:cubicBezTo>
                  <a:pt x="0" y="97793"/>
                  <a:pt x="97793" y="0"/>
                  <a:pt x="218426" y="0"/>
                </a:cubicBezTo>
                <a:lnTo>
                  <a:pt x="9453418" y="27501"/>
                </a:lnTo>
                <a:cubicBezTo>
                  <a:pt x="9574051" y="27501"/>
                  <a:pt x="9677451" y="149575"/>
                  <a:pt x="9599836" y="310848"/>
                </a:cubicBezTo>
                <a:lnTo>
                  <a:pt x="7233444" y="6110936"/>
                </a:lnTo>
                <a:cubicBezTo>
                  <a:pt x="7168705" y="6281145"/>
                  <a:pt x="7135651" y="6329362"/>
                  <a:pt x="7015018" y="6329362"/>
                </a:cubicBezTo>
                <a:lnTo>
                  <a:pt x="218426" y="6329362"/>
                </a:lnTo>
                <a:cubicBezTo>
                  <a:pt x="97793" y="6329362"/>
                  <a:pt x="0" y="6231569"/>
                  <a:pt x="0" y="6110936"/>
                </a:cubicBezTo>
                <a:lnTo>
                  <a:pt x="0" y="218426"/>
                </a:lnTo>
                <a:close/>
              </a:path>
            </a:pathLst>
          </a:cu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2;p8"/>
          <p:cNvSpPr/>
          <p:nvPr/>
        </p:nvSpPr>
        <p:spPr>
          <a:xfrm rot="10800000">
            <a:off x="14758156" y="285750"/>
            <a:ext cx="5007616" cy="6329362"/>
          </a:xfrm>
          <a:custGeom>
            <a:rect b="b" l="l" r="r" t="t"/>
            <a:pathLst>
              <a:path extrusionOk="0" h="6329362" w="9609213">
                <a:moveTo>
                  <a:pt x="0" y="218426"/>
                </a:moveTo>
                <a:cubicBezTo>
                  <a:pt x="0" y="97793"/>
                  <a:pt x="97793" y="0"/>
                  <a:pt x="218426" y="0"/>
                </a:cubicBezTo>
                <a:lnTo>
                  <a:pt x="9453418" y="27501"/>
                </a:lnTo>
                <a:cubicBezTo>
                  <a:pt x="9574051" y="27501"/>
                  <a:pt x="9656582" y="114064"/>
                  <a:pt x="9578967" y="275337"/>
                </a:cubicBezTo>
                <a:lnTo>
                  <a:pt x="5771228" y="6068264"/>
                </a:lnTo>
                <a:cubicBezTo>
                  <a:pt x="5665948" y="6237665"/>
                  <a:pt x="5486270" y="6304978"/>
                  <a:pt x="5365637" y="6304978"/>
                </a:cubicBezTo>
                <a:lnTo>
                  <a:pt x="218426" y="6329362"/>
                </a:lnTo>
                <a:cubicBezTo>
                  <a:pt x="97793" y="6329362"/>
                  <a:pt x="0" y="6231569"/>
                  <a:pt x="0" y="6110936"/>
                </a:cubicBezTo>
                <a:lnTo>
                  <a:pt x="0" y="218426"/>
                </a:lnTo>
                <a:close/>
              </a:path>
            </a:pathLst>
          </a:cu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8"/>
          <p:cNvSpPr txBox="1"/>
          <p:nvPr>
            <p:ph idx="5" type="body"/>
          </p:nvPr>
        </p:nvSpPr>
        <p:spPr>
          <a:xfrm>
            <a:off x="6658813" y="250238"/>
            <a:ext cx="5193461" cy="6322011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4" name="Google Shape;14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46100" y="699504"/>
            <a:ext cx="3524660" cy="386346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8"/>
          <p:cNvSpPr txBox="1"/>
          <p:nvPr>
            <p:ph idx="6" type="body"/>
          </p:nvPr>
        </p:nvSpPr>
        <p:spPr>
          <a:xfrm>
            <a:off x="546100" y="1261418"/>
            <a:ext cx="3728945" cy="281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ользовательский макет">
  <p:cSld name="Пользовательский макет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"/>
          <p:cNvSpPr txBox="1"/>
          <p:nvPr>
            <p:ph type="title"/>
          </p:nvPr>
        </p:nvSpPr>
        <p:spPr>
          <a:xfrm>
            <a:off x="1264023" y="1386859"/>
            <a:ext cx="469752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19" name="Google Shape;19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838198" y="1070532"/>
            <a:ext cx="5831541" cy="4716934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9"/>
          <p:cNvSpPr txBox="1"/>
          <p:nvPr>
            <p:ph idx="1" type="body"/>
          </p:nvPr>
        </p:nvSpPr>
        <p:spPr>
          <a:xfrm>
            <a:off x="6907212" y="1069975"/>
            <a:ext cx="4446587" cy="4718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1" name="Google Shape;2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 спикере">
  <p:cSld name="о спикере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3341271">
            <a:off x="-5029016" y="-1390831"/>
            <a:ext cx="12017003" cy="11231655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5" name="Google Shape;25;p10"/>
          <p:cNvSpPr txBox="1"/>
          <p:nvPr>
            <p:ph idx="1" type="body"/>
          </p:nvPr>
        </p:nvSpPr>
        <p:spPr>
          <a:xfrm>
            <a:off x="831476" y="1387929"/>
            <a:ext cx="3886200" cy="36412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" name="Google Shape;26;p10"/>
          <p:cNvSpPr txBox="1"/>
          <p:nvPr>
            <p:ph type="title"/>
          </p:nvPr>
        </p:nvSpPr>
        <p:spPr>
          <a:xfrm>
            <a:off x="6656280" y="1138465"/>
            <a:ext cx="469752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10"/>
          <p:cNvSpPr txBox="1"/>
          <p:nvPr>
            <p:ph idx="2" type="body"/>
          </p:nvPr>
        </p:nvSpPr>
        <p:spPr>
          <a:xfrm>
            <a:off x="6656280" y="2776765"/>
            <a:ext cx="4697520" cy="25136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 слайд (для контактов)">
  <p:cSld name="пустой слайд (для контактов)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бъект с подписью">
  <p:cSld name="Объект с подписью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5"/>
          <p:cNvSpPr txBox="1"/>
          <p:nvPr>
            <p:ph idx="1" type="body"/>
          </p:nvPr>
        </p:nvSpPr>
        <p:spPr>
          <a:xfrm>
            <a:off x="623888" y="522951"/>
            <a:ext cx="10942637" cy="12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объект">
  <p:cSld name="Заголовок и объект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838200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1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36" name="Google Shape;36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главная мысль, разделитель">
  <p:cSld name="главная мысль, разделитель">
    <p:bg>
      <p:bgPr>
        <a:solidFill>
          <a:schemeClr val="dk1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7"/>
          <p:cNvSpPr txBox="1"/>
          <p:nvPr>
            <p:ph type="title"/>
          </p:nvPr>
        </p:nvSpPr>
        <p:spPr>
          <a:xfrm>
            <a:off x="838200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Montserrat"/>
              <a:buNone/>
              <a:defRPr b="1" i="0" sz="44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40" name="Google Shape;40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Пользовательский макет">
  <p:cSld name="1_Пользовательский макет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8"/>
          <p:cNvSpPr txBox="1"/>
          <p:nvPr>
            <p:ph type="title"/>
          </p:nvPr>
        </p:nvSpPr>
        <p:spPr>
          <a:xfrm>
            <a:off x="6656280" y="1138465"/>
            <a:ext cx="469752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3" name="Google Shape;43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44" name="Google Shape;44;p18"/>
          <p:cNvSpPr txBox="1"/>
          <p:nvPr>
            <p:ph idx="1" type="body"/>
          </p:nvPr>
        </p:nvSpPr>
        <p:spPr>
          <a:xfrm>
            <a:off x="6656280" y="2776765"/>
            <a:ext cx="4697520" cy="25136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45" name="Google Shape;45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-3451198" y="-3008288"/>
            <a:ext cx="9869707" cy="922469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Два объекта">
  <p:cSld name="Два объекта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9"/>
          <p:cNvSpPr txBox="1"/>
          <p:nvPr>
            <p:ph idx="1" type="body"/>
          </p:nvPr>
        </p:nvSpPr>
        <p:spPr>
          <a:xfrm>
            <a:off x="838198" y="543878"/>
            <a:ext cx="10942637" cy="12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50" name="Google Shape;50;p19"/>
          <p:cNvSpPr txBox="1"/>
          <p:nvPr>
            <p:ph idx="2" type="body"/>
          </p:nvPr>
        </p:nvSpPr>
        <p:spPr>
          <a:xfrm>
            <a:off x="838200" y="2170113"/>
            <a:ext cx="10942638" cy="325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51" name="Google Shape;51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Картинка + текст + рупоры">
  <p:cSld name="Картинка + текст + рупоры">
    <p:bg>
      <p:bgPr>
        <a:solidFill>
          <a:schemeClr val="dk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2"/>
          <p:cNvSpPr txBox="1"/>
          <p:nvPr>
            <p:ph type="title"/>
          </p:nvPr>
        </p:nvSpPr>
        <p:spPr>
          <a:xfrm>
            <a:off x="838200" y="365126"/>
            <a:ext cx="7086035" cy="1144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54" name="Google Shape;54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4222607" y="1847684"/>
            <a:ext cx="13776785" cy="12876428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-5400001">
            <a:off x="5833197" y="-2121764"/>
            <a:ext cx="13776785" cy="12876428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1" type="body"/>
          </p:nvPr>
        </p:nvSpPr>
        <p:spPr>
          <a:xfrm>
            <a:off x="838200" y="3740242"/>
            <a:ext cx="4371975" cy="1998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7" name="Google Shape;57;p12"/>
          <p:cNvSpPr/>
          <p:nvPr>
            <p:ph idx="2" type="pic"/>
          </p:nvPr>
        </p:nvSpPr>
        <p:spPr>
          <a:xfrm>
            <a:off x="7924235" y="2017805"/>
            <a:ext cx="3429565" cy="37211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59" name="Google Shape;5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Картинка + текст">
  <p:cSld name="Картинка + текст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62" name="Google Shape;62;p20"/>
          <p:cNvSpPr/>
          <p:nvPr>
            <p:ph idx="2" type="pic"/>
          </p:nvPr>
        </p:nvSpPr>
        <p:spPr>
          <a:xfrm>
            <a:off x="838200" y="495300"/>
            <a:ext cx="5543550" cy="5543550"/>
          </a:xfrm>
          <a:prstGeom prst="rect">
            <a:avLst/>
          </a:prstGeom>
          <a:noFill/>
          <a:ln>
            <a:noFill/>
          </a:ln>
        </p:spPr>
      </p:sp>
      <p:sp>
        <p:nvSpPr>
          <p:cNvPr id="63" name="Google Shape;63;p20"/>
          <p:cNvSpPr txBox="1"/>
          <p:nvPr>
            <p:ph type="title"/>
          </p:nvPr>
        </p:nvSpPr>
        <p:spPr>
          <a:xfrm>
            <a:off x="6656280" y="495300"/>
            <a:ext cx="469752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20"/>
          <p:cNvSpPr txBox="1"/>
          <p:nvPr>
            <p:ph idx="1" type="body"/>
          </p:nvPr>
        </p:nvSpPr>
        <p:spPr>
          <a:xfrm>
            <a:off x="6656280" y="2172153"/>
            <a:ext cx="4697520" cy="25136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1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65" name="Google Shape;65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много картинок">
  <p:cSld name="Заголовок + много картинок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1"/>
          <p:cNvSpPr/>
          <p:nvPr>
            <p:ph idx="2" type="pic"/>
          </p:nvPr>
        </p:nvSpPr>
        <p:spPr>
          <a:xfrm>
            <a:off x="623888" y="1741488"/>
            <a:ext cx="2641600" cy="3989387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69" name="Google Shape;69;p21"/>
          <p:cNvSpPr txBox="1"/>
          <p:nvPr>
            <p:ph idx="1" type="body"/>
          </p:nvPr>
        </p:nvSpPr>
        <p:spPr>
          <a:xfrm>
            <a:off x="623889" y="522951"/>
            <a:ext cx="10729912" cy="12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0" name="Google Shape;70;p21"/>
          <p:cNvSpPr/>
          <p:nvPr>
            <p:ph idx="3" type="pic"/>
          </p:nvPr>
        </p:nvSpPr>
        <p:spPr>
          <a:xfrm>
            <a:off x="3453606" y="1741488"/>
            <a:ext cx="2641600" cy="3989387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21"/>
          <p:cNvSpPr/>
          <p:nvPr>
            <p:ph idx="4" type="pic"/>
          </p:nvPr>
        </p:nvSpPr>
        <p:spPr>
          <a:xfrm>
            <a:off x="6283325" y="1741488"/>
            <a:ext cx="2641600" cy="3989387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21"/>
          <p:cNvSpPr/>
          <p:nvPr>
            <p:ph idx="5" type="pic"/>
          </p:nvPr>
        </p:nvSpPr>
        <p:spPr>
          <a:xfrm>
            <a:off x="9113044" y="1741488"/>
            <a:ext cx="2641600" cy="3989387"/>
          </a:xfrm>
          <a:prstGeom prst="rect">
            <a:avLst/>
          </a:prstGeom>
          <a:noFill/>
          <a:ln>
            <a:noFill/>
          </a:ln>
        </p:spPr>
      </p:sp>
      <p:pic>
        <p:nvPicPr>
          <p:cNvPr id="73" name="Google Shape;73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блока текста (без элементов)">
  <p:cSld name="Заголовок + 2 блока текста (без элементов)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>
            <a:off x="623888" y="522951"/>
            <a:ext cx="10942637" cy="12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7" name="Google Shape;77;p22"/>
          <p:cNvSpPr txBox="1"/>
          <p:nvPr>
            <p:ph idx="2" type="body"/>
          </p:nvPr>
        </p:nvSpPr>
        <p:spPr>
          <a:xfrm>
            <a:off x="623888" y="2170112"/>
            <a:ext cx="5070329" cy="3176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8" name="Google Shape;78;p22"/>
          <p:cNvSpPr txBox="1"/>
          <p:nvPr>
            <p:ph idx="3" type="body"/>
          </p:nvPr>
        </p:nvSpPr>
        <p:spPr>
          <a:xfrm>
            <a:off x="6496196" y="2170113"/>
            <a:ext cx="5070329" cy="3176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79" name="Google Shape;79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evrone.r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idx="1" type="body"/>
          </p:nvPr>
        </p:nvSpPr>
        <p:spPr>
          <a:xfrm>
            <a:off x="575250" y="4794051"/>
            <a:ext cx="3301200" cy="2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</a:pPr>
            <a:r>
              <a:rPr lang="ru-RU"/>
              <a:t>Павел Аргентов</a:t>
            </a:r>
            <a:endParaRPr/>
          </a:p>
        </p:txBody>
      </p:sp>
      <p:sp>
        <p:nvSpPr>
          <p:cNvPr id="85" name="Google Shape;85;p1"/>
          <p:cNvSpPr txBox="1"/>
          <p:nvPr>
            <p:ph idx="2" type="body"/>
          </p:nvPr>
        </p:nvSpPr>
        <p:spPr>
          <a:xfrm>
            <a:off x="575250" y="5607200"/>
            <a:ext cx="3301200" cy="2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</a:pPr>
            <a:r>
              <a:rPr lang="ru-RU"/>
              <a:t>FP Guru</a:t>
            </a:r>
            <a:endParaRPr/>
          </a:p>
        </p:txBody>
      </p:sp>
      <p:sp>
        <p:nvSpPr>
          <p:cNvPr id="86" name="Google Shape;86;p1"/>
          <p:cNvSpPr txBox="1"/>
          <p:nvPr>
            <p:ph idx="3" type="body"/>
          </p:nvPr>
        </p:nvSpPr>
        <p:spPr>
          <a:xfrm>
            <a:off x="575250" y="1680900"/>
            <a:ext cx="48645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</a:pPr>
            <a:r>
              <a:rPr lang="ru-RU" sz="3500"/>
              <a:t>Древняя магия каждый день</a:t>
            </a:r>
            <a:endParaRPr sz="3500"/>
          </a:p>
        </p:txBody>
      </p:sp>
      <p:sp>
        <p:nvSpPr>
          <p:cNvPr id="87" name="Google Shape;87;p1"/>
          <p:cNvSpPr txBox="1"/>
          <p:nvPr>
            <p:ph idx="4" type="body"/>
          </p:nvPr>
        </p:nvSpPr>
        <p:spPr>
          <a:xfrm>
            <a:off x="575250" y="5200625"/>
            <a:ext cx="3301200" cy="2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</a:pPr>
            <a:r>
              <a:rPr lang="ru-RU"/>
              <a:t>Evrone.ru</a:t>
            </a:r>
            <a:endParaRPr/>
          </a:p>
        </p:txBody>
      </p:sp>
      <p:pic>
        <p:nvPicPr>
          <p:cNvPr id="88" name="Google Shape;8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5043" y="531014"/>
            <a:ext cx="1741910" cy="174191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"/>
          <p:cNvSpPr txBox="1"/>
          <p:nvPr>
            <p:ph idx="4" type="body"/>
          </p:nvPr>
        </p:nvSpPr>
        <p:spPr>
          <a:xfrm>
            <a:off x="575250" y="2997000"/>
            <a:ext cx="5126700" cy="8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</a:pPr>
            <a:r>
              <a:rPr lang="ru-RU" sz="1800"/>
              <a:t>Пять принципов FP в пяти языках</a:t>
            </a:r>
            <a:endParaRPr sz="1800"/>
          </a:p>
        </p:txBody>
      </p:sp>
      <p:sp>
        <p:nvSpPr>
          <p:cNvPr id="90" name="Google Shape;90;p1"/>
          <p:cNvSpPr txBox="1"/>
          <p:nvPr>
            <p:ph idx="2" type="body"/>
          </p:nvPr>
        </p:nvSpPr>
        <p:spPr>
          <a:xfrm>
            <a:off x="8722150" y="6296875"/>
            <a:ext cx="3301200" cy="2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</a:pPr>
            <a:r>
              <a:rPr b="1" lang="ru-RU"/>
              <a:t>2026</a:t>
            </a:r>
            <a:endParaRPr b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 txBox="1"/>
          <p:nvPr>
            <p:ph type="title"/>
          </p:nvPr>
        </p:nvSpPr>
        <p:spPr>
          <a:xfrm>
            <a:off x="6656280" y="1138465"/>
            <a:ext cx="46974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</a:pPr>
            <a:r>
              <a:rPr lang="ru-RU"/>
              <a:t>Павел Аргентов</a:t>
            </a:r>
            <a:endParaRPr/>
          </a:p>
        </p:txBody>
      </p:sp>
      <p:sp>
        <p:nvSpPr>
          <p:cNvPr id="96" name="Google Shape;96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ru-RU"/>
              <a:t>2</a:t>
            </a:r>
            <a:endParaRPr/>
          </a:p>
        </p:txBody>
      </p:sp>
      <p:sp>
        <p:nvSpPr>
          <p:cNvPr id="97" name="Google Shape;97;p2"/>
          <p:cNvSpPr txBox="1"/>
          <p:nvPr>
            <p:ph idx="1" type="body"/>
          </p:nvPr>
        </p:nvSpPr>
        <p:spPr>
          <a:xfrm>
            <a:off x="831476" y="1387929"/>
            <a:ext cx="3886200" cy="364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/>
          </a:p>
        </p:txBody>
      </p:sp>
      <p:sp>
        <p:nvSpPr>
          <p:cNvPr id="98" name="Google Shape;98;p2"/>
          <p:cNvSpPr txBox="1"/>
          <p:nvPr>
            <p:ph idx="2" type="body"/>
          </p:nvPr>
        </p:nvSpPr>
        <p:spPr>
          <a:xfrm>
            <a:off x="6656280" y="2776765"/>
            <a:ext cx="4697400" cy="25137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1000" lvl="0" marL="457200" rtl="0" algn="l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ru-RU"/>
              <a:t>много опыта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ru-RU"/>
              <a:t>разрабатывал всё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ru-RU"/>
              <a:t>FP с 2002 г.</a:t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ru-RU">
                <a:uFill>
                  <a:noFill/>
                </a:uFill>
                <a:hlinkClick r:id="rId3"/>
              </a:rPr>
              <a:t>Evrone.ru</a:t>
            </a:r>
            <a:r>
              <a:rPr b="1" lang="ru-RU"/>
              <a:t>:</a:t>
            </a:r>
            <a:r>
              <a:rPr lang="ru-RU"/>
              <a:t> разработка разработчиков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09141108f_0_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3</a:t>
            </a:r>
            <a:endParaRPr/>
          </a:p>
        </p:txBody>
      </p:sp>
      <p:sp>
        <p:nvSpPr>
          <p:cNvPr id="104" name="Google Shape;104;g3d09141108f_0_5"/>
          <p:cNvSpPr txBox="1"/>
          <p:nvPr>
            <p:ph idx="1" type="body"/>
          </p:nvPr>
        </p:nvSpPr>
        <p:spPr>
          <a:xfrm>
            <a:off x="6096000" y="270600"/>
            <a:ext cx="5818500" cy="15555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ru-RU"/>
              <a:t>ФП:</a:t>
            </a:r>
            <a:r>
              <a:rPr lang="ru-RU"/>
              <a:t> п</a:t>
            </a:r>
            <a:r>
              <a:rPr lang="ru-RU"/>
              <a:t>ять ĸонĸретных свойств ĸода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ru-RU"/>
              <a:t>Смысл:</a:t>
            </a:r>
            <a:r>
              <a:rPr lang="ru-RU"/>
              <a:t> описание результата, а не миĸроменеджмент процесса.</a:t>
            </a:r>
            <a:endParaRPr/>
          </a:p>
        </p:txBody>
      </p:sp>
      <p:sp>
        <p:nvSpPr>
          <p:cNvPr id="105" name="Google Shape;105;g3d09141108f_0_5"/>
          <p:cNvSpPr txBox="1"/>
          <p:nvPr>
            <p:ph idx="1" type="body"/>
          </p:nvPr>
        </p:nvSpPr>
        <p:spPr>
          <a:xfrm>
            <a:off x="5400925" y="3910275"/>
            <a:ext cx="6513600" cy="2335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JetBrains Mono"/>
              <a:buChar char="●"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[1,2,3].map(x =&gt; x * 2)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JetBrains Mono"/>
              <a:buChar char="●"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const add = x =&gt; y =&gt; x + y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JetBrains Mono"/>
              <a:buChar char="●"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const x = 1; x = 2 // TypeError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09141108f_0_20"/>
          <p:cNvSpPr txBox="1"/>
          <p:nvPr>
            <p:ph type="title"/>
          </p:nvPr>
        </p:nvSpPr>
        <p:spPr>
          <a:xfrm>
            <a:off x="458801" y="497350"/>
            <a:ext cx="3795900" cy="13257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Пять языков</a:t>
            </a:r>
            <a:endParaRPr/>
          </a:p>
        </p:txBody>
      </p:sp>
      <p:sp>
        <p:nvSpPr>
          <p:cNvPr id="111" name="Google Shape;111;g3d09141108f_0_2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graphicFrame>
        <p:nvGraphicFramePr>
          <p:cNvPr id="112" name="Google Shape;112;g3d09141108f_0_20"/>
          <p:cNvGraphicFramePr/>
          <p:nvPr/>
        </p:nvGraphicFramePr>
        <p:xfrm>
          <a:off x="6656275" y="1446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{DBDF0169-250F-49E1-8410-1719DFD9D788}</a:tableStyleId>
              </a:tblPr>
              <a:tblGrid>
                <a:gridCol w="2189725"/>
                <a:gridCol w="2664875"/>
              </a:tblGrid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OCaml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язык богов (тм)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Scala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почти OCaml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Python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язык</a:t>
                      </a: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МНС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JS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вездесущ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Rust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всемогущ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09141108f_0_27"/>
          <p:cNvSpPr txBox="1"/>
          <p:nvPr>
            <p:ph type="title"/>
          </p:nvPr>
        </p:nvSpPr>
        <p:spPr>
          <a:xfrm>
            <a:off x="838200" y="2766218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Декларативность</a:t>
            </a:r>
            <a:endParaRPr/>
          </a:p>
        </p:txBody>
      </p:sp>
      <p:sp>
        <p:nvSpPr>
          <p:cNvPr id="118" name="Google Shape;118;g3d09141108f_0_2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9141108f_0_3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4" name="Google Shape;124;g3d09141108f_0_3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</a:t>
            </a:r>
            <a:endParaRPr/>
          </a:p>
        </p:txBody>
      </p:sp>
      <p:sp>
        <p:nvSpPr>
          <p:cNvPr id="125" name="Google Shape;125;g3d09141108f_0_3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ru-RU"/>
              <a:t>Императивный код — микроменеджмент.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ru-RU"/>
              <a:t>Деĸларативный ĸод — спецификация. </a:t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SELECT … WHERE</a:t>
            </a:r>
            <a:r>
              <a:rPr lang="ru-RU"/>
              <a:t> vs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for … in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for … end</a:t>
            </a:r>
            <a:r>
              <a:rPr lang="ru-RU"/>
              <a:t> vs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list.map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09141108f_0_4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1" name="Google Shape;131;g3d09141108f_0_4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</a:t>
            </a:r>
            <a:endParaRPr/>
          </a:p>
        </p:txBody>
      </p:sp>
      <p:sp>
        <p:nvSpPr>
          <p:cNvPr id="132" name="Google Shape;132;g3d09141108f_0_40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ru-RU"/>
              <a:t>Людям — понятность.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ru-RU"/>
              <a:t>Машинам — законы оптимизации. </a:t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* для работы понадобится все остальные свойства FP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09141108f_0_7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8" name="Google Shape;138;g3d09141108f_0_7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задача</a:t>
            </a:r>
            <a:endParaRPr/>
          </a:p>
        </p:txBody>
      </p:sp>
      <p:sp>
        <p:nvSpPr>
          <p:cNvPr id="139" name="Google Shape;139;g3d09141108f_0_7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</a:t>
            </a:r>
            <a:r>
              <a:rPr lang="ru-RU"/>
              <a:t>умма скидок для заказов дороже 100, скидка 10%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09141108f_0_46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45" name="Google Shape;145;g3d09141108f_0_46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OCaml</a:t>
            </a:r>
            <a:endParaRPr/>
          </a:p>
        </p:txBody>
      </p:sp>
      <p:sp>
        <p:nvSpPr>
          <p:cNvPr id="146" name="Google Shape;146;g3d09141108f_0_46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total_discount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filter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fun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100.0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map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fun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fold_left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+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0.0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Scala</a:t>
            </a:r>
            <a:endParaRPr/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totalDiscount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List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[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Order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Double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filter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100.0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map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sum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Rust</a:t>
            </a:r>
            <a:endParaRPr/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fn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total_discount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&amp;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[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Order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f64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filter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100.0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map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sum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09141108f_0_6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66" name="Google Shape;166;g3d09141108f_0_67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Python</a:t>
            </a:r>
            <a:endParaRPr/>
          </a:p>
        </p:txBody>
      </p:sp>
      <p:sp>
        <p:nvSpPr>
          <p:cNvPr id="167" name="Google Shape;167;g3d09141108f_0_67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total_discount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sum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for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in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100.0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09141108f_0_7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73" name="Google Shape;173;g3d09141108f_0_79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JS</a:t>
            </a:r>
            <a:endParaRPr/>
          </a:p>
        </p:txBody>
      </p:sp>
      <p:sp>
        <p:nvSpPr>
          <p:cNvPr id="174" name="Google Shape;174;g3d09141108f_0_79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totalDiscount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filter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map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reduce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acc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d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acc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+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d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09141108f_0_27"/>
          <p:cNvSpPr txBox="1"/>
          <p:nvPr>
            <p:ph type="title"/>
          </p:nvPr>
        </p:nvSpPr>
        <p:spPr>
          <a:xfrm>
            <a:off x="838200" y="2766218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</a:t>
            </a:r>
          </a:p>
        </p:txBody>
      </p:sp>
      <p:sp>
        <p:nvSpPr>
          <p:cNvPr id="118" name="Google Shape;118;g3d09141108f_0_2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9141108f_0_3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4" name="Google Shape;124;g3d09141108f_0_3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</a:t>
            </a:r>
          </a:p>
        </p:txBody>
      </p:sp>
      <p:sp>
        <p:nvSpPr>
          <p:cNvPr id="125" name="Google Shape;125;g3d09141108f_0_3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Инструкции производят эффект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Выражения вычисляются в значения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Значения можно компоновать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09141108f_0_7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8" name="Google Shape;138;g3d09141108f_0_7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задача</a:t>
            </a:r>
          </a:p>
        </p:txBody>
      </p:sp>
      <p:sp>
        <p:nvSpPr>
          <p:cNvPr id="139" name="Google Shape;139;g3d09141108f_0_7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Классификация числа — вернуть метку без промежуточной переменной.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OCaml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match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with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when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String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uppercase_ascii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Scala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String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match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val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toUpperCase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Rust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i32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&amp;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'static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str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match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to_uppercase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09141108f_0_6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66" name="Google Shape;166;g3d09141108f_0_67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Python</a:t>
            </a:r>
          </a:p>
        </p:txBody>
      </p:sp>
      <p:sp>
        <p:nvSpPr>
          <p:cNvPr id="167" name="Google Shape;167;g3d09141108f_0_67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int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str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else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else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upper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match n: ... → match — инструкция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09141108f_0_7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73" name="Google Shape;173;g3d09141108f_0_79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JS</a:t>
            </a:r>
          </a:p>
        </p:txBody>
      </p:sp>
      <p:sp>
        <p:nvSpPr>
          <p:cNvPr id="174" name="Google Shape;174;g3d09141108f_0_79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?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?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toUpperCase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if (...) {} → инструкция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09141108f_0_27"/>
          <p:cNvSpPr txBox="1"/>
          <p:nvPr>
            <p:ph type="title"/>
          </p:nvPr>
        </p:nvSpPr>
        <p:spPr>
          <a:xfrm>
            <a:off x="838200" y="2766218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</a:t>
            </a:r>
          </a:p>
        </p:txBody>
      </p:sp>
      <p:sp>
        <p:nvSpPr>
          <p:cNvPr id="118" name="Google Shape;118;g3d09141108f_0_2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9141108f_0_3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4" name="Google Shape;124;g3d09141108f_0_3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</a:t>
            </a:r>
          </a:p>
        </p:txBody>
      </p:sp>
      <p:sp>
        <p:nvSpPr>
          <p:cNvPr id="125" name="Google Shape;125;g3d09141108f_0_3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Функция — </a:t>
            </a:r>
            <a:r>
              <a:rPr b="1"/>
              <a:t>first-class value</a:t>
            </a:r>
            <a:r>
              <a:t>: передаётся аргументом, связывается с переменной, возвращается из функции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HOF — принимает или возвращает функцию:</a:t>
            </a:r>
            <a:br/>
            <a:r>
              <a:rPr b="1"/>
              <a:t>map, filter, fold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Замыкание — захват лексического окружения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Каррирование — </a:t>
            </a:r>
            <a:r>
              <a:rPr b="1"/>
              <a:t>f(a, b) → f(a)(b)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09141108f_0_7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8" name="Google Shape;138;g3d09141108f_0_7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задача</a:t>
            </a:r>
          </a:p>
        </p:txBody>
      </p:sp>
      <p:sp>
        <p:nvSpPr>
          <p:cNvPr id="139" name="Google Shape;139;g3d09141108f_0_7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Создать умножитель с коэффициентом и применить к списку.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OCaml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(* каррирование по умолчанию *)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multiply factor x = x * factor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triple = multiply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(* замыкание *)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make_adder base =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fun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x -&gt; base + x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add10 = make_adder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(* HOF *)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result =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List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.map triple [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2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4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Scala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каррирование (multiple param lists)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multiply(factor: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)(x: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= factor * x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val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triple: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=&gt;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 multiply(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замыкание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val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base =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val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addBase: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=&gt;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 x =&gt; x + base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HOF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val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result =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List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2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4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).map(triple)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Rust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use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auto_curry::curry;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#[curry] — процедурный макрос, каррирует функцию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#[curry]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fn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multiply(factor: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x: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-&gt;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{ factor * x 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triple: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impl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Fn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-&gt;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 multiply(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);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Rust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triple — multiply, каррированный по factor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add_base — замыкание: base захвачен из окружения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base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add_base: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impl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Fn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-&gt;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move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|x| x + base;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HOF: map принимает функцию аргументом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result: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Vec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 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  vec![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4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].into_iter().map(triple).collect();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Python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from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functools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import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partial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multiply(factor, x):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factor * x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triple = partial(multiply,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каррирование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HOF: map принимает функцию аргументом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result = list(map(triple, [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2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4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]))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[3, 6, 9, 12, 15]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Python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result = list(map(triple, [1, 2, 3, 4, 5]))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декоратор = HOF: fn → fn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logged(fn):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 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wrapper(*a):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fn(*a)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 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wrapper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@logged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triple2(x):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x *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JS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import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* as R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from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"ramda"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R.curry — каррирование через библиотеку Ramda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multiply = R.curry((factor, x) =&gt; factor * x);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triple = multiply(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addBase — замыкание: base захвачен из окружения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base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addBase = (x) =&gt; x + base;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JS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const triple = multiply(3)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const addBase = (x) =&gt; x + base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HOF: map принимает функцию аргументом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result = [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4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].map(triple);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[3, 6, 9, 12, 15]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5"/>
          <p:cNvSpPr txBox="1"/>
          <p:nvPr/>
        </p:nvSpPr>
        <p:spPr>
          <a:xfrm>
            <a:off x="6096000" y="1594852"/>
            <a:ext cx="5241925" cy="106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b="1" i="1" lang="ru-RU" sz="4400">
                <a:solidFill>
                  <a:schemeClr val="dk1"/>
                </a:solidFill>
              </a:rPr>
              <a:t>Павел Аргентов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5"/>
          <p:cNvSpPr txBox="1"/>
          <p:nvPr/>
        </p:nvSpPr>
        <p:spPr>
          <a:xfrm>
            <a:off x="6110607" y="3239501"/>
            <a:ext cx="5241925" cy="20978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1" lang="ru-RU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Tg: @</a:t>
            </a:r>
            <a:r>
              <a:rPr i="1" lang="ru-RU" sz="2800">
                <a:solidFill>
                  <a:schemeClr val="dk1"/>
                </a:solidFill>
              </a:rPr>
              <a:t>argent_smith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1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1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1" name="Google Shape;18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7954" y="810796"/>
            <a:ext cx="4857410" cy="48574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2024-06-10T09:01:31Z</dcterms:created>
  <dc:creator>Мария Теутул</dc:creator>
</cp:coreProperties>
</file>
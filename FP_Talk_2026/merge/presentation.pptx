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Relationship Id="rId14" Type="http://schemas.openxmlformats.org/officeDocument/2006/relationships/image" Target="../media/image26.png"/><Relationship Id="rId15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8" y="2143917"/>
            <a:ext cx="3833824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4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6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4" y="3601063"/>
            <a:ext cx="5139633" cy="1406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402" cy="1232106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63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89" y="1735932"/>
            <a:ext cx="582456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4" y="2524747"/>
            <a:ext cx="4104956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59" cy="1326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3"/>
            <a:ext cx="7165165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2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3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3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3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35" name="lbl_OCaml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6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7" name="lbl_Scala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8" name="code_Scala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9" name="lbl_Rust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40" name="code_Rust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41" name="lbl_Python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42" name="code_Python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43" name="lbl_JS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4" name="code_JS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Чистая функция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возвращаемое значение зависит только от аргументов; </a:t>
            </a:r>
            <a:r>
              <a:t>нет побочных эффектов.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Следствия: мемоизация;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независимость порядка вычислений</a:t>
            </a:r>
            <a:r>
              <a:t>; data race-free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параллелизм.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Эффекты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неизбежны (I/O, время, состояние). Стратегия — </a:t>
            </a:r>
            <a:r>
              <a:t>изоляция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на границах системы.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5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63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4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ref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!rate)</a:t>
            </a:r>
          </a:p>
        </p:txBody>
      </p:sp>
      <p:sp>
        <p:nvSpPr>
          <p:cNvPr id="465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6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7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68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9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0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1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2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7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7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8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8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82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3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484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5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7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8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9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90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91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9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9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0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01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2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03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04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5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06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7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8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9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0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1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1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1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20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1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22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3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4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5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6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7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28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29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3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3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3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39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40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41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42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3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4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5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6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47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8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58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9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60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1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2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3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4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5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66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7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</a:t>
            </a:r>
            <a:r>
              <a:rPr>
                <a:solidFill>
                  <a:srgbClr val="D0D0D0"/>
                </a:solidFill>
              </a:rPr>
              <a:t>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7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7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7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76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const / val — запрет перезаписи переменной. Иммутабельность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запрет мутации самого значения.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Гарантия: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компилятором</a:t>
            </a:r>
            <a:r>
              <a:t> (OCaml let, Rust let)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соглашением</a:t>
            </a:r>
            <a:r>
              <a:t> (Scala val)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опционально</a:t>
            </a:r>
            <a:r>
              <a:t> (Python frozen=True, JS Object.freeze).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Persistent data structures: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structural sharing</a:t>
            </a:r>
            <a:r>
              <a:t>. Обновление поля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O(log n), не O(n).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8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8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8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8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586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87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user = { name: string; age: int }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{ name = "Alice"; age = 30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{ user with age = 31 }</a:t>
            </a:r>
          </a:p>
        </p:txBody>
      </p:sp>
      <p:sp>
        <p:nvSpPr>
          <p:cNvPr id="588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89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590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91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592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93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594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95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9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0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0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0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0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05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06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07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08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609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10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11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12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13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14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1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1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2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2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2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24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25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26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27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28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29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30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31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32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33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3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3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4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4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4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43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44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45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46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47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48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49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50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51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52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5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5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5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6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6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62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63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64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65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66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67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68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69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70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71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7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7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7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7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8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user = Object.freeze({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older = { ...user,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9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9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9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98" name="title"/>
          <p:cNvSpPr txBox="1"/>
          <p:nvPr/>
        </p:nvSpPr>
        <p:spPr>
          <a:xfrm>
            <a:off x="508459" y="907439"/>
            <a:ext cx="8282424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Итог: пять свойств × пять языков</a:t>
            </a:r>
          </a:p>
        </p:txBody>
      </p:sp>
      <p:graphicFrame>
        <p:nvGraphicFramePr>
          <p:cNvPr id="699" name="summary_table"/>
          <p:cNvGraphicFramePr/>
          <p:nvPr/>
        </p:nvGraphicFramePr>
        <p:xfrm>
          <a:off x="534870" y="1504949"/>
          <a:ext cx="8229602" cy="30000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700000"/>
                <a:gridCol w="1105920"/>
                <a:gridCol w="1105920"/>
                <a:gridCol w="1105920"/>
                <a:gridCol w="1105920"/>
                <a:gridCol w="1105920"/>
              </a:tblGrid>
              <a:tr h="439999">
                <a:tc>
                  <a:txBody>
                    <a:bodyPr/>
                    <a:lstStyle/>
                    <a:p>
                      <a:pPr/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Декларативность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Выражения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Функции как значения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Чистота функций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</a:tbl>
          </a:graphicData>
        </a:graphic>
      </p:graphicFrame>
      <p:sp>
        <p:nvSpPr>
          <p:cNvPr id="700" name="legend"/>
          <p:cNvSpPr txBox="1"/>
          <p:nvPr/>
        </p:nvSpPr>
        <p:spPr>
          <a:xfrm>
            <a:off x="534870" y="4616787"/>
            <a:ext cx="8229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900">
                <a:solidFill>
                  <a:srgbClr val="E06C75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+++</a:t>
            </a:r>
            <a:r>
              <a:rPr>
                <a:solidFill>
                  <a:srgbClr val="606060"/>
                </a:solidFill>
              </a:rPr>
              <a:t> — в дизайне языка, идиоматично    </a:t>
            </a:r>
            <a:r>
              <a:rPr>
                <a:solidFill>
                  <a:srgbClr val="D0D0D0"/>
                </a:solidFill>
              </a:rPr>
              <a:t>++</a:t>
            </a:r>
            <a:r>
              <a:rPr>
                <a:solidFill>
                  <a:srgbClr val="606060"/>
                </a:solidFill>
              </a:rPr>
              <a:t> — поддерживается, требует дисциплины    + — возможно, но нетипично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0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0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08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ЗАДАНИЕ НА ДОМ</a:t>
            </a:r>
          </a:p>
        </p:txBody>
      </p:sp>
      <p:sp>
        <p:nvSpPr>
          <p:cNvPr id="709" name="bullets"/>
          <p:cNvSpPr txBox="1"/>
          <p:nvPr/>
        </p:nvSpPr>
        <p:spPr>
          <a:xfrm>
            <a:off x="402843" y="1586181"/>
            <a:ext cx="7165165" cy="2154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457200" indent="-457200">
              <a:lnSpc>
                <a:spcPct val="133302"/>
              </a:lnSpc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пяти свойств присутствуют в вашем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текущем проекте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них язык гарантирует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by design</a:t>
            </a:r>
            <a:r>
              <a:t>, а какие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конвенцией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Где явная иммутабельность или декларативный стиль снизили бы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когнитивную нагрузку</a:t>
            </a:r>
            <a:r>
              <a:t> в последнем PR?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БОНУС-ТРЕК: ФП В PRODUCTION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PRODUCTION: RUBY-СТЕК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Фреймворк: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Rails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dry-types</a:t>
            </a:r>
            <a:r>
              <a:t> — Type constructors, Value Objects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dry-validation</a:t>
            </a:r>
            <a:r>
              <a:t> — Contract DSL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dry-monads</a:t>
            </a:r>
            <a:r>
              <a:t> — Result, Do-нотация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dry-matcher</a:t>
            </a:r>
            <a:r>
              <a:t> — Pattern matching на Result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Архитектура: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CQRS + DDD, EventStore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EVENT FLOW: ТИПОВОЙ СЦЕНАРИЙ</a:t>
            </a:r>
          </a:p>
        </p:txBody>
      </p:sp>
      <p:pic>
        <p:nvPicPr>
          <p:cNvPr id="453" name="Picture 452" descr="dia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0000" y="1402473"/>
            <a:ext cx="8544000" cy="3675053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ФП → DDD: МАППИНГ</a:t>
            </a:r>
          </a:p>
        </p:txBody>
      </p:sp>
      <p:graphicFrame>
        <p:nvGraphicFramePr>
          <p:cNvPr id="453" name="Table 452"/>
          <p:cNvGraphicFramePr>
            <a:graphicFrameLocks noGrp="1"/>
          </p:cNvGraphicFramePr>
          <p:nvPr/>
        </p:nvGraphicFramePr>
        <p:xfrm>
          <a:off x="381660" y="1450000"/>
          <a:ext cx="8380680" cy="3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5380680"/>
              </a:tblGrid>
              <a:tr h="4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Принципы ФП</a:t>
                      </a:r>
                    </a:p>
                  </a:txBody>
                  <a:tcPr>
                    <a:solidFill>
                      <a:srgbClr val="222222"/>
                    </a:solidFill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DDD implementation</a:t>
                      </a:r>
                    </a:p>
                  </a:txBody>
                  <a:tcPr>
                    <a:solidFill>
                      <a:srgbClr val="222222"/>
                    </a:solidFill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Функции как значения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функциональный объект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Чистота функций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изолированная операция БЛ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Иммутабельность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иммутабельные DTO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Декларативность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монадный DSL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  <a:tr h="600000"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Выражения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  <a:tc>
                  <a:txBody>
                    <a:bodyPr wrap="square" lIns="182880" tIns="91440" rIns="182880" bIns="91440" anchor="ctr"/>
                    <a:lstStyle/>
                    <a:p>
                      <a:pPr algn="l"/>
                      <a:r>
                        <a:rPr lang="ru-RU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ROP → Result</a:t>
                      </a:r>
                    </a:p>
                  </a:txBody>
                  <a:tcPr>
                    <a:noFill/>
                    <a:lnL w="6350" cap="flat" cmpd="sng">
                      <a:solidFill>
                        <a:srgbClr val="333333"/>
                      </a:solidFill>
                    </a:lnL>
                    <a:lnR w="6350" cap="flat" cmpd="sng">
                      <a:solidFill>
                        <a:srgbClr val="333333"/>
                      </a:solidFill>
                    </a:lnR>
                    <a:lnT w="6350" cap="flat" cmpd="sng">
                      <a:solidFill>
                        <a:srgbClr val="333333"/>
                      </a:solidFill>
                    </a:lnT>
                    <a:lnB w="6350" cap="flat" cmpd="sng">
                      <a:solidFill>
                        <a:srgbClr val="33333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АРХИТЕКТУРА КОМАНДЫ</a:t>
            </a:r>
          </a:p>
        </p:txBody>
      </p:sp>
      <p:pic>
        <p:nvPicPr>
          <p:cNvPr id="453" name="Picture 452" descr="arch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00000" y="1530000"/>
            <a:ext cx="8544000" cy="260182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
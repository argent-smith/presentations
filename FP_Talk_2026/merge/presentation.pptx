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5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3" y="3601063"/>
            <a:ext cx="5139635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3" cy="1232107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4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4" y="2524747"/>
            <a:ext cx="4104957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60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0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5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3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7" cy="1365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9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8" y="1791579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1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2" cy="1519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8" y="1791579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1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2" cy="1519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8" y="1791579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1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2" cy="1519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8" y="1791579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1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2" cy="1519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8" y="1791579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1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2" cy="1519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8" y="1791579"/>
            <a:ext cx="80001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1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2" cy="1519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10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2"/>
            <a:ext cx="3350005" cy="15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6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7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2"/>
            <a:ext cx="3350005" cy="15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6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7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2"/>
            <a:ext cx="3350005" cy="15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6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7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2"/>
            <a:ext cx="3350005" cy="15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6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7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2"/>
            <a:ext cx="3350005" cy="15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6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7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2"/>
            <a:ext cx="3350005" cy="15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6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7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5" y="2037506"/>
            <a:ext cx="3071321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2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5" y="2037506"/>
            <a:ext cx="3071321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2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5" y="2037506"/>
            <a:ext cx="3071321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2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5" y="2037506"/>
            <a:ext cx="3071321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2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5" y="2037506"/>
            <a:ext cx="3071321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2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5" y="2037506"/>
            <a:ext cx="3071321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7" y="3420678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2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8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3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0"/>
            <a:ext cx="7165165" cy="21543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12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3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14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5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1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17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20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1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22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3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2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726" name="bullets"/>
          <p:cNvSpPr txBox="1"/>
          <p:nvPr/>
        </p:nvSpPr>
        <p:spPr>
          <a:xfrm>
            <a:off x="381660" y="1308944"/>
            <a:ext cx="7165165" cy="2357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dry-types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Type constructors, Value Objects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dry-validation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Contract DSL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dry-monads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Result, Do-нотация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dry-matcher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Pattern matching на Result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29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0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31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2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735" name="Picture 452" descr="Picture 45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00000" y="1402473"/>
            <a:ext cx="8544001" cy="367505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3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4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4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4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744" name="Table 452"/>
          <p:cNvGraphicFramePr/>
          <p:nvPr/>
        </p:nvGraphicFramePr>
        <p:xfrm>
          <a:off x="381659" y="1449999"/>
          <a:ext cx="8380681" cy="340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solidFill>
                      <a:srgbClr val="222222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4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4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753" name="Picture 452" descr="Picture 45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00000" y="1530000"/>
            <a:ext cx="8544001" cy="26018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56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7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58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9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ROP В КОМАНДЕ</a:t>
            </a:r>
          </a:p>
        </p:txBody>
      </p:sp>
      <p:sp>
        <p:nvSpPr>
          <p:cNvPr id="7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Railway-Oriented Programming через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.bind</a:t>
            </a:r>
          </a:p>
        </p:txBody>
      </p:sp>
      <p:sp>
        <p:nvSpPr>
          <p:cNvPr id="763" name="lbl_0"/>
          <p:cNvSpPr txBox="1"/>
          <p:nvPr/>
        </p:nvSpPr>
        <p:spPr>
          <a:xfrm>
            <a:off x="386758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64" name="code_0"/>
          <p:cNvSpPr txBox="1"/>
          <p:nvPr/>
        </p:nvSpPr>
        <p:spPr>
          <a:xfrm>
            <a:off x="386759" y="2097651"/>
            <a:ext cx="8373999" cy="30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call</a:t>
            </a:r>
            <a:r>
              <a:rPr>
                <a:solidFill>
                  <a:srgbClr val="D0D0D0"/>
                </a:solidFill>
              </a:rPr>
              <a:t>(raw_input = {})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56B6C2"/>
                </a:solidFill>
              </a:rPr>
              <a:t>@context_result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do_validate(raw_input)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|input| do_prepare(**input)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|input| do_persist!(**input)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|result| publish_events!(result) }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67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8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69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0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DO-НОТАЦИЯ</a:t>
            </a:r>
          </a:p>
        </p:txBody>
      </p:sp>
      <p:sp>
        <p:nvSpPr>
          <p:cNvPr id="7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yield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разворачивает Result внутри монады</a:t>
            </a:r>
          </a:p>
        </p:txBody>
      </p:sp>
      <p:sp>
        <p:nvSpPr>
          <p:cNvPr id="774" name="lbl_0"/>
          <p:cNvSpPr txBox="1"/>
          <p:nvPr/>
        </p:nvSpPr>
        <p:spPr>
          <a:xfrm>
            <a:off x="386758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75" name="code_0"/>
          <p:cNvSpPr txBox="1"/>
          <p:nvPr/>
        </p:nvSpPr>
        <p:spPr>
          <a:xfrm>
            <a:off x="386759" y="2097651"/>
            <a:ext cx="8373999" cy="30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include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Dry</a:t>
            </a:r>
            <a:r>
              <a:rPr>
                <a:solidFill>
                  <a:srgbClr val="D0D0D0"/>
                </a:solidFill>
              </a:rPr>
              <a:t>::</a:t>
            </a:r>
            <a:r>
              <a:rPr>
                <a:solidFill>
                  <a:srgbClr val="61AFEF"/>
                </a:solidFill>
              </a:rPr>
              <a:t>Monads</a:t>
            </a:r>
            <a:r>
              <a:rPr>
                <a:solidFill>
                  <a:srgbClr val="D0D0D0"/>
                </a:solidFill>
              </a:rPr>
              <a:t>::</a:t>
            </a:r>
            <a:r>
              <a:rPr>
                <a:solidFill>
                  <a:srgbClr val="61AFEF"/>
                </a:solidFill>
              </a:rPr>
              <a:t>Do</a:t>
            </a:r>
            <a:r>
              <a:rPr>
                <a:solidFill>
                  <a:srgbClr val="D0D0D0"/>
                </a:solidFill>
              </a:rPr>
              <a:t>.for(</a:t>
            </a:r>
            <a:r>
              <a:rPr>
                <a:solidFill>
                  <a:srgbClr val="56B6C2"/>
                </a:solidFill>
              </a:rPr>
              <a:t>:load_entity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load_entity</a:t>
            </a:r>
            <a:r>
              <a:rPr>
                <a:solidFill>
                  <a:srgbClr val="D0D0D0"/>
                </a:solidFill>
              </a:rPr>
              <a:t>(id:)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owner 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find_owner(id)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config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load_config(owner)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state 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resolve_state(config)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Success</a:t>
            </a:r>
            <a:r>
              <a:t>(</a:t>
            </a:r>
            <a:r>
              <a:rPr>
                <a:solidFill>
                  <a:srgbClr val="56B6C2"/>
                </a:solidFill>
              </a:rPr>
              <a:t>owner</a:t>
            </a:r>
            <a:r>
              <a:t>:, </a:t>
            </a:r>
            <a:r>
              <a:rPr>
                <a:solidFill>
                  <a:srgbClr val="56B6C2"/>
                </a:solidFill>
              </a:rPr>
              <a:t>config</a:t>
            </a:r>
            <a:r>
              <a:t>:, </a:t>
            </a:r>
            <a:r>
              <a:rPr>
                <a:solidFill>
                  <a:srgbClr val="56B6C2"/>
                </a:solidFill>
              </a:rPr>
              <a:t>state</a:t>
            </a:r>
            <a:r>
              <a:t>:)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9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80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1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8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ТИПОВЫЕ КОНТРАКТЫ</a:t>
            </a:r>
          </a:p>
        </p:txBody>
      </p:sp>
      <p:sp>
        <p:nvSpPr>
          <p:cNvPr id="78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dry-types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конструкторы типов как значения</a:t>
            </a:r>
          </a:p>
        </p:txBody>
      </p:sp>
      <p:sp>
        <p:nvSpPr>
          <p:cNvPr id="785" name="lbl_0"/>
          <p:cNvSpPr txBox="1"/>
          <p:nvPr/>
        </p:nvSpPr>
        <p:spPr>
          <a:xfrm>
            <a:off x="386758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86" name="code_0"/>
          <p:cNvSpPr txBox="1"/>
          <p:nvPr/>
        </p:nvSpPr>
        <p:spPr>
          <a:xfrm>
            <a:off x="386759" y="2097651"/>
            <a:ext cx="8373999" cy="30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module</a:t>
            </a:r>
            <a:r>
              <a:rPr>
                <a:solidFill>
                  <a:srgbClr val="D0D0D0"/>
                </a:solidFill>
              </a:rPr>
              <a:t> DomainTypes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DownCasedString</a:t>
            </a:r>
            <a:r>
              <a:t>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::String.constructor { |v| v&amp;.downcase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Email</a:t>
            </a:r>
            <a:r>
              <a:t> = </a:t>
            </a:r>
            <a:r>
              <a:rPr>
                <a:solidFill>
                  <a:srgbClr val="61AFEF"/>
                </a:solidFill>
              </a:rPr>
              <a:t>DownCasedString</a:t>
            </a:r>
            <a:r>
              <a:t>.constrained(format: </a:t>
            </a:r>
            <a:r>
              <a:rPr>
                <a:solidFill>
                  <a:srgbClr val="61AFEF"/>
                </a:solidFill>
              </a:rPr>
              <a:t>EMAIL_REGEXP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Uuid</a:t>
            </a:r>
            <a:r>
              <a:t>  = </a:t>
            </a:r>
            <a:r>
              <a:rPr>
                <a:solidFill>
                  <a:srgbClr val="61AFEF"/>
                </a:solidFill>
              </a:rPr>
              <a:t>StrippedString</a:t>
            </a:r>
            <a:r>
              <a:t>.constrained(format: </a:t>
            </a:r>
            <a:r>
              <a:rPr>
                <a:solidFill>
                  <a:srgbClr val="61AFEF"/>
                </a:solidFill>
              </a:rPr>
              <a:t>UUID_REGEXP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module</a:t>
            </a:r>
            <a:r>
              <a:t> HttpTypes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61AFEF"/>
                </a:solidFill>
              </a:rPr>
              <a:t>Method</a:t>
            </a:r>
            <a:r>
              <a:t>    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::String.enum(*</a:t>
            </a:r>
            <a:r>
              <a:rPr>
                <a:solidFill>
                  <a:srgbClr val="98C379"/>
                </a:solidFill>
              </a:rPr>
              <a:t>%w[GET POST PUT PATCH DELETE]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61AFEF"/>
                </a:solidFill>
              </a:rPr>
              <a:t>SafeMethod</a:t>
            </a:r>
            <a:r>
              <a:t>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::String.enum(*</a:t>
            </a:r>
            <a:r>
              <a:rPr>
                <a:solidFill>
                  <a:srgbClr val="98C379"/>
                </a:solidFill>
              </a:rPr>
              <a:t>%w[GET HEAD OPTIONS]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end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89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90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1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92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9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ДОМЕННЫЕ ОШИБКИ КАК ЗНАЧЕНИЯ</a:t>
            </a:r>
          </a:p>
        </p:txBody>
      </p:sp>
      <p:sp>
        <p:nvSpPr>
          <p:cNvPr id="79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DomainError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иммутабельный</a:t>
            </a:r>
            <a:r>
              <a:t> value object</a:t>
            </a:r>
          </a:p>
        </p:txBody>
      </p:sp>
      <p:sp>
        <p:nvSpPr>
          <p:cNvPr id="796" name="lbl_0"/>
          <p:cNvSpPr txBox="1"/>
          <p:nvPr/>
        </p:nvSpPr>
        <p:spPr>
          <a:xfrm>
            <a:off x="386758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97" name="code_0"/>
          <p:cNvSpPr txBox="1"/>
          <p:nvPr/>
        </p:nvSpPr>
        <p:spPr>
          <a:xfrm>
            <a:off x="386759" y="2097651"/>
            <a:ext cx="8373999" cy="30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DomainError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extend</a:t>
            </a:r>
            <a:r>
              <a:t> </a:t>
            </a:r>
            <a:r>
              <a:rPr>
                <a:solidFill>
                  <a:srgbClr val="61AFEF"/>
                </a:solidFill>
              </a:rPr>
              <a:t>Dry</a:t>
            </a:r>
            <a:r>
              <a:t>::</a:t>
            </a:r>
            <a:r>
              <a:rPr>
                <a:solidFill>
                  <a:srgbClr val="61AFEF"/>
                </a:solidFill>
              </a:rPr>
              <a:t>Initializer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:field</a:t>
            </a:r>
            <a:r>
              <a:t>, </a:t>
            </a:r>
            <a:r>
              <a:rPr>
                <a:solidFill>
                  <a:srgbClr val="56B6C2"/>
                </a:solidFill>
              </a:rPr>
              <a:t>optional</a:t>
            </a:r>
            <a:r>
              <a:t>: </a:t>
            </a:r>
            <a:r>
              <a:rPr>
                <a:solidFill>
                  <a:srgbClr val="E06C75"/>
                </a:solidFill>
              </a:rPr>
              <a:t>true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:meta</a:t>
            </a:r>
            <a:r>
              <a:t>,  </a:t>
            </a:r>
            <a:r>
              <a:rPr>
                <a:solidFill>
                  <a:srgbClr val="56B6C2"/>
                </a:solidFill>
              </a:rPr>
              <a:t>optional</a:t>
            </a:r>
            <a:r>
              <a:t>: </a:t>
            </a:r>
            <a:r>
              <a:rPr>
                <a:solidFill>
                  <a:srgbClr val="E06C75"/>
                </a:solidFill>
              </a:rPr>
              <a:t>true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def</a:t>
            </a:r>
            <a:r>
              <a:t> </a:t>
            </a:r>
            <a:r>
              <a:rPr>
                <a:solidFill>
                  <a:srgbClr val="61AFEF"/>
                </a:solidFill>
              </a:rPr>
              <a:t>to_monad</a:t>
            </a:r>
            <a:r>
              <a:t> = </a:t>
            </a:r>
            <a:r>
              <a:rPr>
                <a:solidFill>
                  <a:srgbClr val="61AFEF"/>
                </a:solidFill>
              </a:rPr>
              <a:t>Dry</a:t>
            </a:r>
            <a:r>
              <a:t>::</a:t>
            </a:r>
            <a:r>
              <a:rPr>
                <a:solidFill>
                  <a:srgbClr val="61AFEF"/>
                </a:solidFill>
              </a:rPr>
              <a:t>Monads</a:t>
            </a:r>
            <a:r>
              <a:t>::</a:t>
            </a:r>
            <a:r>
              <a:rPr>
                <a:solidFill>
                  <a:srgbClr val="61AFEF"/>
                </a:solidFill>
              </a:rPr>
              <a:t>Failure</a:t>
            </a:r>
            <a:r>
              <a:t>(self)</a:t>
            </a:r>
          </a:p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ExternalApiError</a:t>
            </a:r>
            <a:r>
              <a:rPr>
                <a:solidFill>
                  <a:srgbClr val="D0D0D0"/>
                </a:solidFill>
              </a:rPr>
              <a:t> = </a:t>
            </a:r>
            <a:r>
              <a:t>Class</a:t>
            </a:r>
            <a:r>
              <a:rPr>
                <a:solidFill>
                  <a:srgbClr val="D0D0D0"/>
                </a:solidFill>
              </a:rPr>
              <a:t>.new(</a:t>
            </a:r>
            <a:r>
              <a:t>DomainError</a:t>
            </a:r>
            <a:r>
              <a:rPr>
                <a:solidFill>
                  <a:srgbClr val="D0D0D0"/>
                </a:solidFill>
              </a:rPr>
              <a:t>) </a:t>
            </a:r>
            <a:r>
              <a:rPr>
                <a:solidFill>
                  <a:srgbClr val="E06C75"/>
                </a:solidFill>
              </a:rPr>
              <a:t>do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:path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:error_type</a:t>
            </a:r>
            <a:r>
              <a:t>  </a:t>
            </a:r>
            <a:r>
              <a:rPr>
                <a:solidFill>
                  <a:srgbClr val="95A5A6"/>
                </a:solidFill>
              </a:rPr>
              <a:t># :timeout | :connection_failed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:http_status</a:t>
            </a:r>
            <a:r>
              <a:t> </a:t>
            </a:r>
            <a:r>
              <a:rPr>
                <a:solidFill>
                  <a:srgbClr val="95A5A6"/>
                </a:solidFill>
              </a:rPr>
              <a:t># 502 | 504</a:t>
            </a:r>
          </a:p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00" name="Google Shape;61;p6"/>
          <p:cNvSpPr/>
          <p:nvPr/>
        </p:nvSpPr>
        <p:spPr>
          <a:xfrm>
            <a:off x="2114550" y="442912"/>
            <a:ext cx="1101629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1" name="Google Shape;62;p6"/>
          <p:cNvSpPr txBox="1"/>
          <p:nvPr/>
        </p:nvSpPr>
        <p:spPr>
          <a:xfrm>
            <a:off x="2286746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02" name="Google Shape;63;p6"/>
          <p:cNvSpPr/>
          <p:nvPr/>
        </p:nvSpPr>
        <p:spPr>
          <a:xfrm>
            <a:off x="3319462" y="442912"/>
            <a:ext cx="1149267" cy="240085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3" name="Google Shape;64;p6"/>
          <p:cNvSpPr txBox="1"/>
          <p:nvPr/>
        </p:nvSpPr>
        <p:spPr>
          <a:xfrm>
            <a:off x="3491658" y="493093"/>
            <a:ext cx="804877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0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0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БИЗНЕС-DSL</a:t>
            </a:r>
          </a:p>
        </p:txBody>
      </p:sp>
      <p:sp>
        <p:nvSpPr>
          <p:cNvPr id="80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DomainFailureMatcher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декларативный </a:t>
            </a:r>
            <a:r>
              <a:t>pattern matching</a:t>
            </a:r>
          </a:p>
        </p:txBody>
      </p:sp>
      <p:sp>
        <p:nvSpPr>
          <p:cNvPr id="807" name="lbl_0"/>
          <p:cNvSpPr txBox="1"/>
          <p:nvPr/>
        </p:nvSpPr>
        <p:spPr>
          <a:xfrm>
            <a:off x="386758" y="1791579"/>
            <a:ext cx="71375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808" name="code_0"/>
          <p:cNvSpPr txBox="1"/>
          <p:nvPr/>
        </p:nvSpPr>
        <p:spPr>
          <a:xfrm>
            <a:off x="386759" y="2097651"/>
            <a:ext cx="8373999" cy="30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D0D0D0"/>
                </a:solidFill>
              </a:rPr>
              <a:t> = </a:t>
            </a:r>
            <a:r>
              <a:t>DomainFailureMatcher</a:t>
            </a:r>
            <a:r>
              <a:rPr>
                <a:solidFill>
                  <a:srgbClr val="D0D0D0"/>
                </a:solidFill>
              </a:rPr>
              <a:t>.define_matcher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D0D0D0"/>
                </a:solidFill>
              </a:rPr>
              <a:t>.call(command.call(params)) </a:t>
            </a:r>
            <a:r>
              <a:rPr>
                <a:solidFill>
                  <a:srgbClr val="E06C75"/>
                </a:solidFill>
              </a:rPr>
              <a:t>do</a:t>
            </a:r>
            <a:r>
              <a:rPr>
                <a:solidFill>
                  <a:srgbClr val="D0D0D0"/>
                </a:solidFill>
              </a:rPr>
              <a:t> |m|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m.success                   { |result| render_ok(result)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m.failure(</a:t>
            </a:r>
            <a:r>
              <a:rPr>
                <a:solidFill>
                  <a:srgbClr val="61AFEF"/>
                </a:solidFill>
              </a:rPr>
              <a:t>ExternalApiError</a:t>
            </a:r>
            <a:r>
              <a:t>) { |e| render_proxy_error(e)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m.failure(</a:t>
            </a:r>
            <a:r>
              <a:rPr>
                <a:solidFill>
                  <a:srgbClr val="61AFEF"/>
                </a:solidFill>
              </a:rPr>
              <a:t>ContractError</a:t>
            </a:r>
            <a:r>
              <a:t>)    { |e| render_validation(e)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                   { |e| render_unexpected(e) }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
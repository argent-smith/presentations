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9" r:id="rId21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685800" y="1383506"/>
            <a:ext cx="7772400" cy="1531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1371600" y="2914650"/>
            <a:ext cx="6400800" cy="222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6279546" y="4635136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://evrone.ru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6;p3" descr="Google Shape;16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Google Shape;17;p3" descr="Google Shape;17;p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86425" y="0"/>
            <a:ext cx="3457575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Google Shape;18;p3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3" name="Google Shape;19;p3"/>
          <p:cNvSpPr txBox="1"/>
          <p:nvPr/>
        </p:nvSpPr>
        <p:spPr>
          <a:xfrm>
            <a:off x="2286743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24" name="Google Shape;20;p3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5" name="Google Shape;21;p3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sp>
        <p:nvSpPr>
          <p:cNvPr id="26" name="Google Shape;22;p3"/>
          <p:cNvSpPr txBox="1"/>
          <p:nvPr/>
        </p:nvSpPr>
        <p:spPr>
          <a:xfrm>
            <a:off x="466725" y="2302681"/>
            <a:ext cx="4929188" cy="1147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5392"/>
              </a:lnSpc>
              <a:defRPr sz="36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IT-КОНФЕРЕНЦИЯ MERGE</a:t>
            </a:r>
          </a:p>
        </p:txBody>
      </p:sp>
      <p:sp>
        <p:nvSpPr>
          <p:cNvPr id="27" name="Google Shape;23;p3"/>
          <p:cNvSpPr txBox="1"/>
          <p:nvPr/>
        </p:nvSpPr>
        <p:spPr>
          <a:xfrm>
            <a:off x="466723" y="2143918"/>
            <a:ext cx="383381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5"/>
              </a:lnSpc>
              <a:defRPr sz="13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Профессиональная межрегиональная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 descr="Google Shape;29;p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Google Shape;30;p4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1" name="Google Shape;31;p4"/>
          <p:cNvSpPr txBox="1"/>
          <p:nvPr/>
        </p:nvSpPr>
        <p:spPr>
          <a:xfrm>
            <a:off x="2286743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32" name="Google Shape;32;p4"/>
          <p:cNvSpPr/>
          <p:nvPr/>
        </p:nvSpPr>
        <p:spPr>
          <a:xfrm>
            <a:off x="2624138" y="2767013"/>
            <a:ext cx="1696943" cy="240073"/>
          </a:xfrm>
          <a:prstGeom prst="roundRect">
            <a:avLst>
              <a:gd name="adj" fmla="val 50000"/>
            </a:avLst>
          </a:prstGeom>
          <a:solidFill>
            <a:srgbClr val="24242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3" name="Google Shape;33;p4"/>
          <p:cNvSpPr txBox="1"/>
          <p:nvPr/>
        </p:nvSpPr>
        <p:spPr>
          <a:xfrm>
            <a:off x="2796332" y="2817198"/>
            <a:ext cx="13525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ontserrat Thin Bold"/>
                <a:ea typeface="Montserrat Thin Bold"/>
                <a:cs typeface="Montserrat Thin Bold"/>
                <a:sym typeface="Montserrat Thin Bold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DDDDDD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evrone.ru</a:t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35" name="Google Shape;35;p4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sp>
        <p:nvSpPr>
          <p:cNvPr id="36" name="Google Shape;36;p4"/>
          <p:cNvSpPr txBox="1"/>
          <p:nvPr/>
        </p:nvSpPr>
        <p:spPr>
          <a:xfrm>
            <a:off x="466725" y="1525587"/>
            <a:ext cx="8153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1">
              <a:lnSpc>
                <a:spcPct val="110015"/>
              </a:lnSpc>
              <a:defRPr sz="26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ДРЕВНЯЯ МАГИЯ НА КАЖДЫЙ ДЕНЬ</a:t>
            </a:r>
          </a:p>
        </p:txBody>
      </p:sp>
      <p:sp>
        <p:nvSpPr>
          <p:cNvPr id="37" name="Google Shape;37;p4"/>
          <p:cNvSpPr txBox="1"/>
          <p:nvPr/>
        </p:nvSpPr>
        <p:spPr>
          <a:xfrm>
            <a:off x="2624138" y="3075781"/>
            <a:ext cx="398145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15"/>
              </a:lnSpc>
              <a:defRPr sz="26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Павел Аргентов</a:t>
            </a:r>
          </a:p>
        </p:txBody>
      </p:sp>
      <p:sp>
        <p:nvSpPr>
          <p:cNvPr id="38" name="Google Shape;38;p4"/>
          <p:cNvSpPr txBox="1"/>
          <p:nvPr/>
        </p:nvSpPr>
        <p:spPr>
          <a:xfrm>
            <a:off x="441109" y="1277621"/>
            <a:ext cx="262895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2887"/>
              </a:lnSpc>
              <a:defRPr sz="1000">
                <a:solidFill>
                  <a:srgbClr val="B7B7B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Пять принципов FP в пяти языках</a:t>
            </a:r>
          </a:p>
        </p:txBody>
      </p:sp>
      <p:sp>
        <p:nvSpPr>
          <p:cNvPr id="39" name="Google Shape;39;p4"/>
          <p:cNvSpPr txBox="1"/>
          <p:nvPr/>
        </p:nvSpPr>
        <p:spPr>
          <a:xfrm>
            <a:off x="4467225" y="2813844"/>
            <a:ext cx="13335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3628"/>
              </a:lnSpc>
              <a:defRPr sz="900">
                <a:solidFill>
                  <a:srgbClr val="B7B7B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FP guru</a:t>
            </a:r>
          </a:p>
        </p:txBody>
      </p:sp>
      <p:sp>
        <p:nvSpPr>
          <p:cNvPr id="40" name="Google Shape;40;p4"/>
          <p:cNvSpPr txBox="1"/>
          <p:nvPr/>
        </p:nvSpPr>
        <p:spPr>
          <a:xfrm>
            <a:off x="2796332" y="3601063"/>
            <a:ext cx="5139614" cy="140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8810"/>
              </a:lnSpc>
              <a:defRPr i="1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Значительная часть недостатков в разработке ПО связана с тем, что программисты не полностью понимают все возможные состояния, в которых может выполняться их код</a:t>
            </a:r>
          </a:p>
          <a:p>
            <a:pPr algn="r">
              <a:lnSpc>
                <a:spcPct val="128810"/>
              </a:lnSpc>
              <a:defRPr i="1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Джон Кармак</a:t>
            </a:r>
          </a:p>
        </p:txBody>
      </p:sp>
      <p:pic>
        <p:nvPicPr>
          <p:cNvPr id="41" name="Google Shape;41;p4" descr="Google Shape;41;p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623751" y="3649202"/>
            <a:ext cx="47391" cy="1232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43;p4" descr="Google Shape;43;p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00137" y="3405187"/>
            <a:ext cx="590552" cy="5905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98;p2" descr="Google Shape;98;p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4810" y="2288380"/>
            <a:ext cx="1981206" cy="19812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7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48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49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50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Google Shape;66;p6"/>
          <p:cNvSpPr txBox="1"/>
          <p:nvPr/>
        </p:nvSpPr>
        <p:spPr>
          <a:xfrm>
            <a:off x="419098" y="1735932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ПАВЕЛ АРГЕНТОВ</a:t>
            </a:r>
          </a:p>
        </p:txBody>
      </p:sp>
      <p:sp>
        <p:nvSpPr>
          <p:cNvPr id="52" name="Google Shape;67;p6"/>
          <p:cNvSpPr txBox="1"/>
          <p:nvPr/>
        </p:nvSpPr>
        <p:spPr>
          <a:xfrm>
            <a:off x="409904" y="2524752"/>
            <a:ext cx="4104937" cy="1527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152400" indent="-152400">
              <a:lnSpc>
                <a:spcPct val="133302"/>
              </a:lnSpc>
              <a:buSzPct val="150000"/>
              <a:buChar char="•"/>
              <a:defRPr sz="1500"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много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опыта</a:t>
            </a:r>
            <a:endParaRPr>
              <a:latin typeface="Montserrat Thin Bold"/>
              <a:ea typeface="Montserrat Thin Bold"/>
              <a:cs typeface="Montserrat Thin Bold"/>
              <a:sym typeface="Montserrat Thin Bold"/>
            </a:endParaRPr>
          </a:p>
          <a:p>
            <a:pPr marL="152400" indent="-152400">
              <a:lnSpc>
                <a:spcPct val="133302"/>
              </a:lnSpc>
              <a:buSzPct val="150000"/>
              <a:buChar char="•"/>
              <a:defRPr sz="1500"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разрабатывал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rPr>
              <a:t>всё</a:t>
            </a:r>
            <a:endParaRPr>
              <a:solidFill>
                <a:srgbClr val="FFFFFF"/>
              </a:solidFill>
            </a:endParaRPr>
          </a:p>
          <a:p>
            <a:pPr marL="152400" indent="-152400">
              <a:lnSpc>
                <a:spcPct val="133302"/>
              </a:lnSpc>
              <a:buSzPct val="150000"/>
              <a:buChar char="•"/>
              <a:defRPr sz="1500"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FP с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rPr>
              <a:t>2002</a:t>
            </a:r>
            <a:r>
              <a:rPr>
                <a:solidFill>
                  <a:srgbClr val="FFFFFF"/>
                </a:solidFill>
              </a:rPr>
              <a:t> </a:t>
            </a:r>
            <a:r>
              <a:t>г.</a:t>
            </a:r>
            <a:endParaRPr>
              <a:solidFill>
                <a:srgbClr val="FFFFFF"/>
              </a:solidFill>
            </a:endParaRPr>
          </a:p>
          <a:p>
            <a:pPr>
              <a:lnSpc>
                <a:spcPct val="133302"/>
              </a:lnSpc>
              <a:defRPr sz="15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</a:p>
          <a:p>
            <a:pPr>
              <a:lnSpc>
                <a:spcPct val="133302"/>
              </a:lnSpc>
              <a:defRPr sz="1500"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Evrone.ru: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разработка разработчиков</a:t>
            </a:r>
          </a:p>
        </p:txBody>
      </p:sp>
      <p:sp>
        <p:nvSpPr>
          <p:cNvPr id="53" name="Google Shape;68;p6"/>
          <p:cNvSpPr/>
          <p:nvPr/>
        </p:nvSpPr>
        <p:spPr>
          <a:xfrm>
            <a:off x="5338762" y="862012"/>
            <a:ext cx="3328990" cy="3419477"/>
          </a:xfrm>
          <a:prstGeom prst="roundRect">
            <a:avLst>
              <a:gd name="adj" fmla="val 16667"/>
            </a:avLst>
          </a:prstGeom>
          <a:solidFill>
            <a:srgbClr val="242424"/>
          </a:solidFill>
          <a:ln w="22600">
            <a:solidFill>
              <a:srgbClr val="333333"/>
            </a:solidFill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pic>
        <p:nvPicPr>
          <p:cNvPr id="54" name="Google Shape;69;p6" descr="Google Shape;69;p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91300" y="2162175"/>
            <a:ext cx="823913" cy="8239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Google Shape;98;p2" descr="Google Shape;98;p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93433" y="861928"/>
            <a:ext cx="3419647" cy="34196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59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60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61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62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Google Shape;66;p6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(λx.M)N →β M[x := N]</a:t>
            </a:r>
          </a:p>
        </p:txBody>
      </p:sp>
      <p:sp>
        <p:nvSpPr>
          <p:cNvPr id="64" name="Google Shape;67;p6"/>
          <p:cNvSpPr txBox="1"/>
          <p:nvPr/>
        </p:nvSpPr>
        <p:spPr>
          <a:xfrm>
            <a:off x="381660" y="1745432"/>
            <a:ext cx="4104937" cy="884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 sz="1500"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ФП: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пять ĸонĸретных свойств ĸода</a:t>
            </a:r>
            <a:endParaRPr>
              <a:latin typeface="Montserrat Thin Bold"/>
              <a:ea typeface="Montserrat Thin Bold"/>
              <a:cs typeface="Montserrat Thin Bold"/>
              <a:sym typeface="Montserrat Thin Bold"/>
            </a:endParaRPr>
          </a:p>
          <a:p>
            <a:pPr>
              <a:lnSpc>
                <a:spcPct val="133302"/>
              </a:lnSpc>
              <a:defRPr sz="1500"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Смысл: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описание результата, а не миĸроменеджмент процесса.</a:t>
            </a:r>
          </a:p>
        </p:txBody>
      </p:sp>
      <p:sp>
        <p:nvSpPr>
          <p:cNvPr id="65" name="Google Shape;108;p3"/>
          <p:cNvSpPr txBox="1"/>
          <p:nvPr/>
        </p:nvSpPr>
        <p:spPr>
          <a:xfrm>
            <a:off x="3990942" y="3094543"/>
            <a:ext cx="4878185" cy="132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>
              <a:lnSpc>
                <a:spcPct val="60000"/>
              </a:lnSpc>
              <a:defRPr sz="2000">
                <a:solidFill>
                  <a:srgbClr val="FFFFFF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[1,2,3].map(x =&gt; x * 2)</a:t>
            </a:r>
          </a:p>
          <a:p>
            <a:pPr>
              <a:lnSpc>
                <a:spcPct val="60000"/>
              </a:lnSpc>
              <a:spcBef>
                <a:spcPts val="1400"/>
              </a:spcBef>
              <a:defRPr sz="2000">
                <a:solidFill>
                  <a:srgbClr val="FFFFFF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 add = x =&gt; y =&gt; x + y</a:t>
            </a:r>
          </a:p>
          <a:p>
            <a:pPr>
              <a:lnSpc>
                <a:spcPct val="60000"/>
              </a:lnSpc>
              <a:spcBef>
                <a:spcPts val="1400"/>
              </a:spcBef>
              <a:defRPr sz="2000">
                <a:solidFill>
                  <a:srgbClr val="FFFFFF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 x = 1; x = 2 // TypeError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69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70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71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72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Google Shape;66;p6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ПЯТЬ ЯЗЫКОВ</a:t>
            </a:r>
          </a:p>
        </p:txBody>
      </p:sp>
      <p:graphicFrame>
        <p:nvGraphicFramePr>
          <p:cNvPr id="74" name="Tаблица 1"/>
          <p:cNvGraphicFramePr/>
          <p:nvPr/>
        </p:nvGraphicFramePr>
        <p:xfrm>
          <a:off x="2585435" y="1760765"/>
          <a:ext cx="4699237" cy="247549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49618"/>
                <a:gridCol w="2349618"/>
              </a:tblGrid>
              <a:tr h="49509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OCaml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A7A7A7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язык богов (тм)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49509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Scala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A7A7A7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почти OCaml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49509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Python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A7A7A7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язык МНС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49509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JS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A7A7A7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вездесущ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49509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Rust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A7A7A7"/>
                          </a:solidFill>
                          <a:latin typeface="Montserrat Thin Bold"/>
                          <a:ea typeface="Montserrat Thin Bold"/>
                          <a:cs typeface="Montserrat Thin Bold"/>
                          <a:sym typeface="Montserrat Thin Bold"/>
                        </a:rPr>
                        <a:t>всемогущ</a:t>
                      </a:r>
                    </a:p>
                  </a:txBody>
                  <a:tcPr marL="91075" marR="91075" marT="91075" marB="91075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78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79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80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81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Google Shape;66;p6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83" name="Google Shape;67;p6"/>
          <p:cNvSpPr txBox="1"/>
          <p:nvPr/>
        </p:nvSpPr>
        <p:spPr>
          <a:xfrm>
            <a:off x="381660" y="1584603"/>
            <a:ext cx="7165166" cy="120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150394" indent="-150394">
              <a:lnSpc>
                <a:spcPct val="133302"/>
              </a:lnSpc>
              <a:buSzPct val="150000"/>
              <a:buChar char="•"/>
              <a:defRPr sz="1500"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Императивный код —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rPr>
              <a:t>микроменеджмент</a:t>
            </a:r>
            <a:endParaRPr>
              <a:solidFill>
                <a:srgbClr val="FFFFFF"/>
              </a:solidFill>
            </a:endParaRPr>
          </a:p>
          <a:p>
            <a:pPr marL="150394" indent="-150394">
              <a:lnSpc>
                <a:spcPct val="133302"/>
              </a:lnSpc>
              <a:buSzPct val="150000"/>
              <a:buChar char="•"/>
              <a:defRPr sz="1500"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Декларативный код —</a:t>
            </a:r>
            <a:r>
              <a: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rPr>
              <a:t> спецификация</a:t>
            </a:r>
            <a:endParaRPr>
              <a:solidFill>
                <a:srgbClr val="FFFFFF"/>
              </a:solidFill>
              <a:latin typeface="Montserrat Thin Black"/>
              <a:ea typeface="Montserrat Thin Black"/>
              <a:cs typeface="Montserrat Thin Black"/>
              <a:sym typeface="Montserrat Thin Black"/>
            </a:endParaRPr>
          </a:p>
          <a:p>
            <a:pPr marL="150394" indent="-150394">
              <a:lnSpc>
                <a:spcPct val="133302"/>
              </a:lnSpc>
              <a:buSzPct val="150000"/>
              <a:buChar char="•"/>
              <a:defRPr sz="1500"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Людям —</a:t>
            </a:r>
            <a:r>
              <a: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rPr>
              <a:t> понятность</a:t>
            </a:r>
            <a:endParaRPr>
              <a:solidFill>
                <a:srgbClr val="FFFFFF"/>
              </a:solidFill>
              <a:latin typeface="Montserrat Thin Black"/>
              <a:ea typeface="Montserrat Thin Black"/>
              <a:cs typeface="Montserrat Thin Black"/>
              <a:sym typeface="Montserrat Thin Black"/>
            </a:endParaRPr>
          </a:p>
          <a:p>
            <a:pPr marL="150394" indent="-150394">
              <a:lnSpc>
                <a:spcPct val="133302"/>
              </a:lnSpc>
              <a:buSzPct val="150000"/>
              <a:buChar char="•"/>
              <a:defRPr sz="1500"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t>Машинам — </a:t>
            </a:r>
            <a:r>
              <a: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rPr>
              <a:t>законы оптимизации</a:t>
            </a:r>
          </a:p>
        </p:txBody>
      </p:sp>
      <p:sp>
        <p:nvSpPr>
          <p:cNvPr id="84" name="Google Shape;108;p3"/>
          <p:cNvSpPr txBox="1"/>
          <p:nvPr/>
        </p:nvSpPr>
        <p:spPr>
          <a:xfrm>
            <a:off x="3420131" y="3384043"/>
            <a:ext cx="5557448" cy="1326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>
              <a:lnSpc>
                <a:spcPct val="60000"/>
              </a:lnSpc>
              <a:spcBef>
                <a:spcPts val="1400"/>
              </a:spcBef>
              <a:defRPr sz="2000">
                <a:solidFill>
                  <a:srgbClr val="FFFFFF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SELECT … WHERE vs for … in</a:t>
            </a:r>
          </a:p>
          <a:p>
            <a:pPr>
              <a:lnSpc>
                <a:spcPct val="60000"/>
              </a:lnSpc>
              <a:spcBef>
                <a:spcPts val="1400"/>
              </a:spcBef>
              <a:defRPr sz="2000">
                <a:solidFill>
                  <a:srgbClr val="FFFFFF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for … end vs list.map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88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89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90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91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93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  <p:sp>
        <p:nvSpPr>
          <p:cNvPr id="94" name="lbl_0"/>
          <p:cNvSpPr txBox="1"/>
          <p:nvPr/>
        </p:nvSpPr>
        <p:spPr>
          <a:xfrm>
            <a:off x="386757" y="1791582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OCaml</a:t>
            </a:r>
          </a:p>
        </p:txBody>
      </p:sp>
      <p:sp>
        <p:nvSpPr>
          <p:cNvPr id="95" name="code_0"/>
          <p:cNvSpPr txBox="1"/>
          <p:nvPr/>
        </p:nvSpPr>
        <p:spPr>
          <a:xfrm>
            <a:off x="386759" y="2097651"/>
            <a:ext cx="3540758" cy="133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let</a:t>
            </a:r>
            <a:r>
              <a:rPr>
                <a:solidFill>
                  <a:srgbClr val="2A2A2A"/>
                </a:solidFill>
              </a:rPr>
              <a:t> discount orders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2A2A2A"/>
                </a:solidFill>
              </a:rPr>
              <a:t>List</a:t>
            </a:r>
            <a:r>
              <a:t>.filter (</a:t>
            </a:r>
            <a:r>
              <a:rPr>
                <a:solidFill>
                  <a:srgbClr val="2A2A2A"/>
                </a:solidFill>
              </a:rPr>
              <a:t>fun</a:t>
            </a:r>
            <a:r>
              <a:t> o -&gt; o.price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2A2A2A"/>
                </a:solidFill>
              </a:rPr>
              <a:t>List</a:t>
            </a:r>
            <a:r>
              <a:t>.map (</a:t>
            </a:r>
            <a:r>
              <a:rPr>
                <a:solidFill>
                  <a:srgbClr val="2A2A2A"/>
                </a:solidFill>
              </a:rPr>
              <a:t>fun</a:t>
            </a:r>
            <a:r>
              <a:t> o -&gt; o.price *.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2A2A2A"/>
                </a:solidFill>
              </a:rPr>
              <a:t>List</a:t>
            </a:r>
            <a:r>
              <a:t>.fold_left ( +. ) </a:t>
            </a:r>
            <a:r>
              <a:rPr>
                <a:solidFill>
                  <a:srgbClr val="2A2A2A"/>
                </a:solidFill>
              </a:rPr>
              <a:t>0.0</a:t>
            </a:r>
          </a:p>
        </p:txBody>
      </p:sp>
      <p:sp>
        <p:nvSpPr>
          <p:cNvPr id="96" name="lbl_1"/>
          <p:cNvSpPr txBox="1"/>
          <p:nvPr/>
        </p:nvSpPr>
        <p:spPr>
          <a:xfrm>
            <a:off x="3710061" y="1774624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Scala</a:t>
            </a:r>
          </a:p>
        </p:txBody>
      </p:sp>
      <p:sp>
        <p:nvSpPr>
          <p:cNvPr id="97" name="code_1"/>
          <p:cNvSpPr txBox="1"/>
          <p:nvPr/>
        </p:nvSpPr>
        <p:spPr>
          <a:xfrm>
            <a:off x="3710059" y="2080692"/>
            <a:ext cx="2430383" cy="13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2A2A2A"/>
                </a:solidFill>
              </a:rPr>
              <a:t> discount(xs: </a:t>
            </a:r>
            <a:r>
              <a:rPr>
                <a:solidFill>
                  <a:srgbClr val="2A2A2A"/>
                </a:solidFill>
              </a:rPr>
              <a:t>List</a:t>
            </a:r>
            <a:r>
              <a:rPr>
                <a:solidFill>
                  <a:srgbClr val="2A2A2A"/>
                </a:solidFill>
              </a:rPr>
              <a:t>[</a:t>
            </a:r>
            <a:r>
              <a:rPr>
                <a:solidFill>
                  <a:srgbClr val="2A2A2A"/>
                </a:solidFill>
              </a:rPr>
              <a:t>Order</a:t>
            </a:r>
            <a:r>
              <a:rPr>
                <a:solidFill>
                  <a:srgbClr val="2A2A2A"/>
                </a:solidFill>
              </a:rPr>
              <a:t>])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(_.price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(_.price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sum</a:t>
            </a:r>
          </a:p>
        </p:txBody>
      </p:sp>
      <p:sp>
        <p:nvSpPr>
          <p:cNvPr id="98" name="lbl_2"/>
          <p:cNvSpPr txBox="1"/>
          <p:nvPr/>
        </p:nvSpPr>
        <p:spPr>
          <a:xfrm>
            <a:off x="6260844" y="1774624"/>
            <a:ext cx="59181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99" name="code_2"/>
          <p:cNvSpPr txBox="1"/>
          <p:nvPr/>
        </p:nvSpPr>
        <p:spPr>
          <a:xfrm>
            <a:off x="6260844" y="2080692"/>
            <a:ext cx="2760594" cy="1365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fn</a:t>
            </a:r>
            <a:r>
              <a:rPr>
                <a:solidFill>
                  <a:srgbClr val="2A2A2A"/>
                </a:solidFill>
              </a:rPr>
              <a:t> discount(xs: &amp;[</a:t>
            </a:r>
            <a:r>
              <a:rPr>
                <a:solidFill>
                  <a:srgbClr val="2A2A2A"/>
                </a:solidFill>
              </a:rPr>
              <a:t>Order</a:t>
            </a:r>
            <a:r>
              <a:rPr>
                <a:solidFill>
                  <a:srgbClr val="2A2A2A"/>
                </a:solidFill>
              </a:rPr>
              <a:t>]) -&gt; </a:t>
            </a:r>
            <a:r>
              <a:rPr>
                <a:solidFill>
                  <a:srgbClr val="2A2A2A"/>
                </a:solidFill>
              </a:rPr>
              <a:t>f64</a:t>
            </a:r>
            <a:r>
              <a:rPr>
                <a:solidFill>
                  <a:srgbClr val="2A2A2A"/>
                </a:solidFill>
              </a:rPr>
              <a:t> {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xs.</a:t>
            </a:r>
            <a:r>
              <a:rPr>
                <a:solidFill>
                  <a:srgbClr val="2A2A2A"/>
                </a:solidFill>
              </a:rPr>
              <a:t>iter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(|o| o.price &gt; </a:t>
            </a:r>
            <a:r>
              <a:rPr>
                <a:solidFill>
                  <a:srgbClr val="2A2A2A"/>
                </a:solidFill>
              </a:rPr>
              <a:t>100.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(|o|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sum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</a:t>
            </a:r>
          </a:p>
        </p:txBody>
      </p:sp>
      <p:sp>
        <p:nvSpPr>
          <p:cNvPr id="100" name="lbl_3"/>
          <p:cNvSpPr txBox="1"/>
          <p:nvPr/>
        </p:nvSpPr>
        <p:spPr>
          <a:xfrm>
            <a:off x="1981077" y="3513156"/>
            <a:ext cx="8356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01" name="code_3"/>
          <p:cNvSpPr txBox="1"/>
          <p:nvPr/>
        </p:nvSpPr>
        <p:spPr>
          <a:xfrm>
            <a:off x="1981076" y="3819224"/>
            <a:ext cx="2031998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2A2A2A"/>
                </a:solidFill>
              </a:rPr>
              <a:t> discount(orders):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return</a:t>
            </a:r>
            <a:r>
              <a:rPr>
                <a:solidFill>
                  <a:srgbClr val="2A2A2A"/>
                </a:solidFill>
              </a:rPr>
              <a:t> sum(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o.price * </a:t>
            </a:r>
            <a:r>
              <a:rPr>
                <a:solidFill>
                  <a:srgbClr val="2A2A2A"/>
                </a:solidFill>
              </a:rPr>
              <a:t>0.1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for</a:t>
            </a:r>
            <a:r>
              <a:t> o </a:t>
            </a:r>
            <a:r>
              <a:rPr>
                <a:solidFill>
                  <a:srgbClr val="2A2A2A"/>
                </a:solidFill>
              </a:rPr>
              <a:t>in</a:t>
            </a:r>
            <a:r>
              <a:t>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if</a:t>
            </a:r>
            <a:r>
              <a:t> o.price &gt; </a:t>
            </a:r>
            <a:r>
              <a:rPr>
                <a:solidFill>
                  <a:srgbClr val="2A2A2A"/>
                </a:solidFill>
              </a:rPr>
              <a:t>100.0</a:t>
            </a:r>
            <a:r>
              <a:t>)</a:t>
            </a:r>
          </a:p>
        </p:txBody>
      </p:sp>
      <p:sp>
        <p:nvSpPr>
          <p:cNvPr id="102" name="lbl_4"/>
          <p:cNvSpPr txBox="1"/>
          <p:nvPr/>
        </p:nvSpPr>
        <p:spPr>
          <a:xfrm>
            <a:off x="5296265" y="3513156"/>
            <a:ext cx="3479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JS</a:t>
            </a:r>
          </a:p>
        </p:txBody>
      </p:sp>
      <p:sp>
        <p:nvSpPr>
          <p:cNvPr id="103" name="code_4"/>
          <p:cNvSpPr txBox="1"/>
          <p:nvPr/>
        </p:nvSpPr>
        <p:spPr>
          <a:xfrm>
            <a:off x="5296265" y="3819224"/>
            <a:ext cx="2268282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</a:t>
            </a:r>
            <a:r>
              <a:rPr>
                <a:solidFill>
                  <a:srgbClr val="2A2A2A"/>
                </a:solidFill>
              </a:rPr>
              <a:t> discount = orders =&gt;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(o =&gt; o.price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(o =&gt;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reduce</a:t>
            </a:r>
            <a:r>
              <a:t>((s,d) =&gt; s+d, </a:t>
            </a:r>
            <a:r>
              <a:rPr>
                <a:solidFill>
                  <a:srgbClr val="2A2A2A"/>
                </a:solidFill>
              </a:rPr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07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108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09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110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112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  <p:sp>
        <p:nvSpPr>
          <p:cNvPr id="113" name="lbl_0"/>
          <p:cNvSpPr txBox="1"/>
          <p:nvPr/>
        </p:nvSpPr>
        <p:spPr>
          <a:xfrm>
            <a:off x="386757" y="1791582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OCaml</a:t>
            </a:r>
          </a:p>
        </p:txBody>
      </p:sp>
      <p:sp>
        <p:nvSpPr>
          <p:cNvPr id="114" name="code_0"/>
          <p:cNvSpPr txBox="1"/>
          <p:nvPr/>
        </p:nvSpPr>
        <p:spPr>
          <a:xfrm>
            <a:off x="386759" y="2097651"/>
            <a:ext cx="3540758" cy="133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let</a:t>
            </a:r>
            <a:r>
              <a:rPr>
                <a:solidFill>
                  <a:srgbClr val="D0D0D0"/>
                </a:solidFill>
              </a:rPr>
              <a:t> discount orders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.filter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.map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*.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.fold_left ( +. ) </a:t>
            </a:r>
            <a:r>
              <a:rPr>
                <a:solidFill>
                  <a:srgbClr val="E5C07B"/>
                </a:solidFill>
              </a:rPr>
              <a:t>0.0</a:t>
            </a:r>
          </a:p>
        </p:txBody>
      </p:sp>
      <p:sp>
        <p:nvSpPr>
          <p:cNvPr id="115" name="lbl_1"/>
          <p:cNvSpPr txBox="1"/>
          <p:nvPr/>
        </p:nvSpPr>
        <p:spPr>
          <a:xfrm>
            <a:off x="3710061" y="1774624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Scala</a:t>
            </a:r>
          </a:p>
        </p:txBody>
      </p:sp>
      <p:sp>
        <p:nvSpPr>
          <p:cNvPr id="116" name="code_1"/>
          <p:cNvSpPr txBox="1"/>
          <p:nvPr/>
        </p:nvSpPr>
        <p:spPr>
          <a:xfrm>
            <a:off x="3710059" y="2080692"/>
            <a:ext cx="2430383" cy="13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2A2A2A"/>
                </a:solidFill>
              </a:rPr>
              <a:t> discount(xs: </a:t>
            </a:r>
            <a:r>
              <a:rPr>
                <a:solidFill>
                  <a:srgbClr val="2A2A2A"/>
                </a:solidFill>
              </a:rPr>
              <a:t>List</a:t>
            </a:r>
            <a:r>
              <a:rPr>
                <a:solidFill>
                  <a:srgbClr val="2A2A2A"/>
                </a:solidFill>
              </a:rPr>
              <a:t>[</a:t>
            </a:r>
            <a:r>
              <a:rPr>
                <a:solidFill>
                  <a:srgbClr val="2A2A2A"/>
                </a:solidFill>
              </a:rPr>
              <a:t>Order</a:t>
            </a:r>
            <a:r>
              <a:rPr>
                <a:solidFill>
                  <a:srgbClr val="2A2A2A"/>
                </a:solidFill>
              </a:rPr>
              <a:t>])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(_.price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(_.price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sum</a:t>
            </a:r>
          </a:p>
        </p:txBody>
      </p:sp>
      <p:sp>
        <p:nvSpPr>
          <p:cNvPr id="117" name="lbl_2"/>
          <p:cNvSpPr txBox="1"/>
          <p:nvPr/>
        </p:nvSpPr>
        <p:spPr>
          <a:xfrm>
            <a:off x="6260844" y="1774624"/>
            <a:ext cx="59181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18" name="code_2"/>
          <p:cNvSpPr txBox="1"/>
          <p:nvPr/>
        </p:nvSpPr>
        <p:spPr>
          <a:xfrm>
            <a:off x="6260844" y="2080692"/>
            <a:ext cx="2760594" cy="1365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fn</a:t>
            </a:r>
            <a:r>
              <a:rPr>
                <a:solidFill>
                  <a:srgbClr val="2A2A2A"/>
                </a:solidFill>
              </a:rPr>
              <a:t> discount(xs: &amp;[</a:t>
            </a:r>
            <a:r>
              <a:rPr>
                <a:solidFill>
                  <a:srgbClr val="2A2A2A"/>
                </a:solidFill>
              </a:rPr>
              <a:t>Order</a:t>
            </a:r>
            <a:r>
              <a:rPr>
                <a:solidFill>
                  <a:srgbClr val="2A2A2A"/>
                </a:solidFill>
              </a:rPr>
              <a:t>]) -&gt; </a:t>
            </a:r>
            <a:r>
              <a:rPr>
                <a:solidFill>
                  <a:srgbClr val="2A2A2A"/>
                </a:solidFill>
              </a:rPr>
              <a:t>f64</a:t>
            </a:r>
            <a:r>
              <a:rPr>
                <a:solidFill>
                  <a:srgbClr val="2A2A2A"/>
                </a:solidFill>
              </a:rPr>
              <a:t> {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xs.</a:t>
            </a:r>
            <a:r>
              <a:rPr>
                <a:solidFill>
                  <a:srgbClr val="2A2A2A"/>
                </a:solidFill>
              </a:rPr>
              <a:t>iter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(|o| o.price &gt; </a:t>
            </a:r>
            <a:r>
              <a:rPr>
                <a:solidFill>
                  <a:srgbClr val="2A2A2A"/>
                </a:solidFill>
              </a:rPr>
              <a:t>100.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(|o|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sum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</a:t>
            </a:r>
          </a:p>
        </p:txBody>
      </p:sp>
      <p:sp>
        <p:nvSpPr>
          <p:cNvPr id="119" name="lbl_3"/>
          <p:cNvSpPr txBox="1"/>
          <p:nvPr/>
        </p:nvSpPr>
        <p:spPr>
          <a:xfrm>
            <a:off x="1981077" y="3513156"/>
            <a:ext cx="8356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20" name="code_3"/>
          <p:cNvSpPr txBox="1"/>
          <p:nvPr/>
        </p:nvSpPr>
        <p:spPr>
          <a:xfrm>
            <a:off x="1981076" y="3819224"/>
            <a:ext cx="2031998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2A2A2A"/>
                </a:solidFill>
              </a:rPr>
              <a:t> discount(orders):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return</a:t>
            </a:r>
            <a:r>
              <a:rPr>
                <a:solidFill>
                  <a:srgbClr val="2A2A2A"/>
                </a:solidFill>
              </a:rPr>
              <a:t> sum(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o.price * </a:t>
            </a:r>
            <a:r>
              <a:rPr>
                <a:solidFill>
                  <a:srgbClr val="2A2A2A"/>
                </a:solidFill>
              </a:rPr>
              <a:t>0.1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for</a:t>
            </a:r>
            <a:r>
              <a:t> o </a:t>
            </a:r>
            <a:r>
              <a:rPr>
                <a:solidFill>
                  <a:srgbClr val="2A2A2A"/>
                </a:solidFill>
              </a:rPr>
              <a:t>in</a:t>
            </a:r>
            <a:r>
              <a:t>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if</a:t>
            </a:r>
            <a:r>
              <a:t> o.price &gt; </a:t>
            </a:r>
            <a:r>
              <a:rPr>
                <a:solidFill>
                  <a:srgbClr val="2A2A2A"/>
                </a:solidFill>
              </a:rPr>
              <a:t>100.0</a:t>
            </a:r>
            <a:r>
              <a:t>)</a:t>
            </a:r>
          </a:p>
        </p:txBody>
      </p:sp>
      <p:sp>
        <p:nvSpPr>
          <p:cNvPr id="121" name="lbl_4"/>
          <p:cNvSpPr txBox="1"/>
          <p:nvPr/>
        </p:nvSpPr>
        <p:spPr>
          <a:xfrm>
            <a:off x="5296265" y="3513156"/>
            <a:ext cx="3479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JS</a:t>
            </a:r>
          </a:p>
        </p:txBody>
      </p:sp>
      <p:sp>
        <p:nvSpPr>
          <p:cNvPr id="122" name="code_4"/>
          <p:cNvSpPr txBox="1"/>
          <p:nvPr/>
        </p:nvSpPr>
        <p:spPr>
          <a:xfrm>
            <a:off x="5296265" y="3819224"/>
            <a:ext cx="2268282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</a:t>
            </a:r>
            <a:r>
              <a:rPr>
                <a:solidFill>
                  <a:srgbClr val="2A2A2A"/>
                </a:solidFill>
              </a:rPr>
              <a:t> discount = orders =&gt;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(o =&gt; o.price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(o =&gt;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reduce</a:t>
            </a:r>
            <a:r>
              <a:t>((s,d) =&gt; s+d, </a:t>
            </a:r>
            <a:r>
              <a:rPr>
                <a:solidFill>
                  <a:srgbClr val="2A2A2A"/>
                </a:solidFill>
              </a:rPr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26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127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28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129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131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  <p:sp>
        <p:nvSpPr>
          <p:cNvPr id="132" name="lbl_0"/>
          <p:cNvSpPr txBox="1"/>
          <p:nvPr/>
        </p:nvSpPr>
        <p:spPr>
          <a:xfrm>
            <a:off x="386757" y="1791582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OCaml</a:t>
            </a:r>
          </a:p>
        </p:txBody>
      </p:sp>
      <p:sp>
        <p:nvSpPr>
          <p:cNvPr id="133" name="code_0"/>
          <p:cNvSpPr txBox="1"/>
          <p:nvPr/>
        </p:nvSpPr>
        <p:spPr>
          <a:xfrm>
            <a:off x="386759" y="2097651"/>
            <a:ext cx="3540758" cy="133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let</a:t>
            </a:r>
            <a:r>
              <a:rPr>
                <a:solidFill>
                  <a:srgbClr val="D0D0D0"/>
                </a:solidFill>
              </a:rPr>
              <a:t> discount orders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.filter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.map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*.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.fold_left ( +. ) </a:t>
            </a:r>
            <a:r>
              <a:rPr>
                <a:solidFill>
                  <a:srgbClr val="E5C07B"/>
                </a:solidFill>
              </a:rPr>
              <a:t>0.0</a:t>
            </a:r>
          </a:p>
        </p:txBody>
      </p:sp>
      <p:sp>
        <p:nvSpPr>
          <p:cNvPr id="134" name="lbl_1"/>
          <p:cNvSpPr txBox="1"/>
          <p:nvPr/>
        </p:nvSpPr>
        <p:spPr>
          <a:xfrm>
            <a:off x="3710061" y="1774624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Scala</a:t>
            </a:r>
          </a:p>
        </p:txBody>
      </p:sp>
      <p:sp>
        <p:nvSpPr>
          <p:cNvPr id="135" name="code_1"/>
          <p:cNvSpPr txBox="1"/>
          <p:nvPr/>
        </p:nvSpPr>
        <p:spPr>
          <a:xfrm>
            <a:off x="3710059" y="2080692"/>
            <a:ext cx="2430383" cy="13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D0D0D0"/>
                </a:solidFill>
              </a:rPr>
              <a:t> discount(xs: </a:t>
            </a:r>
            <a:r>
              <a:rPr>
                <a:solidFill>
                  <a:srgbClr val="61AFEF"/>
                </a:solidFill>
              </a:rPr>
              <a:t>List</a:t>
            </a:r>
            <a:r>
              <a:rPr>
                <a:solidFill>
                  <a:srgbClr val="D0D0D0"/>
                </a:solidFill>
              </a:rPr>
              <a:t>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(_.price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(_.price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</a:p>
        </p:txBody>
      </p:sp>
      <p:sp>
        <p:nvSpPr>
          <p:cNvPr id="136" name="lbl_2"/>
          <p:cNvSpPr txBox="1"/>
          <p:nvPr/>
        </p:nvSpPr>
        <p:spPr>
          <a:xfrm>
            <a:off x="6260844" y="1774624"/>
            <a:ext cx="59181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37" name="code_2"/>
          <p:cNvSpPr txBox="1"/>
          <p:nvPr/>
        </p:nvSpPr>
        <p:spPr>
          <a:xfrm>
            <a:off x="6260844" y="2080692"/>
            <a:ext cx="2760594" cy="1365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fn</a:t>
            </a:r>
            <a:r>
              <a:rPr>
                <a:solidFill>
                  <a:srgbClr val="2A2A2A"/>
                </a:solidFill>
              </a:rPr>
              <a:t> discount(xs: &amp;[</a:t>
            </a:r>
            <a:r>
              <a:rPr>
                <a:solidFill>
                  <a:srgbClr val="2A2A2A"/>
                </a:solidFill>
              </a:rPr>
              <a:t>Order</a:t>
            </a:r>
            <a:r>
              <a:rPr>
                <a:solidFill>
                  <a:srgbClr val="2A2A2A"/>
                </a:solidFill>
              </a:rPr>
              <a:t>]) -&gt; </a:t>
            </a:r>
            <a:r>
              <a:rPr>
                <a:solidFill>
                  <a:srgbClr val="2A2A2A"/>
                </a:solidFill>
              </a:rPr>
              <a:t>f64</a:t>
            </a:r>
            <a:r>
              <a:rPr>
                <a:solidFill>
                  <a:srgbClr val="2A2A2A"/>
                </a:solidFill>
              </a:rPr>
              <a:t> {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xs.</a:t>
            </a:r>
            <a:r>
              <a:rPr>
                <a:solidFill>
                  <a:srgbClr val="2A2A2A"/>
                </a:solidFill>
              </a:rPr>
              <a:t>iter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(|o| o.price &gt; </a:t>
            </a:r>
            <a:r>
              <a:rPr>
                <a:solidFill>
                  <a:srgbClr val="2A2A2A"/>
                </a:solidFill>
              </a:rPr>
              <a:t>100.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(|o|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sum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</a:t>
            </a:r>
          </a:p>
        </p:txBody>
      </p:sp>
      <p:sp>
        <p:nvSpPr>
          <p:cNvPr id="138" name="lbl_3"/>
          <p:cNvSpPr txBox="1"/>
          <p:nvPr/>
        </p:nvSpPr>
        <p:spPr>
          <a:xfrm>
            <a:off x="1981077" y="3513156"/>
            <a:ext cx="8356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39" name="code_3"/>
          <p:cNvSpPr txBox="1"/>
          <p:nvPr/>
        </p:nvSpPr>
        <p:spPr>
          <a:xfrm>
            <a:off x="1981076" y="3819224"/>
            <a:ext cx="2031998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2A2A2A"/>
                </a:solidFill>
              </a:rPr>
              <a:t> discount(orders):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return</a:t>
            </a:r>
            <a:r>
              <a:rPr>
                <a:solidFill>
                  <a:srgbClr val="2A2A2A"/>
                </a:solidFill>
              </a:rPr>
              <a:t> sum(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o.price * </a:t>
            </a:r>
            <a:r>
              <a:rPr>
                <a:solidFill>
                  <a:srgbClr val="2A2A2A"/>
                </a:solidFill>
              </a:rPr>
              <a:t>0.1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for</a:t>
            </a:r>
            <a:r>
              <a:t> o </a:t>
            </a:r>
            <a:r>
              <a:rPr>
                <a:solidFill>
                  <a:srgbClr val="2A2A2A"/>
                </a:solidFill>
              </a:rPr>
              <a:t>in</a:t>
            </a:r>
            <a:r>
              <a:t>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if</a:t>
            </a:r>
            <a:r>
              <a:t> o.price &gt; </a:t>
            </a:r>
            <a:r>
              <a:rPr>
                <a:solidFill>
                  <a:srgbClr val="2A2A2A"/>
                </a:solidFill>
              </a:rPr>
              <a:t>100.0</a:t>
            </a:r>
            <a:r>
              <a:t>)</a:t>
            </a:r>
          </a:p>
        </p:txBody>
      </p:sp>
      <p:sp>
        <p:nvSpPr>
          <p:cNvPr id="140" name="lbl_4"/>
          <p:cNvSpPr txBox="1"/>
          <p:nvPr/>
        </p:nvSpPr>
        <p:spPr>
          <a:xfrm>
            <a:off x="5296265" y="3513156"/>
            <a:ext cx="3479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JS</a:t>
            </a:r>
          </a:p>
        </p:txBody>
      </p:sp>
      <p:sp>
        <p:nvSpPr>
          <p:cNvPr id="141" name="code_4"/>
          <p:cNvSpPr txBox="1"/>
          <p:nvPr/>
        </p:nvSpPr>
        <p:spPr>
          <a:xfrm>
            <a:off x="5296265" y="3819224"/>
            <a:ext cx="2268282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</a:t>
            </a:r>
            <a:r>
              <a:rPr>
                <a:solidFill>
                  <a:srgbClr val="2A2A2A"/>
                </a:solidFill>
              </a:rPr>
              <a:t> discount = orders =&gt;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(o =&gt; o.price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(o =&gt;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reduce</a:t>
            </a:r>
            <a:r>
              <a:t>((s,d) =&gt; s+d, </a:t>
            </a:r>
            <a:r>
              <a:rPr>
                <a:solidFill>
                  <a:srgbClr val="2A2A2A"/>
                </a:solidFill>
              </a:rPr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45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146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47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148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150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  <p:sp>
        <p:nvSpPr>
          <p:cNvPr id="151" name="lbl_0"/>
          <p:cNvSpPr txBox="1"/>
          <p:nvPr/>
        </p:nvSpPr>
        <p:spPr>
          <a:xfrm>
            <a:off x="386757" y="1791582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OCaml</a:t>
            </a:r>
          </a:p>
        </p:txBody>
      </p:sp>
      <p:sp>
        <p:nvSpPr>
          <p:cNvPr id="152" name="code_0"/>
          <p:cNvSpPr txBox="1"/>
          <p:nvPr/>
        </p:nvSpPr>
        <p:spPr>
          <a:xfrm>
            <a:off x="386759" y="2097651"/>
            <a:ext cx="3540758" cy="133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let</a:t>
            </a:r>
            <a:r>
              <a:rPr>
                <a:solidFill>
                  <a:srgbClr val="D0D0D0"/>
                </a:solidFill>
              </a:rPr>
              <a:t> discount orders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.filter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.map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*.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.fold_left ( +. ) </a:t>
            </a:r>
            <a:r>
              <a:rPr>
                <a:solidFill>
                  <a:srgbClr val="E5C07B"/>
                </a:solidFill>
              </a:rPr>
              <a:t>0.0</a:t>
            </a:r>
          </a:p>
        </p:txBody>
      </p:sp>
      <p:sp>
        <p:nvSpPr>
          <p:cNvPr id="153" name="lbl_1"/>
          <p:cNvSpPr txBox="1"/>
          <p:nvPr/>
        </p:nvSpPr>
        <p:spPr>
          <a:xfrm>
            <a:off x="3710061" y="1774624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Scala</a:t>
            </a:r>
          </a:p>
        </p:txBody>
      </p:sp>
      <p:sp>
        <p:nvSpPr>
          <p:cNvPr id="154" name="code_1"/>
          <p:cNvSpPr txBox="1"/>
          <p:nvPr/>
        </p:nvSpPr>
        <p:spPr>
          <a:xfrm>
            <a:off x="3710059" y="2080692"/>
            <a:ext cx="2430383" cy="13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D0D0D0"/>
                </a:solidFill>
              </a:rPr>
              <a:t> discount(xs: </a:t>
            </a:r>
            <a:r>
              <a:rPr>
                <a:solidFill>
                  <a:srgbClr val="61AFEF"/>
                </a:solidFill>
              </a:rPr>
              <a:t>List</a:t>
            </a:r>
            <a:r>
              <a:rPr>
                <a:solidFill>
                  <a:srgbClr val="D0D0D0"/>
                </a:solidFill>
              </a:rPr>
              <a:t>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(_.price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(_.price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</a:p>
        </p:txBody>
      </p:sp>
      <p:sp>
        <p:nvSpPr>
          <p:cNvPr id="155" name="lbl_2"/>
          <p:cNvSpPr txBox="1"/>
          <p:nvPr/>
        </p:nvSpPr>
        <p:spPr>
          <a:xfrm>
            <a:off x="6260844" y="1774624"/>
            <a:ext cx="59181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56" name="code_2"/>
          <p:cNvSpPr txBox="1"/>
          <p:nvPr/>
        </p:nvSpPr>
        <p:spPr>
          <a:xfrm>
            <a:off x="6260844" y="2080692"/>
            <a:ext cx="2760594" cy="1365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fn</a:t>
            </a:r>
            <a:r>
              <a:rPr>
                <a:solidFill>
                  <a:srgbClr val="D0D0D0"/>
                </a:solidFill>
              </a:rPr>
              <a:t> discount(xs: &amp;[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-&gt; </a:t>
            </a:r>
            <a:r>
              <a:rPr>
                <a:solidFill>
                  <a:srgbClr val="61AFEF"/>
                </a:solidFill>
              </a:rPr>
              <a:t>f64</a:t>
            </a:r>
            <a:r>
              <a:rPr>
                <a:solidFill>
                  <a:srgbClr val="D0D0D0"/>
                </a:solidFill>
              </a:rPr>
              <a:t> {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xs.</a:t>
            </a:r>
            <a:r>
              <a:rPr>
                <a:solidFill>
                  <a:srgbClr val="61AFEF"/>
                </a:solidFill>
              </a:rPr>
              <a:t>iter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(|o| o.price &gt; </a:t>
            </a:r>
            <a:r>
              <a:rPr>
                <a:solidFill>
                  <a:srgbClr val="E5C07B"/>
                </a:solidFill>
              </a:rPr>
              <a:t>100.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(|o| o.price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</a:t>
            </a:r>
          </a:p>
        </p:txBody>
      </p:sp>
      <p:sp>
        <p:nvSpPr>
          <p:cNvPr id="157" name="lbl_3"/>
          <p:cNvSpPr txBox="1"/>
          <p:nvPr/>
        </p:nvSpPr>
        <p:spPr>
          <a:xfrm>
            <a:off x="1981077" y="3513156"/>
            <a:ext cx="8356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58" name="code_3"/>
          <p:cNvSpPr txBox="1"/>
          <p:nvPr/>
        </p:nvSpPr>
        <p:spPr>
          <a:xfrm>
            <a:off x="1981076" y="3819224"/>
            <a:ext cx="2031998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2A2A2A"/>
                </a:solidFill>
              </a:rPr>
              <a:t> discount(orders):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return</a:t>
            </a:r>
            <a:r>
              <a:rPr>
                <a:solidFill>
                  <a:srgbClr val="2A2A2A"/>
                </a:solidFill>
              </a:rPr>
              <a:t> sum(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o.price * </a:t>
            </a:r>
            <a:r>
              <a:rPr>
                <a:solidFill>
                  <a:srgbClr val="2A2A2A"/>
                </a:solidFill>
              </a:rPr>
              <a:t>0.1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for</a:t>
            </a:r>
            <a:r>
              <a:t> o </a:t>
            </a:r>
            <a:r>
              <a:rPr>
                <a:solidFill>
                  <a:srgbClr val="2A2A2A"/>
                </a:solidFill>
              </a:rPr>
              <a:t>in</a:t>
            </a:r>
            <a:r>
              <a:t>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2A2A2A"/>
                </a:solidFill>
              </a:rPr>
              <a:t>if</a:t>
            </a:r>
            <a:r>
              <a:t> o.price &gt; </a:t>
            </a:r>
            <a:r>
              <a:rPr>
                <a:solidFill>
                  <a:srgbClr val="2A2A2A"/>
                </a:solidFill>
              </a:rPr>
              <a:t>100.0</a:t>
            </a:r>
            <a:r>
              <a:t>)</a:t>
            </a:r>
          </a:p>
        </p:txBody>
      </p:sp>
      <p:sp>
        <p:nvSpPr>
          <p:cNvPr id="159" name="lbl_4"/>
          <p:cNvSpPr txBox="1"/>
          <p:nvPr/>
        </p:nvSpPr>
        <p:spPr>
          <a:xfrm>
            <a:off x="5296265" y="3513156"/>
            <a:ext cx="3479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JS</a:t>
            </a:r>
          </a:p>
        </p:txBody>
      </p:sp>
      <p:sp>
        <p:nvSpPr>
          <p:cNvPr id="160" name="code_4"/>
          <p:cNvSpPr txBox="1"/>
          <p:nvPr/>
        </p:nvSpPr>
        <p:spPr>
          <a:xfrm>
            <a:off x="5296265" y="3819224"/>
            <a:ext cx="2268282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</a:t>
            </a:r>
            <a:r>
              <a:rPr>
                <a:solidFill>
                  <a:srgbClr val="2A2A2A"/>
                </a:solidFill>
              </a:rPr>
              <a:t> discount = orders =&gt;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(o =&gt; o.price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(o =&gt;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reduce</a:t>
            </a:r>
            <a:r>
              <a:t>((s,d) =&gt; s+d, </a:t>
            </a:r>
            <a:r>
              <a:rPr>
                <a:solidFill>
                  <a:srgbClr val="2A2A2A"/>
                </a:solidFill>
              </a:rPr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64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165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166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167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169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  <p:sp>
        <p:nvSpPr>
          <p:cNvPr id="170" name="lbl_0"/>
          <p:cNvSpPr txBox="1"/>
          <p:nvPr/>
        </p:nvSpPr>
        <p:spPr>
          <a:xfrm>
            <a:off x="386757" y="1791582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OCaml</a:t>
            </a:r>
          </a:p>
        </p:txBody>
      </p:sp>
      <p:sp>
        <p:nvSpPr>
          <p:cNvPr id="171" name="code_0"/>
          <p:cNvSpPr txBox="1"/>
          <p:nvPr/>
        </p:nvSpPr>
        <p:spPr>
          <a:xfrm>
            <a:off x="386759" y="2097651"/>
            <a:ext cx="3540758" cy="133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let</a:t>
            </a:r>
            <a:r>
              <a:rPr>
                <a:solidFill>
                  <a:srgbClr val="D0D0D0"/>
                </a:solidFill>
              </a:rPr>
              <a:t> discount orders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.filter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.map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*.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.fold_left ( +. ) </a:t>
            </a:r>
            <a:r>
              <a:rPr>
                <a:solidFill>
                  <a:srgbClr val="E5C07B"/>
                </a:solidFill>
              </a:rPr>
              <a:t>0.0</a:t>
            </a:r>
          </a:p>
        </p:txBody>
      </p:sp>
      <p:sp>
        <p:nvSpPr>
          <p:cNvPr id="172" name="lbl_1"/>
          <p:cNvSpPr txBox="1"/>
          <p:nvPr/>
        </p:nvSpPr>
        <p:spPr>
          <a:xfrm>
            <a:off x="3710061" y="1774624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Scala</a:t>
            </a:r>
          </a:p>
        </p:txBody>
      </p:sp>
      <p:sp>
        <p:nvSpPr>
          <p:cNvPr id="173" name="code_1"/>
          <p:cNvSpPr txBox="1"/>
          <p:nvPr/>
        </p:nvSpPr>
        <p:spPr>
          <a:xfrm>
            <a:off x="3710059" y="2080692"/>
            <a:ext cx="2430383" cy="13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D0D0D0"/>
                </a:solidFill>
              </a:rPr>
              <a:t> discount(xs: </a:t>
            </a:r>
            <a:r>
              <a:rPr>
                <a:solidFill>
                  <a:srgbClr val="61AFEF"/>
                </a:solidFill>
              </a:rPr>
              <a:t>List</a:t>
            </a:r>
            <a:r>
              <a:rPr>
                <a:solidFill>
                  <a:srgbClr val="D0D0D0"/>
                </a:solidFill>
              </a:rPr>
              <a:t>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(_.price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(_.price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</a:p>
        </p:txBody>
      </p:sp>
      <p:sp>
        <p:nvSpPr>
          <p:cNvPr id="174" name="lbl_2"/>
          <p:cNvSpPr txBox="1"/>
          <p:nvPr/>
        </p:nvSpPr>
        <p:spPr>
          <a:xfrm>
            <a:off x="6260844" y="1774624"/>
            <a:ext cx="59181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175" name="code_2"/>
          <p:cNvSpPr txBox="1"/>
          <p:nvPr/>
        </p:nvSpPr>
        <p:spPr>
          <a:xfrm>
            <a:off x="6260844" y="2080692"/>
            <a:ext cx="2760594" cy="1365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fn</a:t>
            </a:r>
            <a:r>
              <a:rPr>
                <a:solidFill>
                  <a:srgbClr val="D0D0D0"/>
                </a:solidFill>
              </a:rPr>
              <a:t> discount(xs: &amp;[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-&gt; </a:t>
            </a:r>
            <a:r>
              <a:rPr>
                <a:solidFill>
                  <a:srgbClr val="61AFEF"/>
                </a:solidFill>
              </a:rPr>
              <a:t>f64</a:t>
            </a:r>
            <a:r>
              <a:rPr>
                <a:solidFill>
                  <a:srgbClr val="D0D0D0"/>
                </a:solidFill>
              </a:rPr>
              <a:t> {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xs.</a:t>
            </a:r>
            <a:r>
              <a:rPr>
                <a:solidFill>
                  <a:srgbClr val="61AFEF"/>
                </a:solidFill>
              </a:rPr>
              <a:t>iter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(|o| o.price &gt; </a:t>
            </a:r>
            <a:r>
              <a:rPr>
                <a:solidFill>
                  <a:srgbClr val="E5C07B"/>
                </a:solidFill>
              </a:rPr>
              <a:t>100.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(|o| o.price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</a:t>
            </a:r>
          </a:p>
        </p:txBody>
      </p:sp>
      <p:sp>
        <p:nvSpPr>
          <p:cNvPr id="176" name="lbl_3"/>
          <p:cNvSpPr txBox="1"/>
          <p:nvPr/>
        </p:nvSpPr>
        <p:spPr>
          <a:xfrm>
            <a:off x="1981077" y="3513156"/>
            <a:ext cx="8356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77" name="code_3"/>
          <p:cNvSpPr txBox="1"/>
          <p:nvPr/>
        </p:nvSpPr>
        <p:spPr>
          <a:xfrm>
            <a:off x="1981076" y="3819224"/>
            <a:ext cx="2031998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D0D0D0"/>
                </a:solidFill>
              </a:rPr>
              <a:t> discount(orders):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return</a:t>
            </a:r>
            <a:r>
              <a:rPr>
                <a:solidFill>
                  <a:srgbClr val="D0D0D0"/>
                </a:solidFill>
              </a:rPr>
              <a:t> sum(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o.price * </a:t>
            </a:r>
            <a:r>
              <a:rPr>
                <a:solidFill>
                  <a:srgbClr val="E5C07B"/>
                </a:solidFill>
              </a:rPr>
              <a:t>0.1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E06C75"/>
                </a:solidFill>
              </a:rPr>
              <a:t>for</a:t>
            </a:r>
            <a:r>
              <a:t> o </a:t>
            </a:r>
            <a:r>
              <a:rPr>
                <a:solidFill>
                  <a:srgbClr val="E06C75"/>
                </a:solidFill>
              </a:rPr>
              <a:t>in</a:t>
            </a:r>
            <a:r>
              <a:t>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E06C75"/>
                </a:solidFill>
              </a:rPr>
              <a:t>if</a:t>
            </a:r>
            <a:r>
              <a:t> o.price &gt; </a:t>
            </a:r>
            <a:r>
              <a:rPr>
                <a:solidFill>
                  <a:srgbClr val="E5C07B"/>
                </a:solidFill>
              </a:rPr>
              <a:t>100.0</a:t>
            </a:r>
            <a:r>
              <a:t>)</a:t>
            </a:r>
          </a:p>
        </p:txBody>
      </p:sp>
      <p:sp>
        <p:nvSpPr>
          <p:cNvPr id="178" name="lbl_4"/>
          <p:cNvSpPr txBox="1"/>
          <p:nvPr/>
        </p:nvSpPr>
        <p:spPr>
          <a:xfrm>
            <a:off x="5296265" y="3513156"/>
            <a:ext cx="3479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JS</a:t>
            </a:r>
          </a:p>
        </p:txBody>
      </p:sp>
      <p:sp>
        <p:nvSpPr>
          <p:cNvPr id="179" name="code_4"/>
          <p:cNvSpPr txBox="1"/>
          <p:nvPr/>
        </p:nvSpPr>
        <p:spPr>
          <a:xfrm>
            <a:off x="5296265" y="3819224"/>
            <a:ext cx="2268282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</a:t>
            </a:r>
            <a:r>
              <a:rPr>
                <a:solidFill>
                  <a:srgbClr val="2A2A2A"/>
                </a:solidFill>
              </a:rPr>
              <a:t> discount = orders =&gt;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filter</a:t>
            </a:r>
            <a:r>
              <a:t>(o =&gt; o.price &gt; </a:t>
            </a:r>
            <a:r>
              <a:rPr>
                <a:solidFill>
                  <a:srgbClr val="2A2A2A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map</a:t>
            </a:r>
            <a:r>
              <a:t>(o =&gt; o.price * </a:t>
            </a:r>
            <a:r>
              <a:rPr>
                <a:solidFill>
                  <a:srgbClr val="2A2A2A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2A2A2A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2A2A2A"/>
                </a:solidFill>
              </a:rPr>
              <a:t>reduce</a:t>
            </a:r>
            <a:r>
              <a:t>((s,d) =&gt; s+d, </a:t>
            </a:r>
            <a:r>
              <a:rPr>
                <a:solidFill>
                  <a:srgbClr val="2A2A2A"/>
                </a:solidFill>
              </a:rPr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02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203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04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205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207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60;p6" descr="Google Shape;60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725" y="328613"/>
            <a:ext cx="1309688" cy="419102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Google Shape;61;p6"/>
          <p:cNvSpPr/>
          <p:nvPr/>
        </p:nvSpPr>
        <p:spPr>
          <a:xfrm>
            <a:off x="2114550" y="442912"/>
            <a:ext cx="1101629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11" name="Google Shape;62;p6"/>
          <p:cNvSpPr txBox="1"/>
          <p:nvPr/>
        </p:nvSpPr>
        <p:spPr>
          <a:xfrm>
            <a:off x="2286746" y="493097"/>
            <a:ext cx="7572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Иннополис</a:t>
            </a:r>
          </a:p>
        </p:txBody>
      </p:sp>
      <p:sp>
        <p:nvSpPr>
          <p:cNvPr id="212" name="Google Shape;63;p6"/>
          <p:cNvSpPr/>
          <p:nvPr/>
        </p:nvSpPr>
        <p:spPr>
          <a:xfrm>
            <a:off x="3319462" y="442912"/>
            <a:ext cx="1149255" cy="240073"/>
          </a:xfrm>
          <a:prstGeom prst="roundRect">
            <a:avLst>
              <a:gd name="adj" fmla="val 50000"/>
            </a:avLst>
          </a:prstGeom>
          <a:solidFill>
            <a:srgbClr val="48CC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</a:p>
        </p:txBody>
      </p:sp>
      <p:sp>
        <p:nvSpPr>
          <p:cNvPr id="213" name="Google Shape;64;p6"/>
          <p:cNvSpPr txBox="1"/>
          <p:nvPr/>
        </p:nvSpPr>
        <p:spPr>
          <a:xfrm>
            <a:off x="3491658" y="493097"/>
            <a:ext cx="8048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4946"/>
              </a:lnSpc>
              <a:defRPr sz="900"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17-18 апреля</a:t>
            </a:r>
          </a:p>
        </p:txBody>
      </p:sp>
      <p:pic>
        <p:nvPicPr>
          <p:cNvPr id="214" name="Google Shape;65;p6" descr="Google Shape;65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itle"/>
          <p:cNvSpPr txBox="1"/>
          <p:nvPr/>
        </p:nvSpPr>
        <p:spPr>
          <a:xfrm>
            <a:off x="404976" y="938037"/>
            <a:ext cx="58245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 sz="2200">
                <a:solidFill>
                  <a:srgbClr val="48CC42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ДЕКЛАРАТИВНОСТЬ</a:t>
            </a:r>
          </a:p>
        </p:txBody>
      </p:sp>
      <p:sp>
        <p:nvSpPr>
          <p:cNvPr id="216" name="sub"/>
          <p:cNvSpPr txBox="1"/>
          <p:nvPr/>
        </p:nvSpPr>
        <p:spPr>
          <a:xfrm>
            <a:off x="381660" y="1355700"/>
            <a:ext cx="8200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3302"/>
              </a:lnSpc>
              <a:defRPr>
                <a:solidFill>
                  <a:srgbClr val="FFFFFF"/>
                </a:solidFill>
                <a:latin typeface="Montserrat Thin Black"/>
                <a:ea typeface="Montserrat Thin Black"/>
                <a:cs typeface="Montserrat Thin Black"/>
                <a:sym typeface="Montserrat Thin Black"/>
              </a:defRPr>
            </a:pPr>
            <a:r>
              <a:t>Задача:</a:t>
            </a:r>
            <a:r>
              <a:rPr>
                <a:latin typeface="Montserrat Thin Bold"/>
                <a:ea typeface="Montserrat Thin Bold"/>
                <a:cs typeface="Montserrat Thin Bold"/>
                <a:sym typeface="Montserrat Thin Bold"/>
              </a:rPr>
              <a:t> </a:t>
            </a:r>
            <a:r>
              <a:rPr>
                <a:solidFill>
                  <a:srgbClr val="A7A7A7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сумма скидок для заказов дороже 100, скидка 10%</a:t>
            </a:r>
          </a:p>
        </p:txBody>
      </p:sp>
      <p:sp>
        <p:nvSpPr>
          <p:cNvPr id="217" name="lbl_OCaml"/>
          <p:cNvSpPr txBox="1"/>
          <p:nvPr/>
        </p:nvSpPr>
        <p:spPr>
          <a:xfrm>
            <a:off x="386757" y="1791582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OCaml</a:t>
            </a:r>
          </a:p>
        </p:txBody>
      </p:sp>
      <p:sp>
        <p:nvSpPr>
          <p:cNvPr id="218" name="code_OCaml"/>
          <p:cNvSpPr txBox="1"/>
          <p:nvPr/>
        </p:nvSpPr>
        <p:spPr>
          <a:xfrm>
            <a:off x="386759" y="2097651"/>
            <a:ext cx="3540758" cy="1335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let</a:t>
            </a:r>
            <a:r>
              <a:rPr>
                <a:solidFill>
                  <a:srgbClr val="D0D0D0"/>
                </a:solidFill>
              </a:rPr>
              <a:t> discount orders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.filter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.map (</a:t>
            </a:r>
            <a:r>
              <a:rPr>
                <a:solidFill>
                  <a:srgbClr val="E06C75"/>
                </a:solidFill>
              </a:rPr>
              <a:t>fun</a:t>
            </a:r>
            <a:r>
              <a:t> o -&gt; o.price *.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|&gt; </a:t>
            </a:r>
            <a:r>
              <a:rPr>
                <a:solidFill>
                  <a:srgbClr val="61AFEF"/>
                </a:solidFill>
              </a:rPr>
              <a:t>List</a:t>
            </a:r>
            <a:r>
              <a:t>.fold_left ( +. ) </a:t>
            </a:r>
            <a:r>
              <a:rPr>
                <a:solidFill>
                  <a:srgbClr val="E5C07B"/>
                </a:solidFill>
              </a:rPr>
              <a:t>0.0</a:t>
            </a:r>
          </a:p>
        </p:txBody>
      </p:sp>
      <p:sp>
        <p:nvSpPr>
          <p:cNvPr id="219" name="lbl_Scala"/>
          <p:cNvSpPr txBox="1"/>
          <p:nvPr/>
        </p:nvSpPr>
        <p:spPr>
          <a:xfrm>
            <a:off x="3710061" y="1774624"/>
            <a:ext cx="71373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Scala</a:t>
            </a:r>
          </a:p>
        </p:txBody>
      </p:sp>
      <p:sp>
        <p:nvSpPr>
          <p:cNvPr id="220" name="code_Scala"/>
          <p:cNvSpPr txBox="1"/>
          <p:nvPr/>
        </p:nvSpPr>
        <p:spPr>
          <a:xfrm>
            <a:off x="3710059" y="2080692"/>
            <a:ext cx="2430383" cy="13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D0D0D0"/>
                </a:solidFill>
              </a:rPr>
              <a:t> discount(xs: </a:t>
            </a:r>
            <a:r>
              <a:rPr>
                <a:solidFill>
                  <a:srgbClr val="61AFEF"/>
                </a:solidFill>
              </a:rPr>
              <a:t>List</a:t>
            </a:r>
            <a:r>
              <a:rPr>
                <a:solidFill>
                  <a:srgbClr val="D0D0D0"/>
                </a:solidFill>
              </a:rPr>
              <a:t>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=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(_.price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(_.price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</a:p>
        </p:txBody>
      </p:sp>
      <p:sp>
        <p:nvSpPr>
          <p:cNvPr id="221" name="lbl_Rust"/>
          <p:cNvSpPr txBox="1"/>
          <p:nvPr/>
        </p:nvSpPr>
        <p:spPr>
          <a:xfrm>
            <a:off x="6260844" y="1774624"/>
            <a:ext cx="59181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Rust</a:t>
            </a:r>
          </a:p>
        </p:txBody>
      </p:sp>
      <p:sp>
        <p:nvSpPr>
          <p:cNvPr id="222" name="code_Rust"/>
          <p:cNvSpPr txBox="1"/>
          <p:nvPr/>
        </p:nvSpPr>
        <p:spPr>
          <a:xfrm>
            <a:off x="6260844" y="2080692"/>
            <a:ext cx="2760594" cy="1365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fn</a:t>
            </a:r>
            <a:r>
              <a:rPr>
                <a:solidFill>
                  <a:srgbClr val="D0D0D0"/>
                </a:solidFill>
              </a:rPr>
              <a:t> discount(xs: &amp;[</a:t>
            </a:r>
            <a:r>
              <a:rPr>
                <a:solidFill>
                  <a:srgbClr val="61AFEF"/>
                </a:solidFill>
              </a:rPr>
              <a:t>Order</a:t>
            </a:r>
            <a:r>
              <a:rPr>
                <a:solidFill>
                  <a:srgbClr val="D0D0D0"/>
                </a:solidFill>
              </a:rPr>
              <a:t>]) -&gt; </a:t>
            </a:r>
            <a:r>
              <a:rPr>
                <a:solidFill>
                  <a:srgbClr val="61AFEF"/>
                </a:solidFill>
              </a:rPr>
              <a:t>f64</a:t>
            </a:r>
            <a:r>
              <a:rPr>
                <a:solidFill>
                  <a:srgbClr val="D0D0D0"/>
                </a:solidFill>
              </a:rPr>
              <a:t> {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xs.</a:t>
            </a:r>
            <a:r>
              <a:rPr>
                <a:solidFill>
                  <a:srgbClr val="61AFEF"/>
                </a:solidFill>
              </a:rPr>
              <a:t>iter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(|o| o.price &gt; </a:t>
            </a:r>
            <a:r>
              <a:rPr>
                <a:solidFill>
                  <a:srgbClr val="E5C07B"/>
                </a:solidFill>
              </a:rPr>
              <a:t>100.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(|o| o.price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sum</a:t>
            </a:r>
            <a:r>
              <a:t>()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}</a:t>
            </a:r>
          </a:p>
        </p:txBody>
      </p:sp>
      <p:sp>
        <p:nvSpPr>
          <p:cNvPr id="223" name="lbl_Python"/>
          <p:cNvSpPr txBox="1"/>
          <p:nvPr/>
        </p:nvSpPr>
        <p:spPr>
          <a:xfrm>
            <a:off x="1981077" y="3513156"/>
            <a:ext cx="83565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24" name="code_Python"/>
          <p:cNvSpPr txBox="1"/>
          <p:nvPr/>
        </p:nvSpPr>
        <p:spPr>
          <a:xfrm>
            <a:off x="1981076" y="3819224"/>
            <a:ext cx="2031998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def</a:t>
            </a:r>
            <a:r>
              <a:rPr>
                <a:solidFill>
                  <a:srgbClr val="D0D0D0"/>
                </a:solidFill>
              </a:rPr>
              <a:t> discount(orders):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return</a:t>
            </a:r>
            <a:r>
              <a:rPr>
                <a:solidFill>
                  <a:srgbClr val="D0D0D0"/>
                </a:solidFill>
              </a:rPr>
              <a:t> sum(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o.price * </a:t>
            </a:r>
            <a:r>
              <a:rPr>
                <a:solidFill>
                  <a:srgbClr val="E5C07B"/>
                </a:solidFill>
              </a:rPr>
              <a:t>0.1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E06C75"/>
                </a:solidFill>
              </a:rPr>
              <a:t>for</a:t>
            </a:r>
            <a:r>
              <a:t> o </a:t>
            </a:r>
            <a:r>
              <a:rPr>
                <a:solidFill>
                  <a:srgbClr val="E06C75"/>
                </a:solidFill>
              </a:rPr>
              <a:t>in</a:t>
            </a:r>
            <a:r>
              <a:t>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</a:t>
            </a:r>
            <a:r>
              <a:rPr>
                <a:solidFill>
                  <a:srgbClr val="E06C75"/>
                </a:solidFill>
              </a:rPr>
              <a:t>if</a:t>
            </a:r>
            <a:r>
              <a:t> o.price &gt; </a:t>
            </a:r>
            <a:r>
              <a:rPr>
                <a:solidFill>
                  <a:srgbClr val="E5C07B"/>
                </a:solidFill>
              </a:rPr>
              <a:t>100.0</a:t>
            </a:r>
            <a:r>
              <a:t>)</a:t>
            </a:r>
          </a:p>
        </p:txBody>
      </p:sp>
      <p:sp>
        <p:nvSpPr>
          <p:cNvPr id="225" name="lbl_JS"/>
          <p:cNvSpPr txBox="1"/>
          <p:nvPr/>
        </p:nvSpPr>
        <p:spPr>
          <a:xfrm>
            <a:off x="5296265" y="3513156"/>
            <a:ext cx="3479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192"/>
              </a:lnSpc>
              <a:defRPr>
                <a:solidFill>
                  <a:srgbClr val="48CC42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lvl1pPr>
          </a:lstStyle>
          <a:p>
            <a:pPr/>
            <a:r>
              <a:t>JS</a:t>
            </a:r>
          </a:p>
        </p:txBody>
      </p:sp>
      <p:sp>
        <p:nvSpPr>
          <p:cNvPr id="226" name="code_JS"/>
          <p:cNvSpPr txBox="1"/>
          <p:nvPr/>
        </p:nvSpPr>
        <p:spPr>
          <a:xfrm>
            <a:off x="5296265" y="3819224"/>
            <a:ext cx="2268282" cy="97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9999" tIns="19999" rIns="19999" bIns="19999">
            <a:normAutofit fontScale="100000" lnSpcReduction="0"/>
          </a:bodyPr>
          <a:lstStyle/>
          <a:p>
            <a:pPr>
              <a:lnSpc>
                <a:spcPct val="60000"/>
              </a:lnSpc>
              <a:defRPr sz="1000">
                <a:solidFill>
                  <a:srgbClr val="E06C75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const</a:t>
            </a:r>
            <a:r>
              <a:rPr>
                <a:solidFill>
                  <a:srgbClr val="D0D0D0"/>
                </a:solidFill>
              </a:rPr>
              <a:t> discount = orders =&gt;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orders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filter</a:t>
            </a:r>
            <a:r>
              <a:t>(o =&gt; o.price &gt; </a:t>
            </a:r>
            <a:r>
              <a:rPr>
                <a:solidFill>
                  <a:srgbClr val="E5C07B"/>
                </a:solidFill>
              </a:rPr>
              <a:t>100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map</a:t>
            </a:r>
            <a:r>
              <a:t>(o =&gt; o.price * </a:t>
            </a:r>
            <a:r>
              <a:rPr>
                <a:solidFill>
                  <a:srgbClr val="E5C07B"/>
                </a:solidFill>
              </a:rPr>
              <a:t>0.1</a:t>
            </a:r>
            <a:r>
              <a:t>)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lnSpc>
                <a:spcPct val="60000"/>
              </a:lnSpc>
              <a:spcBef>
                <a:spcPts val="400"/>
              </a:spcBef>
              <a:defRPr sz="1000">
                <a:solidFill>
                  <a:srgbClr val="D0D0D0"/>
                </a:solidFill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    .</a:t>
            </a:r>
            <a:r>
              <a:rPr>
                <a:solidFill>
                  <a:srgbClr val="61AFEF"/>
                </a:solidFill>
              </a:rPr>
              <a:t>reduce</a:t>
            </a:r>
            <a:r>
              <a:t>((s,d) =&gt; s+d, </a:t>
            </a:r>
            <a:r>
              <a:rPr>
                <a:solidFill>
                  <a:srgbClr val="E5C07B"/>
                </a:solidFill>
              </a:rPr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
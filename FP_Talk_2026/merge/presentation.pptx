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/>
          <p:nvPr>
            <p:ph type="title"/>
          </p:nvPr>
        </p:nvSpPr>
        <p:spPr>
          <a:xfrm>
            <a:off x="685800" y="1383506"/>
            <a:ext cx="7772400" cy="1531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Текст заголовка</a:t>
            </a:r>
          </a:p>
        </p:txBody>
      </p:sp>
      <p:sp>
        <p:nvSpPr>
          <p:cNvPr id="3" name="Уровень текста 1…"/>
          <p:cNvSpPr txBox="1"/>
          <p:nvPr>
            <p:ph type="body" idx="1"/>
          </p:nvPr>
        </p:nvSpPr>
        <p:spPr>
          <a:xfrm>
            <a:off x="1371600" y="2914650"/>
            <a:ext cx="6400800" cy="222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6279552" y="4635137"/>
            <a:ext cx="273652" cy="264251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://evrone.ru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6;p3" descr="Google Shape;16;p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Google Shape;17;p3" descr="Google Shape;17;p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6425" y="0"/>
            <a:ext cx="3457575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Google Shape;18;p3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" name="Google Shape;19;p3"/>
          <p:cNvSpPr txBox="1"/>
          <p:nvPr/>
        </p:nvSpPr>
        <p:spPr>
          <a:xfrm>
            <a:off x="2286741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4" name="Google Shape;20;p3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" name="Google Shape;21;p3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26" name="Google Shape;22;p3"/>
          <p:cNvSpPr txBox="1"/>
          <p:nvPr/>
        </p:nvSpPr>
        <p:spPr>
          <a:xfrm>
            <a:off x="466725" y="2302679"/>
            <a:ext cx="4929188" cy="1147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05392"/>
              </a:lnSpc>
              <a:defRPr sz="36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IT-КОНФЕРЕНЦИЯ MERGE</a:t>
            </a:r>
          </a:p>
        </p:txBody>
      </p:sp>
      <p:sp>
        <p:nvSpPr>
          <p:cNvPr id="27" name="Google Shape;23;p3"/>
          <p:cNvSpPr txBox="1"/>
          <p:nvPr/>
        </p:nvSpPr>
        <p:spPr>
          <a:xfrm>
            <a:off x="466718" y="2143917"/>
            <a:ext cx="3833823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5"/>
              </a:lnSpc>
              <a:defRPr sz="13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Профессиональная межрегиональная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Google Shape;29;p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Google Shape;30;p4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1" name="Google Shape;31;p4"/>
          <p:cNvSpPr txBox="1"/>
          <p:nvPr/>
        </p:nvSpPr>
        <p:spPr>
          <a:xfrm>
            <a:off x="2286741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" name="Google Shape;32;p4"/>
          <p:cNvSpPr/>
          <p:nvPr/>
        </p:nvSpPr>
        <p:spPr>
          <a:xfrm>
            <a:off x="2624138" y="2767013"/>
            <a:ext cx="1696950" cy="240081"/>
          </a:xfrm>
          <a:prstGeom prst="roundRect">
            <a:avLst>
              <a:gd name="adj" fmla="val 50000"/>
            </a:avLst>
          </a:prstGeom>
          <a:solidFill>
            <a:srgbClr val="242424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" name="Google Shape;33;p4"/>
          <p:cNvSpPr txBox="1"/>
          <p:nvPr/>
        </p:nvSpPr>
        <p:spPr>
          <a:xfrm>
            <a:off x="2796332" y="2817197"/>
            <a:ext cx="135256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ontserrat Thin Bold"/>
                <a:ea typeface="Montserrat Thin Bold"/>
                <a:cs typeface="Montserrat Thin Bold"/>
                <a:sym typeface="Montserrat Thin Bold"/>
                <a:hlinkClick r:id="rId3" invalidUrl="" action="" tgtFrame="" tooltip="" history="1" highlightClick="0" endSnd="0"/>
              </a:defRPr>
            </a:lvl1pPr>
          </a:lstStyle>
          <a:p>
            <a:pPr/>
            <a:r>
              <a:rPr>
                <a:hlinkClick r:id="rId3" invalidUrl="" action="" tgtFrame="" tooltip="" history="1" highlightClick="0" endSnd="0"/>
              </a:rPr>
              <a:t>evrone.ru</a:t>
            </a:r>
          </a:p>
        </p:txBody>
      </p:sp>
      <p:sp>
        <p:nvSpPr>
          <p:cNvPr id="34" name="Google Shape;34;p4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" name="Google Shape;35;p4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36" name="Google Shape;36;p4"/>
          <p:cNvSpPr txBox="1"/>
          <p:nvPr/>
        </p:nvSpPr>
        <p:spPr>
          <a:xfrm>
            <a:off x="466725" y="1525587"/>
            <a:ext cx="815340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lvl="1"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ДРЕВНЯЯ МАГИЯ НА КАЖДЫЙ ДЕНЬ</a:t>
            </a:r>
          </a:p>
        </p:txBody>
      </p:sp>
      <p:sp>
        <p:nvSpPr>
          <p:cNvPr id="37" name="Google Shape;37;p4"/>
          <p:cNvSpPr txBox="1"/>
          <p:nvPr/>
        </p:nvSpPr>
        <p:spPr>
          <a:xfrm>
            <a:off x="2624138" y="3075781"/>
            <a:ext cx="398145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38" name="Google Shape;38;p4"/>
          <p:cNvSpPr txBox="1"/>
          <p:nvPr/>
        </p:nvSpPr>
        <p:spPr>
          <a:xfrm>
            <a:off x="441109" y="1277621"/>
            <a:ext cx="262895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82887"/>
              </a:lnSpc>
              <a:defRPr sz="10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принципов FP в пяти языках</a:t>
            </a:r>
          </a:p>
        </p:txBody>
      </p:sp>
      <p:sp>
        <p:nvSpPr>
          <p:cNvPr id="39" name="Google Shape;39;p4"/>
          <p:cNvSpPr txBox="1"/>
          <p:nvPr/>
        </p:nvSpPr>
        <p:spPr>
          <a:xfrm>
            <a:off x="4467225" y="2813842"/>
            <a:ext cx="133350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3628"/>
              </a:lnSpc>
              <a:defRPr sz="9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FP guru</a:t>
            </a:r>
          </a:p>
        </p:txBody>
      </p:sp>
      <p:sp>
        <p:nvSpPr>
          <p:cNvPr id="40" name="Google Shape;40;p4"/>
          <p:cNvSpPr txBox="1"/>
          <p:nvPr/>
        </p:nvSpPr>
        <p:spPr>
          <a:xfrm>
            <a:off x="2796326" y="3601063"/>
            <a:ext cx="5139628" cy="1406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Значительная часть недостатков в разработке ПО связана с тем, что программисты не полностью понимают все возможные состояния, в которых может выполняться их код</a:t>
            </a:r>
          </a:p>
          <a:p>
            <a:pPr algn="r"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Джон Кармак</a:t>
            </a:r>
          </a:p>
        </p:txBody>
      </p:sp>
      <p:pic>
        <p:nvPicPr>
          <p:cNvPr id="41" name="Google Shape;41;p4" descr="Google Shape;41;p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623751" y="3649202"/>
            <a:ext cx="47399" cy="1232103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Google Shape;43;p4" descr="Google Shape;43;p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00137" y="3405187"/>
            <a:ext cx="590557" cy="590560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oogle Shape;98;p2" descr="Google Shape;98;p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04810" y="2288380"/>
            <a:ext cx="1981207" cy="1981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8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Google Shape;66;p6"/>
          <p:cNvSpPr txBox="1"/>
          <p:nvPr/>
        </p:nvSpPr>
        <p:spPr>
          <a:xfrm>
            <a:off x="419091" y="1735932"/>
            <a:ext cx="5824556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52" name="Google Shape;67;p6"/>
          <p:cNvSpPr txBox="1"/>
          <p:nvPr/>
        </p:nvSpPr>
        <p:spPr>
          <a:xfrm>
            <a:off x="409896" y="2524748"/>
            <a:ext cx="4104951" cy="15279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много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опыта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разрабатывал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всё</a:t>
            </a:r>
            <a:endParaRPr>
              <a:solidFill>
                <a:srgbClr val="FFFFFF"/>
              </a:solidFill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FP с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2002</a:t>
            </a:r>
            <a:r>
              <a:rPr>
                <a:solidFill>
                  <a:srgbClr val="FFFFFF"/>
                </a:solidFill>
              </a:rPr>
              <a:t> </a:t>
            </a:r>
            <a:r>
              <a:t>г.</a:t>
            </a:r>
            <a:endParaRPr>
              <a:solidFill>
                <a:srgbClr val="FFFFFF"/>
              </a:solidFill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Evrone.ru: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разработка разработчиков</a:t>
            </a:r>
          </a:p>
        </p:txBody>
      </p:sp>
      <p:sp>
        <p:nvSpPr>
          <p:cNvPr id="53" name="Google Shape;68;p6"/>
          <p:cNvSpPr/>
          <p:nvPr/>
        </p:nvSpPr>
        <p:spPr>
          <a:xfrm>
            <a:off x="5338762" y="862012"/>
            <a:ext cx="3328990" cy="3419477"/>
          </a:xfrm>
          <a:prstGeom prst="roundRect">
            <a:avLst>
              <a:gd name="adj" fmla="val 16667"/>
            </a:avLst>
          </a:prstGeom>
          <a:solidFill>
            <a:srgbClr val="242424"/>
          </a:solidFill>
          <a:ln w="22600">
            <a:solidFill>
              <a:srgbClr val="3333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pic>
        <p:nvPicPr>
          <p:cNvPr id="54" name="Google Shape;69;p6" descr="Google Shape;69;p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91300" y="2162175"/>
            <a:ext cx="823913" cy="823913"/>
          </a:xfrm>
          <a:prstGeom prst="rect">
            <a:avLst/>
          </a:prstGeom>
          <a:ln w="12700">
            <a:miter lim="400000"/>
          </a:ln>
        </p:spPr>
      </p:pic>
      <p:pic>
        <p:nvPicPr>
          <p:cNvPr id="55" name="Google Shape;98;p2" descr="Google Shape;98;p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293433" y="861928"/>
            <a:ext cx="3419648" cy="34196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(λx.M)N →β M[x := N]</a:t>
            </a:r>
          </a:p>
        </p:txBody>
      </p:sp>
      <p:sp>
        <p:nvSpPr>
          <p:cNvPr id="64" name="Google Shape;67;p6"/>
          <p:cNvSpPr txBox="1"/>
          <p:nvPr/>
        </p:nvSpPr>
        <p:spPr>
          <a:xfrm>
            <a:off x="381659" y="1745432"/>
            <a:ext cx="4104939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ФП: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пять ĸонĸретных свойств ĸода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Смысл: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описание результата, а не миĸроменеджмент процесса.</a:t>
            </a:r>
          </a:p>
        </p:txBody>
      </p:sp>
      <p:sp>
        <p:nvSpPr>
          <p:cNvPr id="65" name="Google Shape;108;p3"/>
          <p:cNvSpPr txBox="1"/>
          <p:nvPr/>
        </p:nvSpPr>
        <p:spPr>
          <a:xfrm>
            <a:off x="3990940" y="3094543"/>
            <a:ext cx="4878190" cy="13262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[1,2,3].map(x =&gt; x * 2)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add = x =&gt; y =&gt; x + y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x = 1; x = 2 // TypeError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ЯЗЫКОВ</a:t>
            </a:r>
          </a:p>
        </p:txBody>
      </p:sp>
      <p:graphicFrame>
        <p:nvGraphicFramePr>
          <p:cNvPr id="74" name="Tаблица 1"/>
          <p:cNvGraphicFramePr/>
          <p:nvPr/>
        </p:nvGraphicFramePr>
        <p:xfrm>
          <a:off x="2585435" y="1760765"/>
          <a:ext cx="4699237" cy="247549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9618"/>
                <a:gridCol w="2349618"/>
              </a:tblGrid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богов (тм)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почти 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МНС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вездесущ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всемогущ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83" name="Google Shape;67;p6"/>
          <p:cNvSpPr txBox="1"/>
          <p:nvPr/>
        </p:nvSpPr>
        <p:spPr>
          <a:xfrm>
            <a:off x="381660" y="1584598"/>
            <a:ext cx="7165165" cy="1206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Императивный код —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микроменеджмент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Декларативный код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спецификация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Людям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понятность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Машинам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законы оптимизации</a:t>
            </a:r>
          </a:p>
        </p:txBody>
      </p:sp>
      <p:sp>
        <p:nvSpPr>
          <p:cNvPr id="84" name="Google Shape;108;p3"/>
          <p:cNvSpPr txBox="1"/>
          <p:nvPr/>
        </p:nvSpPr>
        <p:spPr>
          <a:xfrm>
            <a:off x="3420131" y="3384043"/>
            <a:ext cx="5557456" cy="13262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SELECT … WHERE vs for … in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for … end vs list.map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7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9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0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9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9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94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95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96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97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98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99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00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01" name="code_3"/>
          <p:cNvSpPr txBox="1"/>
          <p:nvPr/>
        </p:nvSpPr>
        <p:spPr>
          <a:xfrm>
            <a:off x="1981075" y="3819223"/>
            <a:ext cx="2032001" cy="1108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02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03" name="code_4"/>
          <p:cNvSpPr txBox="1"/>
          <p:nvPr/>
        </p:nvSpPr>
        <p:spPr>
          <a:xfrm>
            <a:off x="5296265" y="3819223"/>
            <a:ext cx="29781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7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08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9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1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1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13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14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15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16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117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18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19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20" name="code_3"/>
          <p:cNvSpPr txBox="1"/>
          <p:nvPr/>
        </p:nvSpPr>
        <p:spPr>
          <a:xfrm>
            <a:off x="1981075" y="3819223"/>
            <a:ext cx="2032001" cy="1108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21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22" name="code_4"/>
          <p:cNvSpPr txBox="1"/>
          <p:nvPr/>
        </p:nvSpPr>
        <p:spPr>
          <a:xfrm>
            <a:off x="5296265" y="3819223"/>
            <a:ext cx="29781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6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27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8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2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3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3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32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33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34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35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36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37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38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39" name="code_3"/>
          <p:cNvSpPr txBox="1"/>
          <p:nvPr/>
        </p:nvSpPr>
        <p:spPr>
          <a:xfrm>
            <a:off x="1981075" y="3819223"/>
            <a:ext cx="2032001" cy="1108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40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41" name="code_4"/>
          <p:cNvSpPr txBox="1"/>
          <p:nvPr/>
        </p:nvSpPr>
        <p:spPr>
          <a:xfrm>
            <a:off x="5296265" y="3819223"/>
            <a:ext cx="29781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5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46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7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4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4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5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51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52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53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54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55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56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57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58" name="code_3"/>
          <p:cNvSpPr txBox="1"/>
          <p:nvPr/>
        </p:nvSpPr>
        <p:spPr>
          <a:xfrm>
            <a:off x="1981075" y="3819223"/>
            <a:ext cx="2032001" cy="1108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59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60" name="code_4"/>
          <p:cNvSpPr txBox="1"/>
          <p:nvPr/>
        </p:nvSpPr>
        <p:spPr>
          <a:xfrm>
            <a:off x="5296265" y="3819223"/>
            <a:ext cx="29781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63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4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65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6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6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6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70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71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72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73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74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75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76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77" name="code_3"/>
          <p:cNvSpPr txBox="1"/>
          <p:nvPr/>
        </p:nvSpPr>
        <p:spPr>
          <a:xfrm>
            <a:off x="1981075" y="3819223"/>
            <a:ext cx="2032001" cy="1108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78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79" name="code_4"/>
          <p:cNvSpPr txBox="1"/>
          <p:nvPr/>
        </p:nvSpPr>
        <p:spPr>
          <a:xfrm>
            <a:off x="5296265" y="3819223"/>
            <a:ext cx="29781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3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84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5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8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8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89" name="lbl_OCaml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90" name="code_OCaml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91" name="lbl_Scala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92" name="code_Scala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93" name="lbl_Rust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94" name="code_Rust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95" name="lbl_Python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96" name="code_Python"/>
          <p:cNvSpPr txBox="1"/>
          <p:nvPr/>
        </p:nvSpPr>
        <p:spPr>
          <a:xfrm>
            <a:off x="1981075" y="3819223"/>
            <a:ext cx="2032001" cy="1108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97" name="lbl_JS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98" name="code_JS"/>
          <p:cNvSpPr txBox="1"/>
          <p:nvPr/>
        </p:nvSpPr>
        <p:spPr>
          <a:xfrm>
            <a:off x="5296265" y="3819223"/>
            <a:ext cx="29781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2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03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4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0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07" name="bullets"/>
          <p:cNvSpPr txBox="1"/>
          <p:nvPr/>
        </p:nvSpPr>
        <p:spPr>
          <a:xfrm>
            <a:off x="381660" y="1745432"/>
            <a:ext cx="7165165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Инструкции производят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эффект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Выражения вычисляются в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значения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Значения можно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компоновать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10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1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12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3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1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1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17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18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x -&gt; x mod 2 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 ) 0</a:t>
            </a:r>
          </a:p>
        </p:txBody>
      </p:sp>
      <p:sp>
        <p:nvSpPr>
          <p:cNvPr id="219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20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21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22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23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24" name="code_3"/>
          <p:cNvSpPr txBox="1"/>
          <p:nvPr/>
        </p:nvSpPr>
        <p:spPr>
          <a:xfrm>
            <a:off x="1981074" y="3819223"/>
            <a:ext cx="2498004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25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26" name="code_4"/>
          <p:cNvSpPr txBox="1"/>
          <p:nvPr/>
        </p:nvSpPr>
        <p:spPr>
          <a:xfrm>
            <a:off x="5296265" y="3819223"/>
            <a:ext cx="25209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0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31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2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3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3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36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37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38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39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40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41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42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43" name="code_3"/>
          <p:cNvSpPr txBox="1"/>
          <p:nvPr/>
        </p:nvSpPr>
        <p:spPr>
          <a:xfrm>
            <a:off x="1981074" y="3819223"/>
            <a:ext cx="2498004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44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45" name="code_4"/>
          <p:cNvSpPr txBox="1"/>
          <p:nvPr/>
        </p:nvSpPr>
        <p:spPr>
          <a:xfrm>
            <a:off x="5296265" y="3819223"/>
            <a:ext cx="25209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48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49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50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1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5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5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55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56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57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58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59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60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61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62" name="code_3"/>
          <p:cNvSpPr txBox="1"/>
          <p:nvPr/>
        </p:nvSpPr>
        <p:spPr>
          <a:xfrm>
            <a:off x="1981074" y="3819223"/>
            <a:ext cx="2498004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63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64" name="code_4"/>
          <p:cNvSpPr txBox="1"/>
          <p:nvPr/>
        </p:nvSpPr>
        <p:spPr>
          <a:xfrm>
            <a:off x="5296265" y="3819223"/>
            <a:ext cx="25209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68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69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70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7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7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7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74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75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76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77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78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79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80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81" name="code_3"/>
          <p:cNvSpPr txBox="1"/>
          <p:nvPr/>
        </p:nvSpPr>
        <p:spPr>
          <a:xfrm>
            <a:off x="1981074" y="3819223"/>
            <a:ext cx="2498004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82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83" name="code_4"/>
          <p:cNvSpPr txBox="1"/>
          <p:nvPr/>
        </p:nvSpPr>
        <p:spPr>
          <a:xfrm>
            <a:off x="5296265" y="3819223"/>
            <a:ext cx="25209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7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88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9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9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9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93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94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95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96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97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98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99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00" name="code_3"/>
          <p:cNvSpPr txBox="1"/>
          <p:nvPr/>
        </p:nvSpPr>
        <p:spPr>
          <a:xfrm>
            <a:off x="1981074" y="3819223"/>
            <a:ext cx="2498004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01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02" name="code_4"/>
          <p:cNvSpPr txBox="1"/>
          <p:nvPr/>
        </p:nvSpPr>
        <p:spPr>
          <a:xfrm>
            <a:off x="5296265" y="3819223"/>
            <a:ext cx="25209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5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6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07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8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0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10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31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312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13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314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15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316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17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18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19" name="code_3"/>
          <p:cNvSpPr txBox="1"/>
          <p:nvPr/>
        </p:nvSpPr>
        <p:spPr>
          <a:xfrm>
            <a:off x="1981074" y="3819223"/>
            <a:ext cx="2498004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20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21" name="code_4"/>
          <p:cNvSpPr txBox="1"/>
          <p:nvPr/>
        </p:nvSpPr>
        <p:spPr>
          <a:xfrm>
            <a:off x="5296265" y="3819223"/>
            <a:ext cx="25209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(x =&gt;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 x) =&gt; s + x,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24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5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6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7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2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0" name="bullets"/>
          <p:cNvSpPr txBox="1"/>
          <p:nvPr/>
        </p:nvSpPr>
        <p:spPr>
          <a:xfrm>
            <a:off x="381660" y="1503773"/>
            <a:ext cx="7165165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Функция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first-class value</a:t>
            </a:r>
            <a:r>
              <a:t>: передаётся аргументом, связывается с переменной, возвращается из функции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HOF — принимает или возвращает функцию: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map, filter, fold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Замыкание — захват лексического окружения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Каррирование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f(a, b) → f(a)(b)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33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4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35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6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3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3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40" name="lbl_0"/>
          <p:cNvSpPr txBox="1"/>
          <p:nvPr/>
        </p:nvSpPr>
        <p:spPr>
          <a:xfrm>
            <a:off x="38675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41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multiply a b = a * b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 = multiply 3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List.map triple [1; 2; 3; 4; 5]</a:t>
            </a:r>
          </a:p>
        </p:txBody>
      </p:sp>
      <p:sp>
        <p:nvSpPr>
          <p:cNvPr id="342" name="lbl_1"/>
          <p:cNvSpPr txBox="1"/>
          <p:nvPr/>
        </p:nvSpPr>
        <p:spPr>
          <a:xfrm>
            <a:off x="3018082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43" name="code_1"/>
          <p:cNvSpPr txBox="1"/>
          <p:nvPr/>
        </p:nvSpPr>
        <p:spPr>
          <a:xfrm>
            <a:off x="3018082" y="2097651"/>
            <a:ext cx="2700006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44" name="lbl_2"/>
          <p:cNvSpPr txBox="1"/>
          <p:nvPr/>
        </p:nvSpPr>
        <p:spPr>
          <a:xfrm>
            <a:off x="5667540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45" name="code_2"/>
          <p:cNvSpPr txBox="1"/>
          <p:nvPr/>
        </p:nvSpPr>
        <p:spPr>
          <a:xfrm>
            <a:off x="5649409" y="2097644"/>
            <a:ext cx="3249567" cy="1519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46" name="lbl_3"/>
          <p:cNvSpPr txBox="1"/>
          <p:nvPr/>
        </p:nvSpPr>
        <p:spPr>
          <a:xfrm>
            <a:off x="1131565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47" name="code_3"/>
          <p:cNvSpPr txBox="1"/>
          <p:nvPr/>
        </p:nvSpPr>
        <p:spPr>
          <a:xfrm>
            <a:off x="1106723" y="3988003"/>
            <a:ext cx="3562558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48" name="lbl_4"/>
          <p:cNvSpPr txBox="1"/>
          <p:nvPr/>
        </p:nvSpPr>
        <p:spPr>
          <a:xfrm>
            <a:off x="4869274" y="3681936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49" name="code_4"/>
          <p:cNvSpPr txBox="1"/>
          <p:nvPr/>
        </p:nvSpPr>
        <p:spPr>
          <a:xfrm>
            <a:off x="4869274" y="3988003"/>
            <a:ext cx="3835735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3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54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5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5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5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5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59" name="lbl_0"/>
          <p:cNvSpPr txBox="1"/>
          <p:nvPr/>
        </p:nvSpPr>
        <p:spPr>
          <a:xfrm>
            <a:off x="38675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60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61" name="lbl_1"/>
          <p:cNvSpPr txBox="1"/>
          <p:nvPr/>
        </p:nvSpPr>
        <p:spPr>
          <a:xfrm>
            <a:off x="3018082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62" name="code_1"/>
          <p:cNvSpPr txBox="1"/>
          <p:nvPr/>
        </p:nvSpPr>
        <p:spPr>
          <a:xfrm>
            <a:off x="3018082" y="2097651"/>
            <a:ext cx="2700006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63" name="lbl_2"/>
          <p:cNvSpPr txBox="1"/>
          <p:nvPr/>
        </p:nvSpPr>
        <p:spPr>
          <a:xfrm>
            <a:off x="5667540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64" name="code_2"/>
          <p:cNvSpPr txBox="1"/>
          <p:nvPr/>
        </p:nvSpPr>
        <p:spPr>
          <a:xfrm>
            <a:off x="5649409" y="2097644"/>
            <a:ext cx="3249567" cy="1519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65" name="lbl_3"/>
          <p:cNvSpPr txBox="1"/>
          <p:nvPr/>
        </p:nvSpPr>
        <p:spPr>
          <a:xfrm>
            <a:off x="1131565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66" name="code_3"/>
          <p:cNvSpPr txBox="1"/>
          <p:nvPr/>
        </p:nvSpPr>
        <p:spPr>
          <a:xfrm>
            <a:off x="1106723" y="3988003"/>
            <a:ext cx="3562558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67" name="lbl_4"/>
          <p:cNvSpPr txBox="1"/>
          <p:nvPr/>
        </p:nvSpPr>
        <p:spPr>
          <a:xfrm>
            <a:off x="4869274" y="3681936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68" name="code_4"/>
          <p:cNvSpPr txBox="1"/>
          <p:nvPr/>
        </p:nvSpPr>
        <p:spPr>
          <a:xfrm>
            <a:off x="4869274" y="3988003"/>
            <a:ext cx="3835735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2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73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4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7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7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7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78" name="lbl_0"/>
          <p:cNvSpPr txBox="1"/>
          <p:nvPr/>
        </p:nvSpPr>
        <p:spPr>
          <a:xfrm>
            <a:off x="38675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79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80" name="lbl_1"/>
          <p:cNvSpPr txBox="1"/>
          <p:nvPr/>
        </p:nvSpPr>
        <p:spPr>
          <a:xfrm>
            <a:off x="3018082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81" name="code_1"/>
          <p:cNvSpPr txBox="1"/>
          <p:nvPr/>
        </p:nvSpPr>
        <p:spPr>
          <a:xfrm>
            <a:off x="3018082" y="2097651"/>
            <a:ext cx="2700006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382" name="lbl_2"/>
          <p:cNvSpPr txBox="1"/>
          <p:nvPr/>
        </p:nvSpPr>
        <p:spPr>
          <a:xfrm>
            <a:off x="5667540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83" name="code_2"/>
          <p:cNvSpPr txBox="1"/>
          <p:nvPr/>
        </p:nvSpPr>
        <p:spPr>
          <a:xfrm>
            <a:off x="5649409" y="2097644"/>
            <a:ext cx="3249567" cy="1519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84" name="lbl_3"/>
          <p:cNvSpPr txBox="1"/>
          <p:nvPr/>
        </p:nvSpPr>
        <p:spPr>
          <a:xfrm>
            <a:off x="1131565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85" name="code_3"/>
          <p:cNvSpPr txBox="1"/>
          <p:nvPr/>
        </p:nvSpPr>
        <p:spPr>
          <a:xfrm>
            <a:off x="1106723" y="3988003"/>
            <a:ext cx="3562558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86" name="lbl_4"/>
          <p:cNvSpPr txBox="1"/>
          <p:nvPr/>
        </p:nvSpPr>
        <p:spPr>
          <a:xfrm>
            <a:off x="4869274" y="3681936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87" name="code_4"/>
          <p:cNvSpPr txBox="1"/>
          <p:nvPr/>
        </p:nvSpPr>
        <p:spPr>
          <a:xfrm>
            <a:off x="4869274" y="3988003"/>
            <a:ext cx="3835735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90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1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92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3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9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95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9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97" name="lbl_0"/>
          <p:cNvSpPr txBox="1"/>
          <p:nvPr/>
        </p:nvSpPr>
        <p:spPr>
          <a:xfrm>
            <a:off x="38675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98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99" name="lbl_1"/>
          <p:cNvSpPr txBox="1"/>
          <p:nvPr/>
        </p:nvSpPr>
        <p:spPr>
          <a:xfrm>
            <a:off x="3018082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00" name="code_1"/>
          <p:cNvSpPr txBox="1"/>
          <p:nvPr/>
        </p:nvSpPr>
        <p:spPr>
          <a:xfrm>
            <a:off x="3018082" y="2097651"/>
            <a:ext cx="2700006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01" name="lbl_2"/>
          <p:cNvSpPr txBox="1"/>
          <p:nvPr/>
        </p:nvSpPr>
        <p:spPr>
          <a:xfrm>
            <a:off x="5667540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02" name="code_2"/>
          <p:cNvSpPr txBox="1"/>
          <p:nvPr/>
        </p:nvSpPr>
        <p:spPr>
          <a:xfrm>
            <a:off x="5649409" y="2097644"/>
            <a:ext cx="3249567" cy="1519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03" name="lbl_3"/>
          <p:cNvSpPr txBox="1"/>
          <p:nvPr/>
        </p:nvSpPr>
        <p:spPr>
          <a:xfrm>
            <a:off x="1131565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04" name="code_3"/>
          <p:cNvSpPr txBox="1"/>
          <p:nvPr/>
        </p:nvSpPr>
        <p:spPr>
          <a:xfrm>
            <a:off x="1106723" y="3988003"/>
            <a:ext cx="3562558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405" name="lbl_4"/>
          <p:cNvSpPr txBox="1"/>
          <p:nvPr/>
        </p:nvSpPr>
        <p:spPr>
          <a:xfrm>
            <a:off x="4869274" y="3681936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06" name="code_4"/>
          <p:cNvSpPr txBox="1"/>
          <p:nvPr/>
        </p:nvSpPr>
        <p:spPr>
          <a:xfrm>
            <a:off x="4869274" y="3988003"/>
            <a:ext cx="3835735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09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0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11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2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1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1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1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16" name="lbl_0"/>
          <p:cNvSpPr txBox="1"/>
          <p:nvPr/>
        </p:nvSpPr>
        <p:spPr>
          <a:xfrm>
            <a:off x="38675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17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18" name="lbl_1"/>
          <p:cNvSpPr txBox="1"/>
          <p:nvPr/>
        </p:nvSpPr>
        <p:spPr>
          <a:xfrm>
            <a:off x="3018082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19" name="code_1"/>
          <p:cNvSpPr txBox="1"/>
          <p:nvPr/>
        </p:nvSpPr>
        <p:spPr>
          <a:xfrm>
            <a:off x="3018082" y="2097651"/>
            <a:ext cx="2700006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20" name="lbl_2"/>
          <p:cNvSpPr txBox="1"/>
          <p:nvPr/>
        </p:nvSpPr>
        <p:spPr>
          <a:xfrm>
            <a:off x="5667540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21" name="code_2"/>
          <p:cNvSpPr txBox="1"/>
          <p:nvPr/>
        </p:nvSpPr>
        <p:spPr>
          <a:xfrm>
            <a:off x="5649409" y="2097644"/>
            <a:ext cx="3249567" cy="1519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22" name="lbl_3"/>
          <p:cNvSpPr txBox="1"/>
          <p:nvPr/>
        </p:nvSpPr>
        <p:spPr>
          <a:xfrm>
            <a:off x="1131565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23" name="code_3"/>
          <p:cNvSpPr txBox="1"/>
          <p:nvPr/>
        </p:nvSpPr>
        <p:spPr>
          <a:xfrm>
            <a:off x="1106723" y="3988003"/>
            <a:ext cx="3562558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24" name="lbl_4"/>
          <p:cNvSpPr txBox="1"/>
          <p:nvPr/>
        </p:nvSpPr>
        <p:spPr>
          <a:xfrm>
            <a:off x="4869274" y="3681936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25" name="code_4"/>
          <p:cNvSpPr txBox="1"/>
          <p:nvPr/>
        </p:nvSpPr>
        <p:spPr>
          <a:xfrm>
            <a:off x="4869274" y="3988003"/>
            <a:ext cx="3835735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28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29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30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31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3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3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3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35" name="lbl_OCaml"/>
          <p:cNvSpPr txBox="1"/>
          <p:nvPr/>
        </p:nvSpPr>
        <p:spPr>
          <a:xfrm>
            <a:off x="38675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36" name="code_OCaml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37" name="lbl_Scala"/>
          <p:cNvSpPr txBox="1"/>
          <p:nvPr/>
        </p:nvSpPr>
        <p:spPr>
          <a:xfrm>
            <a:off x="3018082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38" name="code_Scala"/>
          <p:cNvSpPr txBox="1"/>
          <p:nvPr/>
        </p:nvSpPr>
        <p:spPr>
          <a:xfrm>
            <a:off x="3018082" y="2097651"/>
            <a:ext cx="2700006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39" name="lbl_Rust"/>
          <p:cNvSpPr txBox="1"/>
          <p:nvPr/>
        </p:nvSpPr>
        <p:spPr>
          <a:xfrm>
            <a:off x="5667540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40" name="code_Rust"/>
          <p:cNvSpPr txBox="1"/>
          <p:nvPr/>
        </p:nvSpPr>
        <p:spPr>
          <a:xfrm>
            <a:off x="5649409" y="2097644"/>
            <a:ext cx="3249567" cy="1519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41" name="lbl_Python"/>
          <p:cNvSpPr txBox="1"/>
          <p:nvPr/>
        </p:nvSpPr>
        <p:spPr>
          <a:xfrm>
            <a:off x="1131565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42" name="code_Python"/>
          <p:cNvSpPr txBox="1"/>
          <p:nvPr/>
        </p:nvSpPr>
        <p:spPr>
          <a:xfrm>
            <a:off x="1106723" y="3988003"/>
            <a:ext cx="3562558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43" name="lbl_JS"/>
          <p:cNvSpPr txBox="1"/>
          <p:nvPr/>
        </p:nvSpPr>
        <p:spPr>
          <a:xfrm>
            <a:off x="4869274" y="3681936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44" name="code_JS"/>
          <p:cNvSpPr txBox="1"/>
          <p:nvPr/>
        </p:nvSpPr>
        <p:spPr>
          <a:xfrm>
            <a:off x="4869274" y="3988003"/>
            <a:ext cx="3835735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</a:t>
            </a:r>
            <a:r>
              <a:rPr>
                <a:solidFill>
                  <a:srgbClr val="D0D0D0"/>
                </a:solidFill>
              </a:rPr>
              <a:t> * as R from "ramda";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multiply = R.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((factor, x) =&gt; factor * x);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triple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result =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].</a:t>
            </a:r>
            <a:r>
              <a:rPr>
                <a:solidFill>
                  <a:srgbClr val="61AFEF"/>
                </a:solidFill>
              </a:rPr>
              <a:t>map</a:t>
            </a:r>
            <a:r>
              <a:rPr>
                <a:solidFill>
                  <a:srgbClr val="D0D0D0"/>
                </a:solidFill>
              </a:rPr>
              <a:t>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53" name="bullets"/>
          <p:cNvSpPr txBox="1"/>
          <p:nvPr/>
        </p:nvSpPr>
        <p:spPr>
          <a:xfrm>
            <a:off x="381660" y="1562945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 xml:space="preserve"/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Чистая функция</a:t>
            </a:r>
            <a:r>
              <a:t>: возвращаемое значение зависит только от аргументов;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нет побочных эффектов.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Следствия: мемоизация;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независимость порядка вычислений</a:t>
            </a:r>
            <a:r>
              <a:t>; data race-free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параллелизм.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 xml:space="preserve"/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Эффекты</a:t>
            </a:r>
            <a:r>
              <a:t> неизбежны (I/O, время, состояние). Стратегия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изоляция</a:t>
            </a:r>
            <a:r>
              <a:t> на границах системы.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56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7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58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9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6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6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6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63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64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rate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ref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discount_impure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!rate)</a:t>
            </a:r>
          </a:p>
        </p:txBody>
      </p:sp>
      <p:sp>
        <p:nvSpPr>
          <p:cNvPr id="465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66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7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68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9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70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71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72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75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6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77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8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7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8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8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82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83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484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85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6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87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8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89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90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91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94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5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96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7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9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9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0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01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02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03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04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5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06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7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08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09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10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13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4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15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6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1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1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20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21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22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23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4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25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6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27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28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29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32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3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34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5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3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3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3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39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40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41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42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3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44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5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46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47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48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51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2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53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4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5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5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58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59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60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61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2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63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4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65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66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67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(rate, price) =&gt;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</a:t>
            </a:r>
            <a:r>
              <a:rPr>
                <a:solidFill>
                  <a:srgbClr val="D0D0D0"/>
                </a:solidFill>
              </a:rPr>
              <a:t> discountImpure(price)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453" name="bullets"/>
          <p:cNvSpPr txBox="1"/>
          <p:nvPr/>
        </p:nvSpPr>
        <p:spPr>
          <a:xfrm>
            <a:off x="381660" y="1562945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const / val — запрет перезаписи переменной. Иммутабельность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запрет мутации самого значения.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Гарантия: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компилятором</a:t>
            </a:r>
            <a:r>
              <a:t> (OCaml let, Rust let)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соглашением</a:t>
            </a:r>
            <a:r>
              <a:t> (Scala val)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опционально</a:t>
            </a:r>
            <a:r>
              <a:t> (Python frozen=True, JS Object.freeze).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Persistent data structures: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structural sharing</a:t>
            </a:r>
            <a:r>
              <a:t>. Обновление поля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O(log n), не O(n).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51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2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53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4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5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5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00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01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t> user = { name: </a:t>
            </a:r>
            <a:r>
              <a:t>string</a:t>
            </a:r>
            <a:r>
              <a:t>; age: </a:t>
            </a:r>
            <a:r>
              <a:t>int</a:t>
            </a:r>
            <a: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t> user = { name = </a:t>
            </a:r>
            <a:r>
              <a:t>"Alice"</a:t>
            </a:r>
            <a:r>
              <a:t>; age = </a:t>
            </a:r>
            <a:r>
              <a:t>30</a:t>
            </a:r>
            <a: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t> older = { user </a:t>
            </a:r>
            <a:r>
              <a:t>with</a:t>
            </a:r>
            <a:r>
              <a:t> age = </a:t>
            </a:r>
            <a:r>
              <a:t>31</a:t>
            </a:r>
            <a: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02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03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t> User(name: </a:t>
            </a:r>
            <a:r>
              <a:t>String</a:t>
            </a:r>
            <a:r>
              <a:t>, age: </a:t>
            </a:r>
            <a:r>
              <a:t>Int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t> user = User(</a:t>
            </a:r>
            <a:r>
              <a:t>"Alice"</a:t>
            </a:r>
            <a:r>
              <a:t>, </a:t>
            </a:r>
            <a:r>
              <a:t>30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t> older = user.copy(age = </a:t>
            </a:r>
            <a:r>
              <a:t>31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04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05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t> User { name: </a:t>
            </a:r>
            <a:r>
              <a:t>String</a:t>
            </a:r>
            <a:r>
              <a:t>, age: </a:t>
            </a:r>
            <a:r>
              <a:t>u32</a:t>
            </a:r>
            <a: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t> user = User { name: </a:t>
            </a:r>
            <a:r>
              <a:t>"Alice"</a:t>
            </a:r>
            <a:r>
              <a:t>.into(), age: </a:t>
            </a:r>
            <a:r>
              <a:t>30</a:t>
            </a:r>
            <a:r>
              <a:t> };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t> older = User { age: </a:t>
            </a:r>
            <a:r>
              <a:t>31</a:t>
            </a:r>
            <a:r>
              <a:t>, ..user };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t> </a:t>
            </a:r>
            <a:r>
              <a:t>mut</a:t>
            </a:r>
            <a:r>
              <a:t> draft = User { name: </a:t>
            </a:r>
            <a:r>
              <a:t>"Bob"</a:t>
            </a:r>
            <a:r>
              <a:t>.into(), age: </a:t>
            </a:r>
            <a:r>
              <a:t>25</a:t>
            </a:r>
            <a:r>
              <a:t> };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t>26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06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07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t> dataclasses </a:t>
            </a:r>
            <a:r>
              <a:t>import</a:t>
            </a:r>
            <a:r>
              <a:t> dataclass, replace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t>dataclass</a:t>
            </a:r>
            <a:r>
              <a:t>(frozen=</a:t>
            </a:r>
            <a:r>
              <a:t>True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t> User: name: </a:t>
            </a:r>
            <a:r>
              <a:t>str</a:t>
            </a:r>
            <a:r>
              <a:t>; age: </a:t>
            </a:r>
            <a:r>
              <a:t>int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t>"Alice"</a:t>
            </a:r>
            <a:r>
              <a:t>, </a:t>
            </a:r>
            <a:r>
              <a:t>30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t>31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08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09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t> user = Object.freeze({ name: </a:t>
            </a:r>
            <a:r>
              <a:t>"Alice"</a:t>
            </a:r>
            <a:r>
              <a:t>, age: </a:t>
            </a:r>
            <a:r>
              <a:t>30</a:t>
            </a:r>
            <a:r>
              <a:t> });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t> older = { ...user, age: </a:t>
            </a:r>
            <a:r>
              <a:t>31</a:t>
            </a:r>
            <a:r>
              <a:t> };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51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2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53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4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5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5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20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21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22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23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t> User(name: </a:t>
            </a:r>
            <a:r>
              <a:t>String</a:t>
            </a:r>
            <a:r>
              <a:t>, age: </a:t>
            </a:r>
            <a:r>
              <a:t>Int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t> user = User(</a:t>
            </a:r>
            <a:r>
              <a:t>"Alice"</a:t>
            </a:r>
            <a:r>
              <a:t>, </a:t>
            </a:r>
            <a:r>
              <a:t>30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t> older = user.copy(age = </a:t>
            </a:r>
            <a:r>
              <a:t>31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24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25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t> User { name: </a:t>
            </a:r>
            <a:r>
              <a:t>String</a:t>
            </a:r>
            <a:r>
              <a:t>, age: </a:t>
            </a:r>
            <a:r>
              <a:t>u32</a:t>
            </a:r>
            <a: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t> user = User { name: </a:t>
            </a:r>
            <a:r>
              <a:t>"Alice"</a:t>
            </a:r>
            <a:r>
              <a:t>.into(), age: </a:t>
            </a:r>
            <a:r>
              <a:t>30</a:t>
            </a:r>
            <a:r>
              <a:t> };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t> older = User { age: </a:t>
            </a:r>
            <a:r>
              <a:t>31</a:t>
            </a:r>
            <a:r>
              <a:t>, ..user };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t> </a:t>
            </a:r>
            <a:r>
              <a:t>mut</a:t>
            </a:r>
            <a:r>
              <a:t> draft = User { name: </a:t>
            </a:r>
            <a:r>
              <a:t>"Bob"</a:t>
            </a:r>
            <a:r>
              <a:t>.into(), age: </a:t>
            </a:r>
            <a:r>
              <a:t>25</a:t>
            </a:r>
            <a:r>
              <a:t> };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t>26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26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27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t> dataclasses </a:t>
            </a:r>
            <a:r>
              <a:t>import</a:t>
            </a:r>
            <a:r>
              <a:t> dataclass, replace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t>dataclass</a:t>
            </a:r>
            <a:r>
              <a:t>(frozen=</a:t>
            </a:r>
            <a:r>
              <a:t>True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t> User: name: </a:t>
            </a:r>
            <a:r>
              <a:t>str</a:t>
            </a:r>
            <a:r>
              <a:t>; age: </a:t>
            </a:r>
            <a:r>
              <a:t>int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t>"Alice"</a:t>
            </a:r>
            <a:r>
              <a:t>, </a:t>
            </a:r>
            <a:r>
              <a:t>30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t>31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28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29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t> user = Object.freeze({ name: </a:t>
            </a:r>
            <a:r>
              <a:t>"Alice"</a:t>
            </a:r>
            <a:r>
              <a:t>, age: </a:t>
            </a:r>
            <a:r>
              <a:t>30</a:t>
            </a:r>
            <a:r>
              <a:t> });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t> older = { ...user, age: </a:t>
            </a:r>
            <a:r>
              <a:t>31</a:t>
            </a:r>
            <a:r>
              <a:t> };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51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2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53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4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5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5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40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41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42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43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44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45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t> User { name: </a:t>
            </a:r>
            <a:r>
              <a:t>String</a:t>
            </a:r>
            <a:r>
              <a:t>, age: </a:t>
            </a:r>
            <a:r>
              <a:t>u32</a:t>
            </a:r>
            <a: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t> user = User { name: </a:t>
            </a:r>
            <a:r>
              <a:t>"Alice"</a:t>
            </a:r>
            <a:r>
              <a:t>.into(), age: </a:t>
            </a:r>
            <a:r>
              <a:t>30</a:t>
            </a:r>
            <a:r>
              <a:t> };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t> older = User { age: </a:t>
            </a:r>
            <a:r>
              <a:t>31</a:t>
            </a:r>
            <a:r>
              <a:t>, ..user };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t> </a:t>
            </a:r>
            <a:r>
              <a:t>mut</a:t>
            </a:r>
            <a:r>
              <a:t> draft = User { name: </a:t>
            </a:r>
            <a:r>
              <a:t>"Bob"</a:t>
            </a:r>
            <a:r>
              <a:t>.into(), age: </a:t>
            </a:r>
            <a:r>
              <a:t>25</a:t>
            </a:r>
            <a:r>
              <a:t> };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t>26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46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47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t> dataclasses </a:t>
            </a:r>
            <a:r>
              <a:t>import</a:t>
            </a:r>
            <a:r>
              <a:t> dataclass, replace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t>dataclass</a:t>
            </a:r>
            <a:r>
              <a:t>(frozen=</a:t>
            </a:r>
            <a:r>
              <a:t>True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t> User: name: </a:t>
            </a:r>
            <a:r>
              <a:t>str</a:t>
            </a:r>
            <a:r>
              <a:t>; age: </a:t>
            </a:r>
            <a:r>
              <a:t>int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t>"Alice"</a:t>
            </a:r>
            <a:r>
              <a:t>, </a:t>
            </a:r>
            <a:r>
              <a:t>30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t>31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48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49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t> user = Object.freeze({ name: </a:t>
            </a:r>
            <a:r>
              <a:t>"Alice"</a:t>
            </a:r>
            <a:r>
              <a:t>, age: </a:t>
            </a:r>
            <a:r>
              <a:t>30</a:t>
            </a:r>
            <a:r>
              <a:t> });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t> older = { ...user, age: </a:t>
            </a:r>
            <a:r>
              <a:t>31</a:t>
            </a:r>
            <a:r>
              <a:t> };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51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2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53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4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5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5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60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61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62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63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64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65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66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67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t> dataclasses </a:t>
            </a:r>
            <a:r>
              <a:t>import</a:t>
            </a:r>
            <a:r>
              <a:t> dataclass, replace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t>dataclass</a:t>
            </a:r>
            <a:r>
              <a:t>(frozen=</a:t>
            </a:r>
            <a:r>
              <a:t>True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t> User: name: </a:t>
            </a:r>
            <a:r>
              <a:t>str</a:t>
            </a:r>
            <a:r>
              <a:t>; age: </a:t>
            </a:r>
            <a:r>
              <a:t>int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t>"Alice"</a:t>
            </a:r>
            <a:r>
              <a:t>, </a:t>
            </a:r>
            <a:r>
              <a:t>30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t>31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68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69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t> user = Object.freeze({ name: </a:t>
            </a:r>
            <a:r>
              <a:t>"Alice"</a:t>
            </a:r>
            <a:r>
              <a:t>, age: </a:t>
            </a:r>
            <a:r>
              <a:t>30</a:t>
            </a:r>
            <a:r>
              <a:t> });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t> older = { ...user, age: </a:t>
            </a:r>
            <a:r>
              <a:t>31</a:t>
            </a:r>
            <a:r>
              <a:t> };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51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2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53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4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5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5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80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81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82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83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84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85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86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87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88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89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t> user = Object.freeze({ name: </a:t>
            </a:r>
            <a:r>
              <a:t>"Alice"</a:t>
            </a:r>
            <a:r>
              <a:t>, age: </a:t>
            </a:r>
            <a:r>
              <a:t>30</a:t>
            </a:r>
            <a:r>
              <a:t> });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t> older = { ...user, age: </a:t>
            </a:r>
            <a:r>
              <a:t>31</a:t>
            </a:r>
            <a:r>
              <a:t> };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51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2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53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4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5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5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700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701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02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703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04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705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06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707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08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709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user = Object.freeze({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});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older = { ...user,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};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
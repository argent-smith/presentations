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8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FFFFFF"/>
                </a:solidFill>
              </a:defRPr>
            </a:pPr>
            <a:r>
              <a:rPr u="sng">
                <a:solidFill>
                  <a:srgbClr val="0000FF"/>
                </a:solidFill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2" y="3679197"/>
            <a:ext cx="5139636" cy="1250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 sz="13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 sz="13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6" cy="1232110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7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1" y="2524747"/>
            <a:ext cx="4104963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Clr>
                <a:srgbClr val="A7A7A7"/>
              </a:buClr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Clr>
                <a:srgbClr val="A7A7A7"/>
              </a:buClr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63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47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3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10" cy="1365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9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7" y="1791579"/>
            <a:ext cx="80001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5" cy="151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7" y="1791579"/>
            <a:ext cx="80001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5" cy="151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7" y="1791579"/>
            <a:ext cx="80001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5" cy="151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7" y="1791579"/>
            <a:ext cx="80001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5" cy="151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7" y="1791579"/>
            <a:ext cx="80001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5" cy="151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7" y="1791579"/>
            <a:ext cx="80001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3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5" cy="15195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2"/>
            <a:ext cx="3350005" cy="15000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9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600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2"/>
            <a:ext cx="3350005" cy="15000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9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600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2"/>
            <a:ext cx="3350005" cy="15000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9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600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2"/>
            <a:ext cx="3350005" cy="15000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9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600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2"/>
            <a:ext cx="3350005" cy="15000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9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600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2"/>
            <a:ext cx="3350005" cy="15000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9" cy="15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600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4" y="2037506"/>
            <a:ext cx="3071324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4" y="2037506"/>
            <a:ext cx="3071324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4" y="2037506"/>
            <a:ext cx="3071324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4" y="2037506"/>
            <a:ext cx="3071324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4" y="2037506"/>
            <a:ext cx="3071324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37" y="1810903"/>
            <a:ext cx="80001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4" y="2037506"/>
            <a:ext cx="3071324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7" y="3420678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8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4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0"/>
            <a:ext cx="7165165" cy="2154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12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3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14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5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1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17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БОНУС-ТРЕК: ФП В PRODUCTION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20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1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22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3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2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PRODUCTION: RUBY-СТЕК</a:t>
            </a:r>
          </a:p>
        </p:txBody>
      </p:sp>
      <p:sp>
        <p:nvSpPr>
          <p:cNvPr id="726" name="bullets"/>
          <p:cNvSpPr txBox="1"/>
          <p:nvPr/>
        </p:nvSpPr>
        <p:spPr>
          <a:xfrm>
            <a:off x="381660" y="1308944"/>
            <a:ext cx="7165165" cy="2357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Фреймворк: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Rails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dry-types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Type constructors, Value Objects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dry-validation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Contract DSL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dry-monads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Result, Do-нотация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Font typeface="Montserrat Thin Bold"/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dry-matcher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— Pattern matching на Result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Архитектура: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CQRS + DDD, EventStore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29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0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31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2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EVENT FLOW: ТИПОВОЙ СЦЕНАРИЙ</a:t>
            </a:r>
          </a:p>
        </p:txBody>
      </p:sp>
      <p:pic>
        <p:nvPicPr>
          <p:cNvPr id="735" name="Picture 452" descr="Picture 45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00000" y="1402473"/>
            <a:ext cx="8544001" cy="367505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3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4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4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4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ФП → DDD: МАППИНГ</a:t>
            </a:r>
          </a:p>
        </p:txBody>
      </p:sp>
      <p:graphicFrame>
        <p:nvGraphicFramePr>
          <p:cNvPr id="744" name="Table 452"/>
          <p:cNvGraphicFramePr/>
          <p:nvPr/>
        </p:nvGraphicFramePr>
        <p:xfrm>
          <a:off x="381658" y="1449998"/>
          <a:ext cx="8380684" cy="340000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000000"/>
                <a:gridCol w="5380680"/>
              </a:tblGrid>
              <a:tr h="40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Принципы ФП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DDD implementation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solidFill>
                      <a:srgbClr val="222222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Функции как значения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функциональный объект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Чистота функций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Command: изолированная операция БЛ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Иммутабельность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иммутабельные DTO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Декларативность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монадный DSL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48CC42"/>
                          </a:solidFill>
                          <a:latin typeface="Montserrat Thin Black"/>
                          <a:ea typeface="Montserrat Thin Black"/>
                          <a:cs typeface="Montserrat Thin Black"/>
                          <a:sym typeface="Montserrat Thin Black"/>
                        </a:rPr>
                        <a:t>Выражения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ROP → Result</a:t>
                      </a:r>
                    </a:p>
                  </a:txBody>
                  <a:tcPr marL="91440" marR="91440" marT="91440" marB="91440" anchor="t" anchorCtr="0" horzOverflow="overflow">
                    <a:lnL w="6350">
                      <a:solidFill>
                        <a:srgbClr val="333333"/>
                      </a:solidFill>
                    </a:lnL>
                    <a:lnR w="6350">
                      <a:solidFill>
                        <a:srgbClr val="333333"/>
                      </a:solidFill>
                    </a:lnR>
                    <a:lnT w="6350">
                      <a:solidFill>
                        <a:srgbClr val="333333"/>
                      </a:solidFill>
                    </a:lnT>
                    <a:lnB w="6350">
                      <a:solidFill>
                        <a:srgbClr val="333333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4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4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АРХИТЕКТУРА КОМАНДЫ</a:t>
            </a:r>
          </a:p>
        </p:txBody>
      </p:sp>
      <p:pic>
        <p:nvPicPr>
          <p:cNvPr id="753" name="Picture 452" descr="Picture 45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00000" y="1530000"/>
            <a:ext cx="8544001" cy="260182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56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7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58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9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ROP В КОМАНДЕ</a:t>
            </a:r>
          </a:p>
        </p:txBody>
      </p:sp>
      <p:sp>
        <p:nvSpPr>
          <p:cNvPr id="7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Railway-Oriented Programming через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.bind</a:t>
            </a:r>
          </a:p>
        </p:txBody>
      </p:sp>
      <p:sp>
        <p:nvSpPr>
          <p:cNvPr id="763" name="lbl_0"/>
          <p:cNvSpPr txBox="1"/>
          <p:nvPr/>
        </p:nvSpPr>
        <p:spPr>
          <a:xfrm>
            <a:off x="386755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64" name="code_0"/>
          <p:cNvSpPr txBox="1"/>
          <p:nvPr/>
        </p:nvSpPr>
        <p:spPr>
          <a:xfrm>
            <a:off x="386759" y="2097650"/>
            <a:ext cx="8373999" cy="30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call</a:t>
            </a:r>
            <a:r>
              <a:rPr>
                <a:solidFill>
                  <a:srgbClr val="D0D0D0"/>
                </a:solidFill>
              </a:rPr>
              <a:t>(raw_input = {})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56B6C2"/>
                </a:solidFill>
              </a:rPr>
              <a:t>@context_result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do_validate(raw_input)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|input| do_prepare(**input)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|input| do_persist!(**input)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.bind { |result| publish_events!(result) }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67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8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69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0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DO-НОТАЦИЯ</a:t>
            </a:r>
          </a:p>
        </p:txBody>
      </p:sp>
      <p:sp>
        <p:nvSpPr>
          <p:cNvPr id="7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yield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разворачивает Result внутри монады</a:t>
            </a:r>
          </a:p>
        </p:txBody>
      </p:sp>
      <p:sp>
        <p:nvSpPr>
          <p:cNvPr id="774" name="lbl_0"/>
          <p:cNvSpPr txBox="1"/>
          <p:nvPr/>
        </p:nvSpPr>
        <p:spPr>
          <a:xfrm>
            <a:off x="386755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75" name="code_0"/>
          <p:cNvSpPr txBox="1"/>
          <p:nvPr/>
        </p:nvSpPr>
        <p:spPr>
          <a:xfrm>
            <a:off x="386759" y="2097650"/>
            <a:ext cx="8373999" cy="30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include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Dry</a:t>
            </a:r>
            <a:r>
              <a:rPr>
                <a:solidFill>
                  <a:srgbClr val="D0D0D0"/>
                </a:solidFill>
              </a:rPr>
              <a:t>::</a:t>
            </a:r>
            <a:r>
              <a:rPr>
                <a:solidFill>
                  <a:srgbClr val="61AFEF"/>
                </a:solidFill>
              </a:rPr>
              <a:t>Monads</a:t>
            </a:r>
            <a:r>
              <a:rPr>
                <a:solidFill>
                  <a:srgbClr val="D0D0D0"/>
                </a:solidFill>
              </a:rPr>
              <a:t>::</a:t>
            </a:r>
            <a:r>
              <a:rPr>
                <a:solidFill>
                  <a:srgbClr val="61AFEF"/>
                </a:solidFill>
              </a:rPr>
              <a:t>Do</a:t>
            </a:r>
            <a:r>
              <a:rPr>
                <a:solidFill>
                  <a:srgbClr val="D0D0D0"/>
                </a:solidFill>
              </a:rPr>
              <a:t>.for(</a:t>
            </a:r>
            <a:r>
              <a:rPr>
                <a:solidFill>
                  <a:srgbClr val="56B6C2"/>
                </a:solidFill>
              </a:rPr>
              <a:t>:load_entity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load_entity</a:t>
            </a:r>
            <a:r>
              <a:rPr>
                <a:solidFill>
                  <a:srgbClr val="D0D0D0"/>
                </a:solidFill>
              </a:rPr>
              <a:t>(id:)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owner 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find_owner(id)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config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load_config(owner)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state  = </a:t>
            </a:r>
            <a:r>
              <a:rPr>
                <a:solidFill>
                  <a:srgbClr val="E06C75"/>
                </a:solidFill>
              </a:rPr>
              <a:t>yield</a:t>
            </a:r>
            <a:r>
              <a:t> resolve_state(config)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Success</a:t>
            </a:r>
            <a:r>
              <a:t>(</a:t>
            </a:r>
            <a:r>
              <a:rPr>
                <a:solidFill>
                  <a:srgbClr val="56B6C2"/>
                </a:solidFill>
              </a:rPr>
              <a:t>owner</a:t>
            </a:r>
            <a:r>
              <a:t>:, </a:t>
            </a:r>
            <a:r>
              <a:rPr>
                <a:solidFill>
                  <a:srgbClr val="56B6C2"/>
                </a:solidFill>
              </a:rPr>
              <a:t>config</a:t>
            </a:r>
            <a:r>
              <a:t>:, </a:t>
            </a:r>
            <a:r>
              <a:rPr>
                <a:solidFill>
                  <a:srgbClr val="56B6C2"/>
                </a:solidFill>
              </a:rPr>
              <a:t>state</a:t>
            </a:r>
            <a:r>
              <a:t>:)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9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80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1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8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8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ТИПОВЫЕ КОНТРАКТЫ</a:t>
            </a:r>
          </a:p>
        </p:txBody>
      </p:sp>
      <p:sp>
        <p:nvSpPr>
          <p:cNvPr id="78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dry-types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конструкторы типов как значения</a:t>
            </a:r>
          </a:p>
        </p:txBody>
      </p:sp>
      <p:sp>
        <p:nvSpPr>
          <p:cNvPr id="785" name="lbl_0"/>
          <p:cNvSpPr txBox="1"/>
          <p:nvPr/>
        </p:nvSpPr>
        <p:spPr>
          <a:xfrm>
            <a:off x="386755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86" name="code_0"/>
          <p:cNvSpPr txBox="1"/>
          <p:nvPr/>
        </p:nvSpPr>
        <p:spPr>
          <a:xfrm>
            <a:off x="386759" y="2097650"/>
            <a:ext cx="8373999" cy="30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module</a:t>
            </a:r>
            <a:r>
              <a:rPr>
                <a:solidFill>
                  <a:srgbClr val="D0D0D0"/>
                </a:solidFill>
              </a:rPr>
              <a:t> DomainTypes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DownCasedString</a:t>
            </a:r>
            <a:r>
              <a:t>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::String.constructor { |v| v&amp;.downcase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Email</a:t>
            </a:r>
            <a:r>
              <a:t> = </a:t>
            </a:r>
            <a:r>
              <a:rPr>
                <a:solidFill>
                  <a:srgbClr val="61AFEF"/>
                </a:solidFill>
              </a:rPr>
              <a:t>DownCasedString</a:t>
            </a:r>
            <a:r>
              <a:t>.constrained(format: </a:t>
            </a:r>
            <a:r>
              <a:rPr>
                <a:solidFill>
                  <a:srgbClr val="61AFEF"/>
                </a:solidFill>
              </a:rPr>
              <a:t>EMAIL_REGEXP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Uuid</a:t>
            </a:r>
            <a:r>
              <a:t>  = </a:t>
            </a:r>
            <a:r>
              <a:rPr>
                <a:solidFill>
                  <a:srgbClr val="61AFEF"/>
                </a:solidFill>
              </a:rPr>
              <a:t>StrippedString</a:t>
            </a:r>
            <a:r>
              <a:t>.constrained(format: </a:t>
            </a:r>
            <a:r>
              <a:rPr>
                <a:solidFill>
                  <a:srgbClr val="61AFEF"/>
                </a:solidFill>
              </a:rPr>
              <a:t>UUID_REGEXP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module</a:t>
            </a:r>
            <a:r>
              <a:t> HttpTypes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61AFEF"/>
                </a:solidFill>
              </a:rPr>
              <a:t>Method</a:t>
            </a:r>
            <a:r>
              <a:t>    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::String.enum(*</a:t>
            </a:r>
            <a:r>
              <a:rPr>
                <a:solidFill>
                  <a:srgbClr val="98C379"/>
                </a:solidFill>
              </a:rPr>
              <a:t>%w[GET POST PUT PATCH DELETE]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61AFEF"/>
                </a:solidFill>
              </a:rPr>
              <a:t>SafeMethod</a:t>
            </a:r>
            <a:r>
              <a:t> = </a:t>
            </a:r>
            <a:r>
              <a:rPr>
                <a:solidFill>
                  <a:srgbClr val="61AFEF"/>
                </a:solidFill>
              </a:rPr>
              <a:t>Types</a:t>
            </a:r>
            <a:r>
              <a:t>::String.enum(*</a:t>
            </a:r>
            <a:r>
              <a:rPr>
                <a:solidFill>
                  <a:srgbClr val="98C379"/>
                </a:solidFill>
              </a:rPr>
              <a:t>%w[GET HEAD OPTIONS]</a:t>
            </a:r>
            <a:r>
              <a:t>)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end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89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90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1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92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9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ДОМЕННЫЕ ОШИБКИ КАК ЗНАЧЕНИЯ</a:t>
            </a:r>
          </a:p>
        </p:txBody>
      </p:sp>
      <p:sp>
        <p:nvSpPr>
          <p:cNvPr id="79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DomainError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иммутабельный</a:t>
            </a:r>
            <a:r>
              <a:t> value object</a:t>
            </a:r>
          </a:p>
        </p:txBody>
      </p:sp>
      <p:sp>
        <p:nvSpPr>
          <p:cNvPr id="796" name="lbl_0"/>
          <p:cNvSpPr txBox="1"/>
          <p:nvPr/>
        </p:nvSpPr>
        <p:spPr>
          <a:xfrm>
            <a:off x="386755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797" name="code_0"/>
          <p:cNvSpPr txBox="1"/>
          <p:nvPr/>
        </p:nvSpPr>
        <p:spPr>
          <a:xfrm>
            <a:off x="386759" y="2097650"/>
            <a:ext cx="8373999" cy="30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DomainError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extend</a:t>
            </a:r>
            <a:r>
              <a:t> </a:t>
            </a:r>
            <a:r>
              <a:rPr>
                <a:solidFill>
                  <a:srgbClr val="61AFEF"/>
                </a:solidFill>
              </a:rPr>
              <a:t>Dry</a:t>
            </a:r>
            <a:r>
              <a:t>::</a:t>
            </a:r>
            <a:r>
              <a:rPr>
                <a:solidFill>
                  <a:srgbClr val="61AFEF"/>
                </a:solidFill>
              </a:rPr>
              <a:t>Initializer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:field</a:t>
            </a:r>
            <a:r>
              <a:t>, </a:t>
            </a:r>
            <a:r>
              <a:rPr>
                <a:solidFill>
                  <a:srgbClr val="56B6C2"/>
                </a:solidFill>
              </a:rPr>
              <a:t>optional</a:t>
            </a:r>
            <a:r>
              <a:t>: </a:t>
            </a:r>
            <a:r>
              <a:rPr>
                <a:solidFill>
                  <a:srgbClr val="E06C75"/>
                </a:solidFill>
              </a:rPr>
              <a:t>true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:meta</a:t>
            </a:r>
            <a:r>
              <a:t>,  </a:t>
            </a:r>
            <a:r>
              <a:rPr>
                <a:solidFill>
                  <a:srgbClr val="56B6C2"/>
                </a:solidFill>
              </a:rPr>
              <a:t>optional</a:t>
            </a:r>
            <a:r>
              <a:t>: </a:t>
            </a:r>
            <a:r>
              <a:rPr>
                <a:solidFill>
                  <a:srgbClr val="E06C75"/>
                </a:solidFill>
              </a:rPr>
              <a:t>true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def</a:t>
            </a:r>
            <a:r>
              <a:t> </a:t>
            </a:r>
            <a:r>
              <a:rPr>
                <a:solidFill>
                  <a:srgbClr val="61AFEF"/>
                </a:solidFill>
              </a:rPr>
              <a:t>to_monad</a:t>
            </a:r>
            <a:r>
              <a:t> = </a:t>
            </a:r>
            <a:r>
              <a:rPr>
                <a:solidFill>
                  <a:srgbClr val="61AFEF"/>
                </a:solidFill>
              </a:rPr>
              <a:t>Dry</a:t>
            </a:r>
            <a:r>
              <a:t>::</a:t>
            </a:r>
            <a:r>
              <a:rPr>
                <a:solidFill>
                  <a:srgbClr val="61AFEF"/>
                </a:solidFill>
              </a:rPr>
              <a:t>Monads</a:t>
            </a:r>
            <a:r>
              <a:t>::</a:t>
            </a:r>
            <a:r>
              <a:rPr>
                <a:solidFill>
                  <a:srgbClr val="61AFEF"/>
                </a:solidFill>
              </a:rPr>
              <a:t>Failure</a:t>
            </a:r>
            <a:r>
              <a:t>(self)</a:t>
            </a:r>
          </a:p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0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ExternalApiError</a:t>
            </a:r>
            <a:r>
              <a:rPr>
                <a:solidFill>
                  <a:srgbClr val="D0D0D0"/>
                </a:solidFill>
              </a:rPr>
              <a:t> = </a:t>
            </a:r>
            <a:r>
              <a:t>Class</a:t>
            </a:r>
            <a:r>
              <a:rPr>
                <a:solidFill>
                  <a:srgbClr val="D0D0D0"/>
                </a:solidFill>
              </a:rPr>
              <a:t>.new(</a:t>
            </a:r>
            <a:r>
              <a:t>DomainError</a:t>
            </a:r>
            <a:r>
              <a:rPr>
                <a:solidFill>
                  <a:srgbClr val="D0D0D0"/>
                </a:solidFill>
              </a:rPr>
              <a:t>) </a:t>
            </a:r>
            <a:r>
              <a:rPr>
                <a:solidFill>
                  <a:srgbClr val="E06C75"/>
                </a:solidFill>
              </a:rPr>
              <a:t>do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:path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:error_type</a:t>
            </a:r>
            <a:r>
              <a:t>  </a:t>
            </a:r>
            <a:r>
              <a:rPr>
                <a:solidFill>
                  <a:srgbClr val="95A5A6"/>
                </a:solidFill>
              </a:rPr>
              <a:t># :timeout | :connection_failed</a:t>
            </a:r>
          </a:p>
          <a:p>
            <a:pPr>
              <a:lnSpc>
                <a:spcPct val="120000"/>
              </a:lnSpc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option </a:t>
            </a:r>
            <a:r>
              <a:rPr>
                <a:solidFill>
                  <a:srgbClr val="56B6C2"/>
                </a:solidFill>
              </a:rPr>
              <a:t>:http_status</a:t>
            </a:r>
            <a:r>
              <a:t> </a:t>
            </a:r>
            <a:r>
              <a:rPr>
                <a:solidFill>
                  <a:srgbClr val="95A5A6"/>
                </a:solidFill>
              </a:rPr>
              <a:t># 502 | 504</a:t>
            </a:r>
          </a:p>
          <a:p>
            <a:pPr>
              <a:lnSpc>
                <a:spcPct val="12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00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1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02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3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0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0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БИЗНЕС-DSL</a:t>
            </a:r>
          </a:p>
        </p:txBody>
      </p:sp>
      <p:sp>
        <p:nvSpPr>
          <p:cNvPr id="80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DomainFailureMatcher: декларативный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pattern matching</a:t>
            </a:r>
          </a:p>
        </p:txBody>
      </p:sp>
      <p:sp>
        <p:nvSpPr>
          <p:cNvPr id="807" name="lbl_0"/>
          <p:cNvSpPr txBox="1"/>
          <p:nvPr/>
        </p:nvSpPr>
        <p:spPr>
          <a:xfrm>
            <a:off x="386755" y="1791579"/>
            <a:ext cx="71376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Ruby</a:t>
            </a:r>
          </a:p>
        </p:txBody>
      </p:sp>
      <p:sp>
        <p:nvSpPr>
          <p:cNvPr id="808" name="code_0"/>
          <p:cNvSpPr txBox="1"/>
          <p:nvPr/>
        </p:nvSpPr>
        <p:spPr>
          <a:xfrm>
            <a:off x="386759" y="2097650"/>
            <a:ext cx="8373999" cy="30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120000"/>
              </a:lnSpc>
              <a:defRPr sz="12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D0D0D0"/>
                </a:solidFill>
              </a:rPr>
              <a:t> = </a:t>
            </a:r>
            <a:r>
              <a:t>DomainFailureMatcher</a:t>
            </a:r>
            <a:r>
              <a:rPr>
                <a:solidFill>
                  <a:srgbClr val="D0D0D0"/>
                </a:solidFill>
              </a:rPr>
              <a:t>.define_matcher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120000"/>
              </a:lnSpc>
              <a:defRPr sz="1200">
                <a:solidFill>
                  <a:srgbClr val="61AFE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MATCHER</a:t>
            </a:r>
            <a:r>
              <a:rPr>
                <a:solidFill>
                  <a:srgbClr val="D0D0D0"/>
                </a:solidFill>
              </a:rPr>
              <a:t>.call(command.call(params)) </a:t>
            </a:r>
            <a:r>
              <a:rPr>
                <a:solidFill>
                  <a:srgbClr val="E06C75"/>
                </a:solidFill>
              </a:rPr>
              <a:t>do</a:t>
            </a:r>
            <a:r>
              <a:rPr>
                <a:solidFill>
                  <a:srgbClr val="D0D0D0"/>
                </a:solidFill>
              </a:rPr>
              <a:t> |m|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m.success                   { |result| render_ok(result)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m.failure(</a:t>
            </a:r>
            <a:r>
              <a:rPr>
                <a:solidFill>
                  <a:srgbClr val="61AFEF"/>
                </a:solidFill>
              </a:rPr>
              <a:t>ExternalApiError</a:t>
            </a:r>
            <a:r>
              <a:t>) { |e| render_proxy_error(e)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m.failure(</a:t>
            </a:r>
            <a:r>
              <a:rPr>
                <a:solidFill>
                  <a:srgbClr val="61AFEF"/>
                </a:solidFill>
              </a:rPr>
              <a:t>ContractError</a:t>
            </a:r>
            <a:r>
              <a:t>)    { |e| render_validation(e) }</a:t>
            </a:r>
          </a:p>
          <a:p>
            <a:pPr>
              <a:lnSpc>
                <a:spcPct val="120000"/>
              </a:lnSpc>
              <a:defRPr sz="12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m.failure                   { |e| render_unexpected(e) }</a:t>
            </a:r>
          </a:p>
          <a:p>
            <a:pPr>
              <a:lnSpc>
                <a:spcPct val="120000"/>
              </a:lnSpc>
              <a:defRPr sz="12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end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11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2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13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4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1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СИНТЕЗ: ПЯТЬ ПРИНЦИПОВ В PRODUCTION</a:t>
            </a:r>
          </a:p>
        </p:txBody>
      </p:sp>
      <p:sp>
        <p:nvSpPr>
          <p:cNvPr id="817" name="bullets"/>
          <p:cNvSpPr txBox="1"/>
          <p:nvPr/>
        </p:nvSpPr>
        <p:spPr>
          <a:xfrm>
            <a:off x="381660" y="1711219"/>
            <a:ext cx="7546634" cy="193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Декларативность → 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Contract </a:t>
            </a:r>
            <a:r>
              <a:t>DSL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</a:t>
            </a:r>
            <a:r>
              <a:t>Result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pipeline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Выражения → 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Каждый </a:t>
            </a:r>
            <a:r>
              <a:t>.bind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возвращает </a:t>
            </a:r>
            <a:r>
              <a:t>Result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Функции как значения → .bind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лямбды в </a:t>
            </a:r>
            <a:r>
              <a:t>DSL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Чистота функций → Command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без глобального состояния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spcBef>
                <a:spcPts val="800"/>
              </a:spcBef>
              <a:buClr>
                <a:srgbClr val="A7A7A7"/>
              </a:buClr>
              <a:buSzPct val="150000"/>
              <a:buFont typeface="Montserrat Thin Bold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Иммутабельность → Type constructors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, </a:t>
            </a:r>
            <a:r>
              <a:t>DomainError</a:t>
            </a:r>
            <a:r>
              <a:rPr>
                <a:solidFill>
                  <a:srgbClr val="A7A7A7"/>
                </a:solidFill>
                <a:latin typeface="Montserrat Thin Regular"/>
                <a:ea typeface="Montserrat Thin Regular"/>
                <a:cs typeface="Montserrat Thin Regular"/>
                <a:sym typeface="Montserrat Thin Regular"/>
              </a:rPr>
              <a:t> как value object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Google Shape;61;p6"/>
          <p:cNvSpPr/>
          <p:nvPr/>
        </p:nvSpPr>
        <p:spPr>
          <a:xfrm>
            <a:off x="2114550" y="442912"/>
            <a:ext cx="1101629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1" name="Google Shape;62;p6"/>
          <p:cNvSpPr txBox="1"/>
          <p:nvPr/>
        </p:nvSpPr>
        <p:spPr>
          <a:xfrm>
            <a:off x="2286746" y="493093"/>
            <a:ext cx="757255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22" name="Google Shape;63;p6"/>
          <p:cNvSpPr/>
          <p:nvPr/>
        </p:nvSpPr>
        <p:spPr>
          <a:xfrm>
            <a:off x="3319462" y="442912"/>
            <a:ext cx="1149270" cy="240088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3" name="Google Shape;64;p6"/>
          <p:cNvSpPr txBox="1"/>
          <p:nvPr/>
        </p:nvSpPr>
        <p:spPr>
          <a:xfrm>
            <a:off x="3491658" y="493093"/>
            <a:ext cx="80488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2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5" name="TextBox 716"/>
          <p:cNvSpPr txBox="1"/>
          <p:nvPr/>
        </p:nvSpPr>
        <p:spPr>
          <a:xfrm>
            <a:off x="600000" y="1557100"/>
            <a:ext cx="5045253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44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826" name="TextBox 717"/>
          <p:cNvSpPr txBox="1"/>
          <p:nvPr/>
        </p:nvSpPr>
        <p:spPr>
          <a:xfrm>
            <a:off x="599998" y="2365848"/>
            <a:ext cx="308624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/>
          <a:p>
            <a:pPr>
              <a:defRPr sz="24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Tg: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@argent_smith</a:t>
            </a:r>
          </a:p>
        </p:txBody>
      </p:sp>
      <p:sp>
        <p:nvSpPr>
          <p:cNvPr id="827" name="TextBox 718"/>
          <p:cNvSpPr txBox="1"/>
          <p:nvPr/>
        </p:nvSpPr>
        <p:spPr>
          <a:xfrm>
            <a:off x="599998" y="4490849"/>
            <a:ext cx="772268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defRPr sz="24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2026</a:t>
            </a:r>
          </a:p>
        </p:txBody>
      </p:sp>
      <p:pic>
        <p:nvPicPr>
          <p:cNvPr id="828" name="Picture 719" descr="Picture 71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444000" y="1471749"/>
            <a:ext cx="2200003" cy="22000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
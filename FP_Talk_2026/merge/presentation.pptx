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Номер слайда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заголовка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Текст заголовка</a:t>
            </a:r>
          </a:p>
        </p:txBody>
      </p:sp>
      <p:sp>
        <p:nvSpPr>
          <p:cNvPr id="3" name="Уровень текста 1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" name="Номер слайда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hyperlink" Target="http://evrone.ru" TargetMode="Externa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jpe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1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16;p3" descr="Google Shape;16;p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" name="Google Shape;17;p3" descr="Google Shape;17;p3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6425" y="0"/>
            <a:ext cx="3457575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Google Shape;18;p3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3" name="Google Shape;19;p3"/>
          <p:cNvSpPr txBox="1"/>
          <p:nvPr/>
        </p:nvSpPr>
        <p:spPr>
          <a:xfrm>
            <a:off x="2286744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24" name="Google Shape;20;p3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25" name="Google Shape;21;p3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26" name="Google Shape;22;p3"/>
          <p:cNvSpPr txBox="1"/>
          <p:nvPr/>
        </p:nvSpPr>
        <p:spPr>
          <a:xfrm>
            <a:off x="466725" y="2302681"/>
            <a:ext cx="4929188" cy="11477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05392"/>
              </a:lnSpc>
              <a:defRPr sz="36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IT-КОНФЕРЕНЦИЯ MERGE</a:t>
            </a:r>
          </a:p>
        </p:txBody>
      </p:sp>
      <p:sp>
        <p:nvSpPr>
          <p:cNvPr id="27" name="Google Shape;23;p3"/>
          <p:cNvSpPr txBox="1"/>
          <p:nvPr/>
        </p:nvSpPr>
        <p:spPr>
          <a:xfrm>
            <a:off x="466724" y="2143918"/>
            <a:ext cx="3833814" cy="203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5"/>
              </a:lnSpc>
              <a:defRPr sz="13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Профессиональная межрегиональная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Google Shape;29;p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Google Shape;30;p4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1" name="Google Shape;31;p4"/>
          <p:cNvSpPr txBox="1"/>
          <p:nvPr/>
        </p:nvSpPr>
        <p:spPr>
          <a:xfrm>
            <a:off x="2286744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32" name="Google Shape;32;p4"/>
          <p:cNvSpPr/>
          <p:nvPr/>
        </p:nvSpPr>
        <p:spPr>
          <a:xfrm>
            <a:off x="2624138" y="2767013"/>
            <a:ext cx="1696942" cy="240072"/>
          </a:xfrm>
          <a:prstGeom prst="roundRect">
            <a:avLst>
              <a:gd name="adj" fmla="val 50000"/>
            </a:avLst>
          </a:prstGeom>
          <a:solidFill>
            <a:srgbClr val="242424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3" name="Google Shape;33;p4"/>
          <p:cNvSpPr txBox="1"/>
          <p:nvPr/>
        </p:nvSpPr>
        <p:spPr>
          <a:xfrm>
            <a:off x="2796332" y="2817198"/>
            <a:ext cx="135255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DDDDDD"/>
                </a:solidFill>
                <a:uFill>
                  <a:solidFill>
                    <a:srgbClr val="0563C1"/>
                  </a:solidFill>
                </a:uFill>
                <a:latin typeface="Montserrat Thin Bold"/>
                <a:ea typeface="Montserrat Thin Bold"/>
                <a:cs typeface="Montserrat Thin Bold"/>
                <a:sym typeface="Montserrat Thin Bold"/>
                <a:hlinkClick r:id="rId3" invalidUrl="" action="" tgtFrame="" tooltip="" history="1" highlightClick="0" endSnd="0"/>
              </a:defRPr>
            </a:lvl1pPr>
          </a:lstStyle>
          <a:p>
            <a:pPr>
              <a:defRPr>
                <a:uFillTx/>
              </a:defRPr>
            </a:pPr>
            <a:r>
              <a:rPr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evrone.ru</a:t>
            </a:r>
          </a:p>
        </p:txBody>
      </p:sp>
      <p:sp>
        <p:nvSpPr>
          <p:cNvPr id="34" name="Google Shape;34;p4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35" name="Google Shape;35;p4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sp>
        <p:nvSpPr>
          <p:cNvPr id="36" name="Google Shape;36;p4"/>
          <p:cNvSpPr txBox="1"/>
          <p:nvPr/>
        </p:nvSpPr>
        <p:spPr>
          <a:xfrm>
            <a:off x="466725" y="1525587"/>
            <a:ext cx="8153400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lvl="1"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ДРЕВНЯЯ МАГИЯ НА КАЖДЫЙ ДЕНЬ</a:t>
            </a:r>
          </a:p>
        </p:txBody>
      </p:sp>
      <p:sp>
        <p:nvSpPr>
          <p:cNvPr id="37" name="Google Shape;37;p4"/>
          <p:cNvSpPr txBox="1"/>
          <p:nvPr/>
        </p:nvSpPr>
        <p:spPr>
          <a:xfrm>
            <a:off x="2624138" y="3075781"/>
            <a:ext cx="398145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0015"/>
              </a:lnSpc>
              <a:defRPr sz="26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38" name="Google Shape;38;p4"/>
          <p:cNvSpPr txBox="1"/>
          <p:nvPr/>
        </p:nvSpPr>
        <p:spPr>
          <a:xfrm>
            <a:off x="441110" y="1277622"/>
            <a:ext cx="2628957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82887"/>
              </a:lnSpc>
              <a:defRPr sz="10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принципов FP в пяти языках</a:t>
            </a:r>
          </a:p>
        </p:txBody>
      </p:sp>
      <p:sp>
        <p:nvSpPr>
          <p:cNvPr id="39" name="Google Shape;39;p4"/>
          <p:cNvSpPr txBox="1"/>
          <p:nvPr/>
        </p:nvSpPr>
        <p:spPr>
          <a:xfrm>
            <a:off x="4467225" y="2813844"/>
            <a:ext cx="1333500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93628"/>
              </a:lnSpc>
              <a:defRPr sz="900">
                <a:solidFill>
                  <a:srgbClr val="B7B7B7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FP guru</a:t>
            </a:r>
          </a:p>
        </p:txBody>
      </p:sp>
      <p:sp>
        <p:nvSpPr>
          <p:cNvPr id="40" name="Google Shape;40;p4"/>
          <p:cNvSpPr txBox="1"/>
          <p:nvPr/>
        </p:nvSpPr>
        <p:spPr>
          <a:xfrm>
            <a:off x="2796332" y="3601064"/>
            <a:ext cx="5139613" cy="1406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Значительная часть недостатков в разработке ПО связана с тем, что программисты не полностью понимают все возможные состояния, в которых может выполняться их код</a:t>
            </a:r>
          </a:p>
          <a:p>
            <a:pPr algn="r">
              <a:lnSpc>
                <a:spcPct val="128810"/>
              </a:lnSpc>
              <a:defRPr i="1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t>Джон Кармак</a:t>
            </a:r>
          </a:p>
        </p:txBody>
      </p:sp>
      <p:pic>
        <p:nvPicPr>
          <p:cNvPr id="41" name="Google Shape;41;p4" descr="Google Shape;41;p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623751" y="3649202"/>
            <a:ext cx="47390" cy="1232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42" name="Google Shape;43;p4" descr="Google Shape;43;p4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100137" y="3405187"/>
            <a:ext cx="590551" cy="590551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oogle Shape;98;p2" descr="Google Shape;98;p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404811" y="2288380"/>
            <a:ext cx="1981204" cy="1981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46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7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48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49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50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Google Shape;66;p6"/>
          <p:cNvSpPr txBox="1"/>
          <p:nvPr/>
        </p:nvSpPr>
        <p:spPr>
          <a:xfrm>
            <a:off x="419099" y="1735932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ПАВЕЛ АРГЕНТОВ</a:t>
            </a:r>
          </a:p>
        </p:txBody>
      </p:sp>
      <p:sp>
        <p:nvSpPr>
          <p:cNvPr id="52" name="Google Shape;67;p6"/>
          <p:cNvSpPr txBox="1"/>
          <p:nvPr/>
        </p:nvSpPr>
        <p:spPr>
          <a:xfrm>
            <a:off x="409905" y="2524752"/>
            <a:ext cx="4104936" cy="15279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много</a:t>
            </a:r>
            <a:r>
              <a:t> </a:t>
            </a:r>
            <a:r>
              <a:rPr>
                <a:solidFill>
                  <a:srgbClr val="A7A7A7"/>
                </a:solidFill>
              </a:rPr>
              <a:t>опыта</a:t>
            </a: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разрабатывал</a:t>
            </a:r>
            <a:r>
              <a:t>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всё</a:t>
            </a:r>
          </a:p>
          <a:p>
            <a:pPr marL="152400" indent="-152400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FP с</a:t>
            </a:r>
            <a:r>
              <a:t>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2002</a:t>
            </a:r>
            <a:r>
              <a:t> </a:t>
            </a:r>
            <a:r>
              <a:rPr>
                <a:solidFill>
                  <a:srgbClr val="A7A7A7"/>
                </a:solidFill>
              </a:rPr>
              <a:t>г.</a:t>
            </a: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Evrone.ru:</a:t>
            </a:r>
            <a:r>
              <a:t> </a:t>
            </a:r>
            <a:r>
              <a:rPr>
                <a:solidFill>
                  <a:srgbClr val="A7A7A7"/>
                </a:solidFill>
              </a:rPr>
              <a:t>разработка разработчиков</a:t>
            </a:r>
          </a:p>
        </p:txBody>
      </p:sp>
      <p:sp>
        <p:nvSpPr>
          <p:cNvPr id="53" name="Google Shape;68;p6"/>
          <p:cNvSpPr/>
          <p:nvPr/>
        </p:nvSpPr>
        <p:spPr>
          <a:xfrm>
            <a:off x="5338762" y="862012"/>
            <a:ext cx="3328989" cy="3419476"/>
          </a:xfrm>
          <a:prstGeom prst="roundRect">
            <a:avLst>
              <a:gd name="adj" fmla="val 16667"/>
            </a:avLst>
          </a:prstGeom>
          <a:solidFill>
            <a:srgbClr val="242424"/>
          </a:solidFill>
          <a:ln w="22600">
            <a:solidFill>
              <a:srgbClr val="333333"/>
            </a:solidFill>
          </a:ln>
        </p:spPr>
        <p:txBody>
          <a:bodyPr lIns="0" tIns="0" rIns="0" bIns="0" anchor="ctr"/>
          <a:lstStyle/>
          <a:p>
            <a:pPr/>
          </a:p>
        </p:txBody>
      </p:sp>
      <p:pic>
        <p:nvPicPr>
          <p:cNvPr id="54" name="Google Shape;69;p6" descr="Google Shape;69;p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91300" y="2162175"/>
            <a:ext cx="823913" cy="823913"/>
          </a:xfrm>
          <a:prstGeom prst="rect">
            <a:avLst/>
          </a:prstGeom>
          <a:ln w="12700">
            <a:miter lim="400000"/>
          </a:ln>
        </p:spPr>
      </p:pic>
      <p:pic>
        <p:nvPicPr>
          <p:cNvPr id="55" name="Google Shape;98;p2" descr="Google Shape;98;p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5293434" y="861928"/>
            <a:ext cx="3419645" cy="341964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59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60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1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6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63" name="Google Shape;66;p6"/>
          <p:cNvSpPr txBox="1"/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(λx.M)N →β M[x := N]</a:t>
            </a:r>
          </a:p>
        </p:txBody>
      </p:sp>
      <p:sp>
        <p:nvSpPr>
          <p:cNvPr id="64" name="Google Shape;67;p6"/>
          <p:cNvSpPr txBox="1"/>
          <p:nvPr/>
        </p:nvSpPr>
        <p:spPr>
          <a:xfrm>
            <a:off x="381661" y="1745433"/>
            <a:ext cx="4104936" cy="8846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ФП:</a:t>
            </a:r>
            <a:r>
              <a:t> </a:t>
            </a:r>
            <a:r>
              <a:rPr>
                <a:solidFill>
                  <a:srgbClr val="A7A7A7"/>
                </a:solidFill>
              </a:rPr>
              <a:t>пять ĸонĸретных свойств ĸода</a:t>
            </a:r>
          </a:p>
          <a:p>
            <a:pPr>
              <a:lnSpc>
                <a:spcPct val="133302"/>
              </a:lnSpc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Смысл:</a:t>
            </a:r>
            <a:r>
              <a:t> </a:t>
            </a:r>
            <a:r>
              <a:rPr>
                <a:solidFill>
                  <a:srgbClr val="A7A7A7"/>
                </a:solidFill>
              </a:rPr>
              <a:t>описание результата, а не миĸроменеджмент процесса.</a:t>
            </a:r>
          </a:p>
        </p:txBody>
      </p:sp>
      <p:sp>
        <p:nvSpPr>
          <p:cNvPr id="65" name="Google Shape;108;p3"/>
          <p:cNvSpPr txBox="1"/>
          <p:nvPr/>
        </p:nvSpPr>
        <p:spPr>
          <a:xfrm>
            <a:off x="3990942" y="3094543"/>
            <a:ext cx="4878184" cy="13262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[1,2,3].map(x =&gt; x * 2)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add = x =&gt; y =&gt; x + y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const x = 1; x = 2 // TypeError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68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69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0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1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72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Google Shape;66;p6"/>
          <p:cNvSpPr txBox="1"/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ПЯТЬ ЯЗЫКОВ</a:t>
            </a:r>
          </a:p>
        </p:txBody>
      </p:sp>
      <p:graphicFrame>
        <p:nvGraphicFramePr>
          <p:cNvPr id="74" name="Tаблица 1"/>
          <p:cNvGraphicFramePr/>
          <p:nvPr/>
        </p:nvGraphicFramePr>
        <p:xfrm>
          <a:off x="2585435" y="1760765"/>
          <a:ext cx="5016737" cy="344069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349618"/>
                <a:gridCol w="2349618"/>
              </a:tblGrid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OCaml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богов (тм)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Scala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почти OCaml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Python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язык МНС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JS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вездесущ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  <a:tr h="49509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FFFFFF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Rust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2000">
                          <a:solidFill>
                            <a:srgbClr val="A7A7A7"/>
                          </a:solidFill>
                          <a:latin typeface="Montserrat Thin Bold"/>
                          <a:ea typeface="Montserrat Thin Bold"/>
                          <a:cs typeface="Montserrat Thin Bold"/>
                          <a:sym typeface="Montserrat Thin Bold"/>
                        </a:rPr>
                        <a:t>всемогущ</a:t>
                      </a:r>
                    </a:p>
                  </a:txBody>
                  <a:tcPr marL="91075" marR="91075" marT="91075" marB="91075" anchor="t" anchorCtr="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60;p6" descr="Google Shape;60;p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77" name="Google Shape;61;p6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78" name="Google Shape;62;p6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79" name="Google Shape;63;p6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0" name="Google Shape;64;p6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81" name="Google Shape;65;p6" descr="Google Shape;65;p6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  <p:sp>
        <p:nvSpPr>
          <p:cNvPr id="82" name="Google Shape;66;p6"/>
          <p:cNvSpPr txBox="1"/>
          <p:nvPr/>
        </p:nvSpPr>
        <p:spPr>
          <a:xfrm>
            <a:off x="404977" y="938038"/>
            <a:ext cx="5824540" cy="342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17192"/>
              </a:lnSpc>
              <a:defRPr sz="2200">
                <a:solidFill>
                  <a:srgbClr val="48CC42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ДЕКЛАРАТИВНОСТЬ</a:t>
            </a:r>
          </a:p>
        </p:txBody>
      </p:sp>
      <p:sp>
        <p:nvSpPr>
          <p:cNvPr id="83" name="Google Shape;67;p6"/>
          <p:cNvSpPr txBox="1"/>
          <p:nvPr/>
        </p:nvSpPr>
        <p:spPr>
          <a:xfrm>
            <a:off x="381661" y="1584604"/>
            <a:ext cx="7165164" cy="1206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Императивный код —</a:t>
            </a:r>
            <a:r>
              <a:t>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микроменеджмент</a:t>
            </a: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Декларативный код —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 спецификация</a:t>
            </a:r>
            <a:endParaRPr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Людям —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 понятность</a:t>
            </a:r>
            <a:endParaRPr>
              <a:latin typeface="Montserrat Thin Black"/>
              <a:ea typeface="Montserrat Thin Black"/>
              <a:cs typeface="Montserrat Thin Black"/>
              <a:sym typeface="Montserrat Thin Black"/>
            </a:endParaRPr>
          </a:p>
          <a:p>
            <a:pPr marL="150394" indent="-150394">
              <a:lnSpc>
                <a:spcPct val="133302"/>
              </a:lnSpc>
              <a:buSzPct val="150000"/>
              <a:buChar char="•"/>
              <a:defRPr sz="15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pPr>
            <a:r>
              <a:rPr>
                <a:solidFill>
                  <a:srgbClr val="A7A7A7"/>
                </a:solidFill>
              </a:rPr>
              <a:t>Машинам — </a:t>
            </a:r>
            <a:r>
              <a:rPr>
                <a:latin typeface="Montserrat Thin Black"/>
                <a:ea typeface="Montserrat Thin Black"/>
                <a:cs typeface="Montserrat Thin Black"/>
                <a:sym typeface="Montserrat Thin Black"/>
              </a:rPr>
              <a:t>законы оптимизации</a:t>
            </a:r>
          </a:p>
        </p:txBody>
      </p:sp>
      <p:sp>
        <p:nvSpPr>
          <p:cNvPr id="84" name="Google Shape;108;p3"/>
          <p:cNvSpPr txBox="1"/>
          <p:nvPr/>
        </p:nvSpPr>
        <p:spPr>
          <a:xfrm>
            <a:off x="3420131" y="3384044"/>
            <a:ext cx="5557447" cy="132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normAutofit fontScale="100000" lnSpcReduction="0"/>
          </a:bodyPr>
          <a:lstStyle/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SELECT … WHERE vs for … in</a:t>
            </a:r>
          </a:p>
          <a:p>
            <a:pPr>
              <a:lnSpc>
                <a:spcPct val="60000"/>
              </a:lnSpc>
              <a:spcBef>
                <a:spcPts val="1400"/>
              </a:spcBef>
              <a:defRPr sz="2000">
                <a:solidFill>
                  <a:srgbClr val="FFFFFF"/>
                </a:solidFill>
                <a:latin typeface="JetBrains Mono Regular"/>
                <a:ea typeface="JetBrains Mono Regular"/>
                <a:cs typeface="JetBrains Mono Regular"/>
                <a:sym typeface="JetBrains Mono Regular"/>
              </a:defRPr>
            </a:pPr>
            <a:r>
              <a:t>for … end vs list.map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919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49;p5" descr="Google Shape;49;p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6725" y="328613"/>
            <a:ext cx="1309688" cy="419101"/>
          </a:xfrm>
          <a:prstGeom prst="rect">
            <a:avLst/>
          </a:prstGeom>
          <a:ln w="12700">
            <a:miter lim="400000"/>
          </a:ln>
        </p:spPr>
      </p:pic>
      <p:sp>
        <p:nvSpPr>
          <p:cNvPr id="87" name="Google Shape;50;p5"/>
          <p:cNvSpPr/>
          <p:nvPr/>
        </p:nvSpPr>
        <p:spPr>
          <a:xfrm>
            <a:off x="2114550" y="442912"/>
            <a:ext cx="1101629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88" name="Google Shape;51;p5"/>
          <p:cNvSpPr txBox="1"/>
          <p:nvPr/>
        </p:nvSpPr>
        <p:spPr>
          <a:xfrm>
            <a:off x="2286746" y="493098"/>
            <a:ext cx="757239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Иннополис</a:t>
            </a:r>
          </a:p>
        </p:txBody>
      </p:sp>
      <p:sp>
        <p:nvSpPr>
          <p:cNvPr id="89" name="Google Shape;52;p5"/>
          <p:cNvSpPr/>
          <p:nvPr/>
        </p:nvSpPr>
        <p:spPr>
          <a:xfrm>
            <a:off x="3319462" y="442912"/>
            <a:ext cx="1149254" cy="240072"/>
          </a:xfrm>
          <a:prstGeom prst="roundRect">
            <a:avLst>
              <a:gd name="adj" fmla="val 50000"/>
            </a:avLst>
          </a:prstGeom>
          <a:solidFill>
            <a:srgbClr val="48CC42"/>
          </a:solidFill>
          <a:ln w="12700">
            <a:miter lim="400000"/>
          </a:ln>
        </p:spPr>
        <p:txBody>
          <a:bodyPr lIns="0" tIns="0" rIns="0" bIns="0" anchor="ctr"/>
          <a:lstStyle/>
          <a:p>
            <a:pPr/>
          </a:p>
        </p:txBody>
      </p:sp>
      <p:sp>
        <p:nvSpPr>
          <p:cNvPr id="90" name="Google Shape;53;p5"/>
          <p:cNvSpPr txBox="1"/>
          <p:nvPr/>
        </p:nvSpPr>
        <p:spPr>
          <a:xfrm>
            <a:off x="3491658" y="493098"/>
            <a:ext cx="804864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lnSpc>
                <a:spcPct val="124946"/>
              </a:lnSpc>
              <a:defRPr sz="900">
                <a:solidFill>
                  <a:srgbClr val="FFFFFF"/>
                </a:solidFill>
                <a:latin typeface="Montserrat Thin Bold"/>
                <a:ea typeface="Montserrat Thin Bold"/>
                <a:cs typeface="Montserrat Thin Bold"/>
                <a:sym typeface="Montserrat Thin Bold"/>
              </a:defRPr>
            </a:lvl1pPr>
          </a:lstStyle>
          <a:p>
            <a:pPr/>
            <a:r>
              <a:t>17-18 апреля</a:t>
            </a:r>
          </a:p>
        </p:txBody>
      </p:sp>
      <p:pic>
        <p:nvPicPr>
          <p:cNvPr id="91" name="Google Shape;54;p5" descr="Google Shape;54;p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
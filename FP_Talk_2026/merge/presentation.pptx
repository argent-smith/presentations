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</p:sldIdLst>
  <p:sldSz cx="9144000" cy="51435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 b="def" i="def"/>
      <a:tcStyle>
        <a:tcBdr/>
        <a:fill>
          <a:solidFill>
            <a:srgbClr val="E8EBF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 b="def" i="def"/>
      <a:tcStyle>
        <a:tcBdr/>
        <a:fill>
          <a:solidFill>
            <a:srgbClr val="E8EBF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 b="def" i="def"/>
      <a:tcStyle>
        <a:tcBdr/>
        <a:fill>
          <a:solidFill>
            <a:srgbClr val="F0F0F0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 b="def" i="def"/>
      <a:tcStyle>
        <a:tcBdr/>
        <a:fill>
          <a:solidFill>
            <a:srgbClr val="EBF1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hape 17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8" name="Shape 18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400">
        <a:latin typeface="+mn-lt"/>
        <a:ea typeface="+mn-ea"/>
        <a:cs typeface="+mn-cs"/>
        <a:sym typeface="Arial"/>
      </a:defRPr>
    </a:lvl1pPr>
    <a:lvl2pPr indent="228600" latinLnBrk="0">
      <a:defRPr sz="1400">
        <a:latin typeface="+mn-lt"/>
        <a:ea typeface="+mn-ea"/>
        <a:cs typeface="+mn-cs"/>
        <a:sym typeface="Arial"/>
      </a:defRPr>
    </a:lvl2pPr>
    <a:lvl3pPr indent="457200" latinLnBrk="0">
      <a:defRPr sz="1400">
        <a:latin typeface="+mn-lt"/>
        <a:ea typeface="+mn-ea"/>
        <a:cs typeface="+mn-cs"/>
        <a:sym typeface="Arial"/>
      </a:defRPr>
    </a:lvl3pPr>
    <a:lvl4pPr indent="685800" latinLnBrk="0">
      <a:defRPr sz="1400">
        <a:latin typeface="+mn-lt"/>
        <a:ea typeface="+mn-ea"/>
        <a:cs typeface="+mn-cs"/>
        <a:sym typeface="Arial"/>
      </a:defRPr>
    </a:lvl4pPr>
    <a:lvl5pPr indent="914400" latinLnBrk="0">
      <a:defRPr sz="1400">
        <a:latin typeface="+mn-lt"/>
        <a:ea typeface="+mn-ea"/>
        <a:cs typeface="+mn-cs"/>
        <a:sym typeface="Arial"/>
      </a:defRPr>
    </a:lvl5pPr>
    <a:lvl6pPr indent="1143000" latinLnBrk="0">
      <a:defRPr sz="1400">
        <a:latin typeface="+mn-lt"/>
        <a:ea typeface="+mn-ea"/>
        <a:cs typeface="+mn-cs"/>
        <a:sym typeface="Arial"/>
      </a:defRPr>
    </a:lvl6pPr>
    <a:lvl7pPr indent="1371600" latinLnBrk="0">
      <a:defRPr sz="1400">
        <a:latin typeface="+mn-lt"/>
        <a:ea typeface="+mn-ea"/>
        <a:cs typeface="+mn-cs"/>
        <a:sym typeface="Arial"/>
      </a:defRPr>
    </a:lvl7pPr>
    <a:lvl8pPr indent="1600200" latinLnBrk="0">
      <a:defRPr sz="1400">
        <a:latin typeface="+mn-lt"/>
        <a:ea typeface="+mn-ea"/>
        <a:cs typeface="+mn-cs"/>
        <a:sym typeface="Arial"/>
      </a:defRPr>
    </a:lvl8pPr>
    <a:lvl9pPr indent="1828800" latinLnBrk="0">
      <a:defRPr sz="1400">
        <a:latin typeface="+mn-lt"/>
        <a:ea typeface="+mn-ea"/>
        <a:cs typeface="+mn-cs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Номер слайда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заголовка"/>
          <p:cNvSpPr txBox="1"/>
          <p:nvPr>
            <p:ph type="title"/>
          </p:nvPr>
        </p:nvSpPr>
        <p:spPr>
          <a:xfrm>
            <a:off x="685800" y="1383506"/>
            <a:ext cx="7772400" cy="15311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/>
          <a:lstStyle/>
          <a:p>
            <a:pPr/>
            <a:r>
              <a:t>Текст заголовка</a:t>
            </a:r>
          </a:p>
        </p:txBody>
      </p:sp>
      <p:sp>
        <p:nvSpPr>
          <p:cNvPr id="3" name="Уровень текста 1…"/>
          <p:cNvSpPr txBox="1"/>
          <p:nvPr>
            <p:ph type="body" idx="1"/>
          </p:nvPr>
        </p:nvSpPr>
        <p:spPr>
          <a:xfrm>
            <a:off x="1371600" y="2914650"/>
            <a:ext cx="6400800" cy="2228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/>
          <a:lstStyle/>
          <a:p>
            <a:pPr/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4" name="Номер слайда"/>
          <p:cNvSpPr txBox="1"/>
          <p:nvPr>
            <p:ph type="sldNum" sz="quarter" idx="2"/>
          </p:nvPr>
        </p:nvSpPr>
        <p:spPr>
          <a:xfrm>
            <a:off x="6279552" y="4635137"/>
            <a:ext cx="273652" cy="264251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 algn="r">
              <a:defRPr sz="1200"/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  <p:transition xmlns:p14="http://schemas.microsoft.com/office/powerpoint/2010/main" spd="med" advClick="1"/>
  <p:txStyles>
    <p:title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9pPr>
    </p:titleStyle>
    <p:body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1pPr>
      <a:lvl2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2pPr>
      <a:lvl3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3pPr>
      <a:lvl4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4pPr>
      <a:lvl5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5pPr>
      <a:lvl6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6pPr>
      <a:lvl7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7pPr>
      <a:lvl8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8pPr>
      <a:lvl9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hyperlink" Target="http://evrone.ru" TargetMode="External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1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1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9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oogle Shape;16;p3" descr="Google Shape;16;p3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pic>
        <p:nvPicPr>
          <p:cNvPr id="21" name="Google Shape;17;p3" descr="Google Shape;17;p3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5686425" y="0"/>
            <a:ext cx="3457575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2" name="Google Shape;18;p3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3" name="Google Shape;19;p3"/>
          <p:cNvSpPr txBox="1"/>
          <p:nvPr/>
        </p:nvSpPr>
        <p:spPr>
          <a:xfrm>
            <a:off x="2286741" y="493093"/>
            <a:ext cx="757252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24" name="Google Shape;20;p3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5" name="Google Shape;21;p3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sp>
        <p:nvSpPr>
          <p:cNvPr id="26" name="Google Shape;22;p3"/>
          <p:cNvSpPr txBox="1"/>
          <p:nvPr/>
        </p:nvSpPr>
        <p:spPr>
          <a:xfrm>
            <a:off x="466725" y="2302679"/>
            <a:ext cx="4929188" cy="11477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05392"/>
              </a:lnSpc>
              <a:defRPr sz="36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IT-КОНФЕРЕНЦИЯ MERGE</a:t>
            </a:r>
          </a:p>
        </p:txBody>
      </p:sp>
      <p:sp>
        <p:nvSpPr>
          <p:cNvPr id="27" name="Google Shape;23;p3"/>
          <p:cNvSpPr txBox="1"/>
          <p:nvPr/>
        </p:nvSpPr>
        <p:spPr>
          <a:xfrm>
            <a:off x="466718" y="2143917"/>
            <a:ext cx="3833824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5"/>
              </a:lnSpc>
              <a:defRPr sz="13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Профессиональная межрегиональная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4" descr="Google Shape;29;p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30" name="Google Shape;30;p4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1" name="Google Shape;31;p4"/>
          <p:cNvSpPr txBox="1"/>
          <p:nvPr/>
        </p:nvSpPr>
        <p:spPr>
          <a:xfrm>
            <a:off x="2286741" y="493093"/>
            <a:ext cx="757252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32" name="Google Shape;32;p4"/>
          <p:cNvSpPr/>
          <p:nvPr/>
        </p:nvSpPr>
        <p:spPr>
          <a:xfrm>
            <a:off x="2624138" y="2767013"/>
            <a:ext cx="1696950" cy="240084"/>
          </a:xfrm>
          <a:prstGeom prst="roundRect">
            <a:avLst>
              <a:gd name="adj" fmla="val 50000"/>
            </a:avLst>
          </a:prstGeom>
          <a:solidFill>
            <a:srgbClr val="242424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3" name="Google Shape;33;p4"/>
          <p:cNvSpPr txBox="1"/>
          <p:nvPr/>
        </p:nvSpPr>
        <p:spPr>
          <a:xfrm>
            <a:off x="2796332" y="2817197"/>
            <a:ext cx="135256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ontserrat Thin Bold"/>
                <a:ea typeface="Montserrat Thin Bold"/>
                <a:cs typeface="Montserrat Thin Bold"/>
                <a:sym typeface="Montserrat Thin Bold"/>
                <a:hlinkClick r:id="rId3" invalidUrl="" action="" tgtFrame="" tooltip="" history="1" highlightClick="0" endSnd="0"/>
              </a:defRPr>
            </a:lvl1pPr>
          </a:lstStyle>
          <a:p>
            <a:pPr/>
            <a:r>
              <a:rPr>
                <a:hlinkClick r:id="rId3" invalidUrl="" action="" tgtFrame="" tooltip="" history="1" highlightClick="0" endSnd="0"/>
              </a:rPr>
              <a:t>evrone.ru</a:t>
            </a:r>
          </a:p>
        </p:txBody>
      </p:sp>
      <p:sp>
        <p:nvSpPr>
          <p:cNvPr id="34" name="Google Shape;34;p4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5" name="Google Shape;35;p4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sp>
        <p:nvSpPr>
          <p:cNvPr id="36" name="Google Shape;36;p4"/>
          <p:cNvSpPr txBox="1"/>
          <p:nvPr/>
        </p:nvSpPr>
        <p:spPr>
          <a:xfrm>
            <a:off x="466725" y="1525587"/>
            <a:ext cx="8153400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lvl="1">
              <a:lnSpc>
                <a:spcPct val="110015"/>
              </a:lnSpc>
              <a:defRPr sz="26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ДРЕВНЯЯ МАГИЯ НА КАЖДЫЙ ДЕНЬ</a:t>
            </a:r>
          </a:p>
        </p:txBody>
      </p:sp>
      <p:sp>
        <p:nvSpPr>
          <p:cNvPr id="37" name="Google Shape;37;p4"/>
          <p:cNvSpPr txBox="1"/>
          <p:nvPr/>
        </p:nvSpPr>
        <p:spPr>
          <a:xfrm>
            <a:off x="2624138" y="3075781"/>
            <a:ext cx="3981456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0015"/>
              </a:lnSpc>
              <a:defRPr sz="26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Павел Аргентов</a:t>
            </a:r>
          </a:p>
        </p:txBody>
      </p:sp>
      <p:sp>
        <p:nvSpPr>
          <p:cNvPr id="38" name="Google Shape;38;p4"/>
          <p:cNvSpPr txBox="1"/>
          <p:nvPr/>
        </p:nvSpPr>
        <p:spPr>
          <a:xfrm>
            <a:off x="441109" y="1277621"/>
            <a:ext cx="2628958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82887"/>
              </a:lnSpc>
              <a:defRPr sz="1000">
                <a:solidFill>
                  <a:srgbClr val="B7B7B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Пять принципов FP в пяти языках</a:t>
            </a:r>
          </a:p>
        </p:txBody>
      </p:sp>
      <p:sp>
        <p:nvSpPr>
          <p:cNvPr id="39" name="Google Shape;39;p4"/>
          <p:cNvSpPr txBox="1"/>
          <p:nvPr/>
        </p:nvSpPr>
        <p:spPr>
          <a:xfrm>
            <a:off x="4467225" y="2813842"/>
            <a:ext cx="133350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93628"/>
              </a:lnSpc>
              <a:defRPr sz="900">
                <a:solidFill>
                  <a:srgbClr val="B7B7B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FP guru</a:t>
            </a:r>
          </a:p>
        </p:txBody>
      </p:sp>
      <p:sp>
        <p:nvSpPr>
          <p:cNvPr id="40" name="Google Shape;40;p4"/>
          <p:cNvSpPr txBox="1"/>
          <p:nvPr/>
        </p:nvSpPr>
        <p:spPr>
          <a:xfrm>
            <a:off x="2796324" y="3601063"/>
            <a:ext cx="5139633" cy="1406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28810"/>
              </a:lnSpc>
              <a:defRPr i="1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Значительная часть недостатков в разработке ПО связана с тем, что программисты не полностью понимают все возможные состояния, в которых может выполняться их код</a:t>
            </a:r>
          </a:p>
          <a:p>
            <a:pPr algn="r">
              <a:lnSpc>
                <a:spcPct val="128810"/>
              </a:lnSpc>
              <a:defRPr i="1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Джон Кармак</a:t>
            </a:r>
          </a:p>
        </p:txBody>
      </p:sp>
      <p:pic>
        <p:nvPicPr>
          <p:cNvPr id="41" name="Google Shape;41;p4" descr="Google Shape;41;p4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2623751" y="3649202"/>
            <a:ext cx="47402" cy="1232106"/>
          </a:xfrm>
          <a:prstGeom prst="rect">
            <a:avLst/>
          </a:prstGeom>
          <a:ln w="12700">
            <a:miter lim="400000"/>
          </a:ln>
        </p:spPr>
      </p:pic>
      <p:pic>
        <p:nvPicPr>
          <p:cNvPr id="42" name="Google Shape;43;p4" descr="Google Shape;43;p4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1100137" y="3405187"/>
            <a:ext cx="590557" cy="590563"/>
          </a:xfrm>
          <a:prstGeom prst="rect">
            <a:avLst/>
          </a:prstGeom>
          <a:ln w="12700">
            <a:miter lim="400000"/>
          </a:ln>
        </p:spPr>
      </p:pic>
      <p:pic>
        <p:nvPicPr>
          <p:cNvPr id="43" name="Google Shape;98;p2" descr="Google Shape;98;p2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404810" y="2288380"/>
            <a:ext cx="1981207" cy="1981203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46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7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48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9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50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51" name="Google Shape;66;p6"/>
          <p:cNvSpPr txBox="1"/>
          <p:nvPr/>
        </p:nvSpPr>
        <p:spPr>
          <a:xfrm>
            <a:off x="419089" y="1735932"/>
            <a:ext cx="5824560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ПАВЕЛ АРГЕНТОВ</a:t>
            </a:r>
          </a:p>
        </p:txBody>
      </p:sp>
      <p:sp>
        <p:nvSpPr>
          <p:cNvPr id="52" name="Google Shape;67;p6"/>
          <p:cNvSpPr txBox="1"/>
          <p:nvPr/>
        </p:nvSpPr>
        <p:spPr>
          <a:xfrm>
            <a:off x="409894" y="2524747"/>
            <a:ext cx="4104956" cy="15279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marL="152400" indent="-152400">
              <a:lnSpc>
                <a:spcPct val="133302"/>
              </a:lnSpc>
              <a:buSzPct val="150000"/>
              <a:buChar char="•"/>
              <a:defRPr sz="1500"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много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опыта</a:t>
            </a:r>
            <a:endParaRPr>
              <a:latin typeface="Montserrat Thin Bold"/>
              <a:ea typeface="Montserrat Thin Bold"/>
              <a:cs typeface="Montserrat Thin Bold"/>
              <a:sym typeface="Montserrat Thin Bold"/>
            </a:endParaRPr>
          </a:p>
          <a:p>
            <a:pPr marL="152400" indent="-152400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разрабатывал</a:t>
            </a:r>
            <a:r>
              <a:rPr>
                <a:solidFill>
                  <a:srgbClr val="FFFFFF"/>
                </a:solidFill>
              </a:rPr>
              <a:t>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всё</a:t>
            </a:r>
            <a:endParaRPr>
              <a:solidFill>
                <a:srgbClr val="FFFFFF"/>
              </a:solidFill>
            </a:endParaRPr>
          </a:p>
          <a:p>
            <a:pPr marL="152400" indent="-152400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FP с</a:t>
            </a:r>
            <a:r>
              <a:rPr>
                <a:solidFill>
                  <a:srgbClr val="FFFFFF"/>
                </a:solidFill>
              </a:rPr>
              <a:t>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2002</a:t>
            </a:r>
            <a:r>
              <a:rPr>
                <a:solidFill>
                  <a:srgbClr val="FFFFFF"/>
                </a:solidFill>
              </a:rPr>
              <a:t> </a:t>
            </a:r>
            <a:r>
              <a:t>г.</a:t>
            </a:r>
            <a:endParaRPr>
              <a:solidFill>
                <a:srgbClr val="FFFFFF"/>
              </a:solidFill>
            </a:endParaRPr>
          </a:p>
          <a:p>
            <a:pPr>
              <a:lnSpc>
                <a:spcPct val="133302"/>
              </a:lnSpc>
              <a:defRPr sz="15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</a:p>
          <a:p>
            <a:pPr>
              <a:lnSpc>
                <a:spcPct val="133302"/>
              </a:lnSpc>
              <a:defRPr sz="1500"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Evrone.ru: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разработка разработчиков</a:t>
            </a:r>
          </a:p>
        </p:txBody>
      </p:sp>
      <p:sp>
        <p:nvSpPr>
          <p:cNvPr id="53" name="Google Shape;68;p6"/>
          <p:cNvSpPr/>
          <p:nvPr/>
        </p:nvSpPr>
        <p:spPr>
          <a:xfrm>
            <a:off x="5338762" y="862012"/>
            <a:ext cx="3328990" cy="3419477"/>
          </a:xfrm>
          <a:prstGeom prst="roundRect">
            <a:avLst>
              <a:gd name="adj" fmla="val 16667"/>
            </a:avLst>
          </a:prstGeom>
          <a:solidFill>
            <a:srgbClr val="242424"/>
          </a:solidFill>
          <a:ln w="22600">
            <a:solidFill>
              <a:srgbClr val="333333"/>
            </a:solidFill>
          </a:ln>
        </p:spPr>
        <p:txBody>
          <a:bodyPr lIns="0" tIns="0" rIns="0" bIns="0" anchor="ctr"/>
          <a:lstStyle/>
          <a:p>
            <a:pPr/>
          </a:p>
        </p:txBody>
      </p:sp>
      <p:pic>
        <p:nvPicPr>
          <p:cNvPr id="54" name="Google Shape;69;p6" descr="Google Shape;69;p6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6591300" y="2162175"/>
            <a:ext cx="823913" cy="823913"/>
          </a:xfrm>
          <a:prstGeom prst="rect">
            <a:avLst/>
          </a:prstGeom>
          <a:ln w="12700">
            <a:miter lim="400000"/>
          </a:ln>
        </p:spPr>
      </p:pic>
      <p:pic>
        <p:nvPicPr>
          <p:cNvPr id="55" name="Google Shape;98;p2" descr="Google Shape;98;p2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5293433" y="861928"/>
            <a:ext cx="3419648" cy="3419644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58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9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60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1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62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63" name="Google Shape;66;p6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(λx.M)N →β M[x := N]</a:t>
            </a:r>
          </a:p>
        </p:txBody>
      </p:sp>
      <p:sp>
        <p:nvSpPr>
          <p:cNvPr id="64" name="Google Shape;67;p6"/>
          <p:cNvSpPr txBox="1"/>
          <p:nvPr/>
        </p:nvSpPr>
        <p:spPr>
          <a:xfrm>
            <a:off x="381659" y="1745432"/>
            <a:ext cx="4104939" cy="8846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 sz="1500"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ФП: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пять ĸонĸретных свойств ĸода</a:t>
            </a:r>
            <a:endParaRPr>
              <a:latin typeface="Montserrat Thin Bold"/>
              <a:ea typeface="Montserrat Thin Bold"/>
              <a:cs typeface="Montserrat Thin Bold"/>
              <a:sym typeface="Montserrat Thin Bold"/>
            </a:endParaRPr>
          </a:p>
          <a:p>
            <a:pPr>
              <a:lnSpc>
                <a:spcPct val="133302"/>
              </a:lnSpc>
              <a:defRPr sz="1500"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Смысл: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описание результата, а не миĸроменеджмент процесса.</a:t>
            </a:r>
          </a:p>
        </p:txBody>
      </p:sp>
      <p:sp>
        <p:nvSpPr>
          <p:cNvPr id="65" name="Google Shape;108;p3"/>
          <p:cNvSpPr txBox="1"/>
          <p:nvPr/>
        </p:nvSpPr>
        <p:spPr>
          <a:xfrm>
            <a:off x="3990940" y="3094543"/>
            <a:ext cx="4878190" cy="13262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normAutofit fontScale="100000" lnSpcReduction="0"/>
          </a:bodyPr>
          <a:lstStyle/>
          <a:p>
            <a:pPr>
              <a:lnSpc>
                <a:spcPct val="60000"/>
              </a:lnSpc>
              <a:defRPr sz="2000">
                <a:solidFill>
                  <a:srgbClr val="FFFFFF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[1,2,3].map(x =&gt; x * 2)</a:t>
            </a:r>
          </a:p>
          <a:p>
            <a:pPr>
              <a:lnSpc>
                <a:spcPct val="60000"/>
              </a:lnSpc>
              <a:spcBef>
                <a:spcPts val="1400"/>
              </a:spcBef>
              <a:defRPr sz="2000">
                <a:solidFill>
                  <a:srgbClr val="FFFFFF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add = x =&gt; y =&gt; x + y</a:t>
            </a:r>
          </a:p>
          <a:p>
            <a:pPr>
              <a:lnSpc>
                <a:spcPct val="60000"/>
              </a:lnSpc>
              <a:spcBef>
                <a:spcPts val="1400"/>
              </a:spcBef>
              <a:defRPr sz="2000">
                <a:solidFill>
                  <a:srgbClr val="FFFFFF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x = 1; x = 2 // TypeError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68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9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70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1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72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73" name="Google Shape;66;p6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ПЯТЬ ЯЗЫКОВ</a:t>
            </a:r>
          </a:p>
        </p:txBody>
      </p:sp>
      <p:graphicFrame>
        <p:nvGraphicFramePr>
          <p:cNvPr id="74" name="Tаблица 1"/>
          <p:cNvGraphicFramePr/>
          <p:nvPr/>
        </p:nvGraphicFramePr>
        <p:xfrm>
          <a:off x="2585435" y="1760765"/>
          <a:ext cx="4699237" cy="2475490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2349618"/>
                <a:gridCol w="2349618"/>
              </a:tblGrid>
              <a:tr h="495097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OCaml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A7A7A7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язык богов (тм)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</a:tr>
              <a:tr h="495097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Scala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A7A7A7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почти OCaml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</a:tr>
              <a:tr h="495097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Python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A7A7A7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язык МНС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</a:tr>
              <a:tr h="495097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JS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A7A7A7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вездесущ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</a:tr>
              <a:tr h="495097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Rust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A7A7A7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всемогущ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77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8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79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80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81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82" name="Google Shape;66;p6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</a:t>
            </a:r>
          </a:p>
        </p:txBody>
      </p:sp>
      <p:sp>
        <p:nvSpPr>
          <p:cNvPr id="83" name="Google Shape;67;p6"/>
          <p:cNvSpPr txBox="1"/>
          <p:nvPr/>
        </p:nvSpPr>
        <p:spPr>
          <a:xfrm>
            <a:off x="381660" y="1584598"/>
            <a:ext cx="7165165" cy="12062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Императивный код —</a:t>
            </a:r>
            <a:r>
              <a:rPr>
                <a:solidFill>
                  <a:srgbClr val="FFFFFF"/>
                </a:solidFill>
              </a:rPr>
              <a:t>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микроменеджмент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Декларативный код —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 спецификация</a:t>
            </a:r>
            <a:endParaRPr>
              <a:solidFill>
                <a:srgbClr val="FFFFFF"/>
              </a:solidFill>
              <a:latin typeface="Montserrat Thin Black"/>
              <a:ea typeface="Montserrat Thin Black"/>
              <a:cs typeface="Montserrat Thin Black"/>
              <a:sym typeface="Montserrat Thin Black"/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Людям —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 понятность</a:t>
            </a:r>
            <a:endParaRPr>
              <a:solidFill>
                <a:srgbClr val="FFFFFF"/>
              </a:solidFill>
              <a:latin typeface="Montserrat Thin Black"/>
              <a:ea typeface="Montserrat Thin Black"/>
              <a:cs typeface="Montserrat Thin Black"/>
              <a:sym typeface="Montserrat Thin Black"/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Машинам —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законы оптимизации</a:t>
            </a:r>
          </a:p>
        </p:txBody>
      </p:sp>
      <p:sp>
        <p:nvSpPr>
          <p:cNvPr id="84" name="Google Shape;108;p3"/>
          <p:cNvSpPr txBox="1"/>
          <p:nvPr/>
        </p:nvSpPr>
        <p:spPr>
          <a:xfrm>
            <a:off x="3420131" y="3384043"/>
            <a:ext cx="5557459" cy="13262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normAutofit fontScale="100000" lnSpcReduction="0"/>
          </a:bodyPr>
          <a:lstStyle/>
          <a:p>
            <a:pPr>
              <a:lnSpc>
                <a:spcPct val="60000"/>
              </a:lnSpc>
              <a:spcBef>
                <a:spcPts val="1400"/>
              </a:spcBef>
              <a:defRPr sz="2000">
                <a:solidFill>
                  <a:srgbClr val="FFFFFF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SELECT … WHERE vs for … in</a:t>
            </a:r>
          </a:p>
          <a:p>
            <a:pPr>
              <a:lnSpc>
                <a:spcPct val="60000"/>
              </a:lnSpc>
              <a:spcBef>
                <a:spcPts val="1400"/>
              </a:spcBef>
              <a:defRPr sz="2000">
                <a:solidFill>
                  <a:srgbClr val="FFFFFF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for … end vs list.map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87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88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89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90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91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92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</a:t>
            </a:r>
          </a:p>
        </p:txBody>
      </p:sp>
      <p:sp>
        <p:nvSpPr>
          <p:cNvPr id="93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сумма скидок для заказов дороже 100, скидка 10%</a:t>
            </a:r>
          </a:p>
        </p:txBody>
      </p:sp>
      <p:sp>
        <p:nvSpPr>
          <p:cNvPr id="94" name="lbl_0"/>
          <p:cNvSpPr txBox="1"/>
          <p:nvPr/>
        </p:nvSpPr>
        <p:spPr>
          <a:xfrm>
            <a:off x="386751" y="1791579"/>
            <a:ext cx="71375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95" name="code_0"/>
          <p:cNvSpPr txBox="1"/>
          <p:nvPr/>
        </p:nvSpPr>
        <p:spPr>
          <a:xfrm>
            <a:off x="386759" y="2097651"/>
            <a:ext cx="3540758" cy="1335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discount orders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List.filter (fun o -&gt; o.price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List.map (fun o -&gt; o.price *.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List.fold_left ( +. ) 0.0</a:t>
            </a:r>
          </a:p>
        </p:txBody>
      </p:sp>
      <p:sp>
        <p:nvSpPr>
          <p:cNvPr id="96" name="lbl_1"/>
          <p:cNvSpPr txBox="1"/>
          <p:nvPr/>
        </p:nvSpPr>
        <p:spPr>
          <a:xfrm>
            <a:off x="3710061" y="1774624"/>
            <a:ext cx="71374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97" name="code_1"/>
          <p:cNvSpPr txBox="1"/>
          <p:nvPr/>
        </p:nvSpPr>
        <p:spPr>
          <a:xfrm>
            <a:off x="3710058" y="2080690"/>
            <a:ext cx="2430387" cy="13358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discount(xs: List[Order])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.filter(_.price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.map(_.price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</a:t>
            </a:r>
          </a:p>
        </p:txBody>
      </p:sp>
      <p:sp>
        <p:nvSpPr>
          <p:cNvPr id="98" name="lbl_2"/>
          <p:cNvSpPr txBox="1"/>
          <p:nvPr/>
        </p:nvSpPr>
        <p:spPr>
          <a:xfrm>
            <a:off x="6260843" y="1774624"/>
            <a:ext cx="59182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99" name="code_2"/>
          <p:cNvSpPr txBox="1"/>
          <p:nvPr/>
        </p:nvSpPr>
        <p:spPr>
          <a:xfrm>
            <a:off x="6260841" y="2080690"/>
            <a:ext cx="2760606" cy="13656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discount(xs: &amp;[Order]) -&gt; f64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xs.iter()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.filter(|o| o.price &gt; 100.)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.map(|o| o.price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100" name="lbl_3"/>
          <p:cNvSpPr txBox="1"/>
          <p:nvPr/>
        </p:nvSpPr>
        <p:spPr>
          <a:xfrm>
            <a:off x="1981074" y="3513154"/>
            <a:ext cx="83566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101" name="code_3"/>
          <p:cNvSpPr txBox="1"/>
          <p:nvPr/>
        </p:nvSpPr>
        <p:spPr>
          <a:xfrm>
            <a:off x="1981075" y="3819223"/>
            <a:ext cx="2032001" cy="11082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discount(orders):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o.price * 0.1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for o in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if o.price &gt; 100.0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)</a:t>
            </a:r>
          </a:p>
        </p:txBody>
      </p:sp>
      <p:sp>
        <p:nvSpPr>
          <p:cNvPr id="102" name="lbl_4"/>
          <p:cNvSpPr txBox="1"/>
          <p:nvPr/>
        </p:nvSpPr>
        <p:spPr>
          <a:xfrm>
            <a:off x="5296265" y="3513154"/>
            <a:ext cx="34798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103" name="code_4"/>
          <p:cNvSpPr txBox="1"/>
          <p:nvPr/>
        </p:nvSpPr>
        <p:spPr>
          <a:xfrm>
            <a:off x="5296265" y="3819223"/>
            <a:ext cx="2978178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orders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.filter(o =&gt; o.price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.map(o =&gt; o.price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.reduce((s,d) =&gt; s+d,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106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07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108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09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110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111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</a:t>
            </a:r>
          </a:p>
        </p:txBody>
      </p:sp>
      <p:sp>
        <p:nvSpPr>
          <p:cNvPr id="112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сумма скидок для заказов дороже 100, скидка 10%</a:t>
            </a:r>
          </a:p>
        </p:txBody>
      </p:sp>
      <p:sp>
        <p:nvSpPr>
          <p:cNvPr id="113" name="lbl_0"/>
          <p:cNvSpPr txBox="1"/>
          <p:nvPr/>
        </p:nvSpPr>
        <p:spPr>
          <a:xfrm>
            <a:off x="386751" y="1791579"/>
            <a:ext cx="71375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114" name="code_0"/>
          <p:cNvSpPr txBox="1"/>
          <p:nvPr/>
        </p:nvSpPr>
        <p:spPr>
          <a:xfrm>
            <a:off x="386759" y="2097651"/>
            <a:ext cx="3540758" cy="1335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orders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.map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*.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+. ) </a:t>
            </a:r>
            <a:r>
              <a:rPr>
                <a:solidFill>
                  <a:srgbClr val="E5C07B"/>
                </a:solidFill>
              </a:rPr>
              <a:t>0.0</a:t>
            </a:r>
          </a:p>
        </p:txBody>
      </p:sp>
      <p:sp>
        <p:nvSpPr>
          <p:cNvPr id="115" name="lbl_1"/>
          <p:cNvSpPr txBox="1"/>
          <p:nvPr/>
        </p:nvSpPr>
        <p:spPr>
          <a:xfrm>
            <a:off x="3710061" y="1774624"/>
            <a:ext cx="71374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116" name="code_1"/>
          <p:cNvSpPr txBox="1"/>
          <p:nvPr/>
        </p:nvSpPr>
        <p:spPr>
          <a:xfrm>
            <a:off x="3710058" y="2080690"/>
            <a:ext cx="2430387" cy="13358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discount(xs: List[Order])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.filter(_.price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.map(_.price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</a:t>
            </a:r>
          </a:p>
        </p:txBody>
      </p:sp>
      <p:sp>
        <p:nvSpPr>
          <p:cNvPr id="117" name="lbl_2"/>
          <p:cNvSpPr txBox="1"/>
          <p:nvPr/>
        </p:nvSpPr>
        <p:spPr>
          <a:xfrm>
            <a:off x="6260843" y="1774624"/>
            <a:ext cx="59182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118" name="code_2"/>
          <p:cNvSpPr txBox="1"/>
          <p:nvPr/>
        </p:nvSpPr>
        <p:spPr>
          <a:xfrm>
            <a:off x="6260841" y="2080690"/>
            <a:ext cx="2760606" cy="13656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discount(xs: &amp;[Order]) -&gt; f64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xs.iter()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.filter(|o| o.price &gt; 100.)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.map(|o| o.price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119" name="lbl_3"/>
          <p:cNvSpPr txBox="1"/>
          <p:nvPr/>
        </p:nvSpPr>
        <p:spPr>
          <a:xfrm>
            <a:off x="1981074" y="3513154"/>
            <a:ext cx="83566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120" name="code_3"/>
          <p:cNvSpPr txBox="1"/>
          <p:nvPr/>
        </p:nvSpPr>
        <p:spPr>
          <a:xfrm>
            <a:off x="1981075" y="3819223"/>
            <a:ext cx="2032001" cy="11082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discount(orders):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o.price * 0.1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for o in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if o.price &gt; 100.0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)</a:t>
            </a:r>
          </a:p>
        </p:txBody>
      </p:sp>
      <p:sp>
        <p:nvSpPr>
          <p:cNvPr id="121" name="lbl_4"/>
          <p:cNvSpPr txBox="1"/>
          <p:nvPr/>
        </p:nvSpPr>
        <p:spPr>
          <a:xfrm>
            <a:off x="5296265" y="3513154"/>
            <a:ext cx="34798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122" name="code_4"/>
          <p:cNvSpPr txBox="1"/>
          <p:nvPr/>
        </p:nvSpPr>
        <p:spPr>
          <a:xfrm>
            <a:off x="5296265" y="3819223"/>
            <a:ext cx="2978178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orders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.filter(o =&gt; o.price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.map(o =&gt; o.price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.reduce((s,d) =&gt; s+d,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125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26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127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28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129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130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</a:t>
            </a:r>
          </a:p>
        </p:txBody>
      </p:sp>
      <p:sp>
        <p:nvSpPr>
          <p:cNvPr id="131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сумма скидок для заказов дороже 100, скидка 10%</a:t>
            </a:r>
          </a:p>
        </p:txBody>
      </p:sp>
      <p:sp>
        <p:nvSpPr>
          <p:cNvPr id="132" name="lbl_0"/>
          <p:cNvSpPr txBox="1"/>
          <p:nvPr/>
        </p:nvSpPr>
        <p:spPr>
          <a:xfrm>
            <a:off x="386751" y="1791579"/>
            <a:ext cx="71375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133" name="code_0"/>
          <p:cNvSpPr txBox="1"/>
          <p:nvPr/>
        </p:nvSpPr>
        <p:spPr>
          <a:xfrm>
            <a:off x="386759" y="2097651"/>
            <a:ext cx="3540758" cy="1335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orders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.map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*.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+. ) </a:t>
            </a:r>
            <a:r>
              <a:rPr>
                <a:solidFill>
                  <a:srgbClr val="E5C07B"/>
                </a:solidFill>
              </a:rPr>
              <a:t>0.0</a:t>
            </a:r>
          </a:p>
        </p:txBody>
      </p:sp>
      <p:sp>
        <p:nvSpPr>
          <p:cNvPr id="134" name="lbl_1"/>
          <p:cNvSpPr txBox="1"/>
          <p:nvPr/>
        </p:nvSpPr>
        <p:spPr>
          <a:xfrm>
            <a:off x="3710061" y="1774624"/>
            <a:ext cx="71374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135" name="code_1"/>
          <p:cNvSpPr txBox="1"/>
          <p:nvPr/>
        </p:nvSpPr>
        <p:spPr>
          <a:xfrm>
            <a:off x="3710058" y="2080690"/>
            <a:ext cx="2430387" cy="13358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discount(xs: </a:t>
            </a:r>
            <a:r>
              <a:rPr>
                <a:solidFill>
                  <a:srgbClr val="61AFEF"/>
                </a:solidFill>
              </a:rPr>
              <a:t>List</a:t>
            </a:r>
            <a:r>
              <a:rPr>
                <a:solidFill>
                  <a:srgbClr val="D0D0D0"/>
                </a:solidFill>
              </a:rPr>
              <a:t>[</a:t>
            </a:r>
            <a:r>
              <a:rPr>
                <a:solidFill>
                  <a:srgbClr val="61AFEF"/>
                </a:solidFill>
              </a:rPr>
              <a:t>Order</a:t>
            </a:r>
            <a:r>
              <a:rPr>
                <a:solidFill>
                  <a:srgbClr val="D0D0D0"/>
                </a:solidFill>
              </a:rPr>
              <a:t>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(_.price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(_.price *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</a:p>
        </p:txBody>
      </p:sp>
      <p:sp>
        <p:nvSpPr>
          <p:cNvPr id="136" name="lbl_2"/>
          <p:cNvSpPr txBox="1"/>
          <p:nvPr/>
        </p:nvSpPr>
        <p:spPr>
          <a:xfrm>
            <a:off x="6260843" y="1774624"/>
            <a:ext cx="59182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137" name="code_2"/>
          <p:cNvSpPr txBox="1"/>
          <p:nvPr/>
        </p:nvSpPr>
        <p:spPr>
          <a:xfrm>
            <a:off x="6260841" y="2080690"/>
            <a:ext cx="2760606" cy="13656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discount(xs: &amp;[Order]) -&gt; f64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xs.iter()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.filter(|o| o.price &gt; 100.)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.map(|o| o.price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138" name="lbl_3"/>
          <p:cNvSpPr txBox="1"/>
          <p:nvPr/>
        </p:nvSpPr>
        <p:spPr>
          <a:xfrm>
            <a:off x="1981074" y="3513154"/>
            <a:ext cx="83566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139" name="code_3"/>
          <p:cNvSpPr txBox="1"/>
          <p:nvPr/>
        </p:nvSpPr>
        <p:spPr>
          <a:xfrm>
            <a:off x="1981075" y="3819223"/>
            <a:ext cx="2032001" cy="11082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discount(orders):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o.price * 0.1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for o in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if o.price &gt; 100.0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)</a:t>
            </a:r>
          </a:p>
        </p:txBody>
      </p:sp>
      <p:sp>
        <p:nvSpPr>
          <p:cNvPr id="140" name="lbl_4"/>
          <p:cNvSpPr txBox="1"/>
          <p:nvPr/>
        </p:nvSpPr>
        <p:spPr>
          <a:xfrm>
            <a:off x="5296265" y="3513154"/>
            <a:ext cx="34798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141" name="code_4"/>
          <p:cNvSpPr txBox="1"/>
          <p:nvPr/>
        </p:nvSpPr>
        <p:spPr>
          <a:xfrm>
            <a:off x="5296265" y="3819223"/>
            <a:ext cx="2978178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orders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.filter(o =&gt; o.price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.map(o =&gt; o.price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.reduce((s,d) =&gt; s+d,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144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45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146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47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148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149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</a:t>
            </a:r>
          </a:p>
        </p:txBody>
      </p:sp>
      <p:sp>
        <p:nvSpPr>
          <p:cNvPr id="150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сумма скидок для заказов дороже 100, скидка 10%</a:t>
            </a:r>
          </a:p>
        </p:txBody>
      </p:sp>
      <p:sp>
        <p:nvSpPr>
          <p:cNvPr id="151" name="lbl_0"/>
          <p:cNvSpPr txBox="1"/>
          <p:nvPr/>
        </p:nvSpPr>
        <p:spPr>
          <a:xfrm>
            <a:off x="386751" y="1791579"/>
            <a:ext cx="71375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152" name="code_0"/>
          <p:cNvSpPr txBox="1"/>
          <p:nvPr/>
        </p:nvSpPr>
        <p:spPr>
          <a:xfrm>
            <a:off x="386759" y="2097651"/>
            <a:ext cx="3540758" cy="1335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orders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.map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*.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+. ) </a:t>
            </a:r>
            <a:r>
              <a:rPr>
                <a:solidFill>
                  <a:srgbClr val="E5C07B"/>
                </a:solidFill>
              </a:rPr>
              <a:t>0.0</a:t>
            </a:r>
          </a:p>
        </p:txBody>
      </p:sp>
      <p:sp>
        <p:nvSpPr>
          <p:cNvPr id="153" name="lbl_1"/>
          <p:cNvSpPr txBox="1"/>
          <p:nvPr/>
        </p:nvSpPr>
        <p:spPr>
          <a:xfrm>
            <a:off x="3710061" y="1774624"/>
            <a:ext cx="71374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154" name="code_1"/>
          <p:cNvSpPr txBox="1"/>
          <p:nvPr/>
        </p:nvSpPr>
        <p:spPr>
          <a:xfrm>
            <a:off x="3710058" y="2080690"/>
            <a:ext cx="2430387" cy="13358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discount(xs: </a:t>
            </a:r>
            <a:r>
              <a:rPr>
                <a:solidFill>
                  <a:srgbClr val="61AFEF"/>
                </a:solidFill>
              </a:rPr>
              <a:t>List</a:t>
            </a:r>
            <a:r>
              <a:rPr>
                <a:solidFill>
                  <a:srgbClr val="D0D0D0"/>
                </a:solidFill>
              </a:rPr>
              <a:t>[</a:t>
            </a:r>
            <a:r>
              <a:rPr>
                <a:solidFill>
                  <a:srgbClr val="61AFEF"/>
                </a:solidFill>
              </a:rPr>
              <a:t>Order</a:t>
            </a:r>
            <a:r>
              <a:rPr>
                <a:solidFill>
                  <a:srgbClr val="D0D0D0"/>
                </a:solidFill>
              </a:rPr>
              <a:t>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(_.price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(_.price *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</a:p>
        </p:txBody>
      </p:sp>
      <p:sp>
        <p:nvSpPr>
          <p:cNvPr id="155" name="lbl_2"/>
          <p:cNvSpPr txBox="1"/>
          <p:nvPr/>
        </p:nvSpPr>
        <p:spPr>
          <a:xfrm>
            <a:off x="6260843" y="1774624"/>
            <a:ext cx="59182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156" name="code_2"/>
          <p:cNvSpPr txBox="1"/>
          <p:nvPr/>
        </p:nvSpPr>
        <p:spPr>
          <a:xfrm>
            <a:off x="6260841" y="2080690"/>
            <a:ext cx="2760606" cy="13656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discount(xs: &amp;[</a:t>
            </a:r>
            <a:r>
              <a:rPr>
                <a:solidFill>
                  <a:srgbClr val="61AFEF"/>
                </a:solidFill>
              </a:rPr>
              <a:t>Order</a:t>
            </a:r>
            <a:r>
              <a:rPr>
                <a:solidFill>
                  <a:srgbClr val="D0D0D0"/>
                </a:solidFill>
              </a:rPr>
              <a:t>])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</a:t>
            </a:r>
            <a:r>
              <a:rPr>
                <a:solidFill>
                  <a:srgbClr val="61AFEF"/>
                </a:solidFill>
              </a:rPr>
              <a:t>iter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(|o| o.price &gt; </a:t>
            </a:r>
            <a:r>
              <a:rPr>
                <a:solidFill>
                  <a:srgbClr val="E5C07B"/>
                </a:solidFill>
              </a:rPr>
              <a:t>100.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(|o| o.price *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157" name="lbl_3"/>
          <p:cNvSpPr txBox="1"/>
          <p:nvPr/>
        </p:nvSpPr>
        <p:spPr>
          <a:xfrm>
            <a:off x="1981074" y="3513154"/>
            <a:ext cx="83566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158" name="code_3"/>
          <p:cNvSpPr txBox="1"/>
          <p:nvPr/>
        </p:nvSpPr>
        <p:spPr>
          <a:xfrm>
            <a:off x="1981075" y="3819223"/>
            <a:ext cx="2032001" cy="11082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discount(orders):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o.price * 0.1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for o in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if o.price &gt; 100.0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)</a:t>
            </a:r>
          </a:p>
        </p:txBody>
      </p:sp>
      <p:sp>
        <p:nvSpPr>
          <p:cNvPr id="159" name="lbl_4"/>
          <p:cNvSpPr txBox="1"/>
          <p:nvPr/>
        </p:nvSpPr>
        <p:spPr>
          <a:xfrm>
            <a:off x="5296265" y="3513154"/>
            <a:ext cx="34798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160" name="code_4"/>
          <p:cNvSpPr txBox="1"/>
          <p:nvPr/>
        </p:nvSpPr>
        <p:spPr>
          <a:xfrm>
            <a:off x="5296265" y="3819223"/>
            <a:ext cx="2978178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orders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.filter(o =&gt; o.price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.map(o =&gt; o.price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.reduce((s,d) =&gt; s+d,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2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163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64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165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66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167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168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</a:t>
            </a:r>
          </a:p>
        </p:txBody>
      </p:sp>
      <p:sp>
        <p:nvSpPr>
          <p:cNvPr id="169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сумма скидок для заказов дороже 100, скидка 10%</a:t>
            </a:r>
          </a:p>
        </p:txBody>
      </p:sp>
      <p:sp>
        <p:nvSpPr>
          <p:cNvPr id="170" name="lbl_0"/>
          <p:cNvSpPr txBox="1"/>
          <p:nvPr/>
        </p:nvSpPr>
        <p:spPr>
          <a:xfrm>
            <a:off x="386751" y="1791579"/>
            <a:ext cx="71375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171" name="code_0"/>
          <p:cNvSpPr txBox="1"/>
          <p:nvPr/>
        </p:nvSpPr>
        <p:spPr>
          <a:xfrm>
            <a:off x="386759" y="2097651"/>
            <a:ext cx="3540758" cy="1335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orders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.map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*.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+. ) </a:t>
            </a:r>
            <a:r>
              <a:rPr>
                <a:solidFill>
                  <a:srgbClr val="E5C07B"/>
                </a:solidFill>
              </a:rPr>
              <a:t>0.0</a:t>
            </a:r>
          </a:p>
        </p:txBody>
      </p:sp>
      <p:sp>
        <p:nvSpPr>
          <p:cNvPr id="172" name="lbl_1"/>
          <p:cNvSpPr txBox="1"/>
          <p:nvPr/>
        </p:nvSpPr>
        <p:spPr>
          <a:xfrm>
            <a:off x="3710061" y="1774624"/>
            <a:ext cx="71374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173" name="code_1"/>
          <p:cNvSpPr txBox="1"/>
          <p:nvPr/>
        </p:nvSpPr>
        <p:spPr>
          <a:xfrm>
            <a:off x="3710058" y="2080690"/>
            <a:ext cx="2430387" cy="13358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discount(xs: </a:t>
            </a:r>
            <a:r>
              <a:rPr>
                <a:solidFill>
                  <a:srgbClr val="61AFEF"/>
                </a:solidFill>
              </a:rPr>
              <a:t>List</a:t>
            </a:r>
            <a:r>
              <a:rPr>
                <a:solidFill>
                  <a:srgbClr val="D0D0D0"/>
                </a:solidFill>
              </a:rPr>
              <a:t>[</a:t>
            </a:r>
            <a:r>
              <a:rPr>
                <a:solidFill>
                  <a:srgbClr val="61AFEF"/>
                </a:solidFill>
              </a:rPr>
              <a:t>Order</a:t>
            </a:r>
            <a:r>
              <a:rPr>
                <a:solidFill>
                  <a:srgbClr val="D0D0D0"/>
                </a:solidFill>
              </a:rPr>
              <a:t>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(_.price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(_.price *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</a:p>
        </p:txBody>
      </p:sp>
      <p:sp>
        <p:nvSpPr>
          <p:cNvPr id="174" name="lbl_2"/>
          <p:cNvSpPr txBox="1"/>
          <p:nvPr/>
        </p:nvSpPr>
        <p:spPr>
          <a:xfrm>
            <a:off x="6260843" y="1774624"/>
            <a:ext cx="59182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175" name="code_2"/>
          <p:cNvSpPr txBox="1"/>
          <p:nvPr/>
        </p:nvSpPr>
        <p:spPr>
          <a:xfrm>
            <a:off x="6260841" y="2080690"/>
            <a:ext cx="2760606" cy="13656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discount(xs: &amp;[</a:t>
            </a:r>
            <a:r>
              <a:rPr>
                <a:solidFill>
                  <a:srgbClr val="61AFEF"/>
                </a:solidFill>
              </a:rPr>
              <a:t>Order</a:t>
            </a:r>
            <a:r>
              <a:rPr>
                <a:solidFill>
                  <a:srgbClr val="D0D0D0"/>
                </a:solidFill>
              </a:rPr>
              <a:t>])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</a:t>
            </a:r>
            <a:r>
              <a:rPr>
                <a:solidFill>
                  <a:srgbClr val="61AFEF"/>
                </a:solidFill>
              </a:rPr>
              <a:t>iter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(|o| o.price &gt; </a:t>
            </a:r>
            <a:r>
              <a:rPr>
                <a:solidFill>
                  <a:srgbClr val="E5C07B"/>
                </a:solidFill>
              </a:rPr>
              <a:t>100.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(|o| o.price *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176" name="lbl_3"/>
          <p:cNvSpPr txBox="1"/>
          <p:nvPr/>
        </p:nvSpPr>
        <p:spPr>
          <a:xfrm>
            <a:off x="1981074" y="3513154"/>
            <a:ext cx="83566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177" name="code_3"/>
          <p:cNvSpPr txBox="1"/>
          <p:nvPr/>
        </p:nvSpPr>
        <p:spPr>
          <a:xfrm>
            <a:off x="1981075" y="3819223"/>
            <a:ext cx="2032001" cy="11082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discount(orders):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</a:t>
            </a:r>
            <a:r>
              <a:rPr>
                <a:solidFill>
                  <a:srgbClr val="D0D0D0"/>
                </a:solidFill>
              </a:rPr>
              <a:t>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o.price * </a:t>
            </a:r>
            <a:r>
              <a:rPr>
                <a:solidFill>
                  <a:srgbClr val="E5C07B"/>
                </a:solidFill>
              </a:rPr>
              <a:t>0.1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</a:t>
            </a:r>
            <a:r>
              <a:rPr>
                <a:solidFill>
                  <a:srgbClr val="E06C75"/>
                </a:solidFill>
              </a:rPr>
              <a:t>for</a:t>
            </a:r>
            <a:r>
              <a:t> o </a:t>
            </a:r>
            <a:r>
              <a:rPr>
                <a:solidFill>
                  <a:srgbClr val="E06C75"/>
                </a:solidFill>
              </a:rPr>
              <a:t>in</a:t>
            </a:r>
            <a:r>
              <a:t>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</a:t>
            </a:r>
            <a:r>
              <a:rPr>
                <a:solidFill>
                  <a:srgbClr val="E06C75"/>
                </a:solidFill>
              </a:rPr>
              <a:t>if</a:t>
            </a:r>
            <a:r>
              <a:t> o.price &gt; </a:t>
            </a:r>
            <a:r>
              <a:rPr>
                <a:solidFill>
                  <a:srgbClr val="E5C07B"/>
                </a:solidFill>
              </a:rPr>
              <a:t>100.0</a:t>
            </a:r>
            <a:endParaRPr>
              <a:solidFill>
                <a:srgbClr val="E5C07B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E5C07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D0D0D0"/>
                </a:solidFill>
              </a:rPr>
              <a:t>)</a:t>
            </a:r>
          </a:p>
        </p:txBody>
      </p:sp>
      <p:sp>
        <p:nvSpPr>
          <p:cNvPr id="178" name="lbl_4"/>
          <p:cNvSpPr txBox="1"/>
          <p:nvPr/>
        </p:nvSpPr>
        <p:spPr>
          <a:xfrm>
            <a:off x="5296265" y="3513154"/>
            <a:ext cx="34798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179" name="code_4"/>
          <p:cNvSpPr txBox="1"/>
          <p:nvPr/>
        </p:nvSpPr>
        <p:spPr>
          <a:xfrm>
            <a:off x="5296265" y="3819223"/>
            <a:ext cx="2978178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orders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.filter(o =&gt; o.price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.map(o =&gt; o.price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.reduce((s,d) =&gt; s+d,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182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83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184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85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186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187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</a:t>
            </a:r>
          </a:p>
        </p:txBody>
      </p:sp>
      <p:sp>
        <p:nvSpPr>
          <p:cNvPr id="188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сумма скидок для заказов дороже 100, скидка 10%</a:t>
            </a:r>
          </a:p>
        </p:txBody>
      </p:sp>
      <p:sp>
        <p:nvSpPr>
          <p:cNvPr id="189" name="lbl_OCaml"/>
          <p:cNvSpPr txBox="1"/>
          <p:nvPr/>
        </p:nvSpPr>
        <p:spPr>
          <a:xfrm>
            <a:off x="386751" y="1791579"/>
            <a:ext cx="71375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190" name="code_OCaml"/>
          <p:cNvSpPr txBox="1"/>
          <p:nvPr/>
        </p:nvSpPr>
        <p:spPr>
          <a:xfrm>
            <a:off x="386759" y="2097651"/>
            <a:ext cx="3540758" cy="1335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orders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.map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*.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+. ) </a:t>
            </a:r>
            <a:r>
              <a:rPr>
                <a:solidFill>
                  <a:srgbClr val="E5C07B"/>
                </a:solidFill>
              </a:rPr>
              <a:t>0.0</a:t>
            </a:r>
          </a:p>
        </p:txBody>
      </p:sp>
      <p:sp>
        <p:nvSpPr>
          <p:cNvPr id="191" name="lbl_Scala"/>
          <p:cNvSpPr txBox="1"/>
          <p:nvPr/>
        </p:nvSpPr>
        <p:spPr>
          <a:xfrm>
            <a:off x="3710061" y="1774624"/>
            <a:ext cx="71374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192" name="code_Scala"/>
          <p:cNvSpPr txBox="1"/>
          <p:nvPr/>
        </p:nvSpPr>
        <p:spPr>
          <a:xfrm>
            <a:off x="3710058" y="2080690"/>
            <a:ext cx="2430387" cy="13358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discount(xs: </a:t>
            </a:r>
            <a:r>
              <a:rPr>
                <a:solidFill>
                  <a:srgbClr val="61AFEF"/>
                </a:solidFill>
              </a:rPr>
              <a:t>List</a:t>
            </a:r>
            <a:r>
              <a:rPr>
                <a:solidFill>
                  <a:srgbClr val="D0D0D0"/>
                </a:solidFill>
              </a:rPr>
              <a:t>[</a:t>
            </a:r>
            <a:r>
              <a:rPr>
                <a:solidFill>
                  <a:srgbClr val="61AFEF"/>
                </a:solidFill>
              </a:rPr>
              <a:t>Order</a:t>
            </a:r>
            <a:r>
              <a:rPr>
                <a:solidFill>
                  <a:srgbClr val="D0D0D0"/>
                </a:solidFill>
              </a:rPr>
              <a:t>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(_.price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(_.price *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</a:p>
        </p:txBody>
      </p:sp>
      <p:sp>
        <p:nvSpPr>
          <p:cNvPr id="193" name="lbl_Rust"/>
          <p:cNvSpPr txBox="1"/>
          <p:nvPr/>
        </p:nvSpPr>
        <p:spPr>
          <a:xfrm>
            <a:off x="6260843" y="1774624"/>
            <a:ext cx="59182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194" name="code_Rust"/>
          <p:cNvSpPr txBox="1"/>
          <p:nvPr/>
        </p:nvSpPr>
        <p:spPr>
          <a:xfrm>
            <a:off x="6260841" y="2080690"/>
            <a:ext cx="2760606" cy="13656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discount(xs: &amp;[</a:t>
            </a:r>
            <a:r>
              <a:rPr>
                <a:solidFill>
                  <a:srgbClr val="61AFEF"/>
                </a:solidFill>
              </a:rPr>
              <a:t>Order</a:t>
            </a:r>
            <a:r>
              <a:rPr>
                <a:solidFill>
                  <a:srgbClr val="D0D0D0"/>
                </a:solidFill>
              </a:rPr>
              <a:t>])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</a:t>
            </a:r>
            <a:r>
              <a:rPr>
                <a:solidFill>
                  <a:srgbClr val="61AFEF"/>
                </a:solidFill>
              </a:rPr>
              <a:t>iter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(|o| o.price &gt; </a:t>
            </a:r>
            <a:r>
              <a:rPr>
                <a:solidFill>
                  <a:srgbClr val="E5C07B"/>
                </a:solidFill>
              </a:rPr>
              <a:t>100.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(|o| o.price *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195" name="lbl_Python"/>
          <p:cNvSpPr txBox="1"/>
          <p:nvPr/>
        </p:nvSpPr>
        <p:spPr>
          <a:xfrm>
            <a:off x="1981074" y="3513154"/>
            <a:ext cx="83566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196" name="code_Python"/>
          <p:cNvSpPr txBox="1"/>
          <p:nvPr/>
        </p:nvSpPr>
        <p:spPr>
          <a:xfrm>
            <a:off x="1981075" y="3819223"/>
            <a:ext cx="2032001" cy="11082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discount(orders):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</a:t>
            </a:r>
            <a:r>
              <a:rPr>
                <a:solidFill>
                  <a:srgbClr val="D0D0D0"/>
                </a:solidFill>
              </a:rPr>
              <a:t>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o.price * </a:t>
            </a:r>
            <a:r>
              <a:rPr>
                <a:solidFill>
                  <a:srgbClr val="E5C07B"/>
                </a:solidFill>
              </a:rPr>
              <a:t>0.1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</a:t>
            </a:r>
            <a:r>
              <a:rPr>
                <a:solidFill>
                  <a:srgbClr val="E06C75"/>
                </a:solidFill>
              </a:rPr>
              <a:t>for</a:t>
            </a:r>
            <a:r>
              <a:t> o </a:t>
            </a:r>
            <a:r>
              <a:rPr>
                <a:solidFill>
                  <a:srgbClr val="E06C75"/>
                </a:solidFill>
              </a:rPr>
              <a:t>in</a:t>
            </a:r>
            <a:r>
              <a:t>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</a:t>
            </a:r>
            <a:r>
              <a:rPr>
                <a:solidFill>
                  <a:srgbClr val="E06C75"/>
                </a:solidFill>
              </a:rPr>
              <a:t>if</a:t>
            </a:r>
            <a:r>
              <a:t> o.price &gt; </a:t>
            </a:r>
            <a:r>
              <a:rPr>
                <a:solidFill>
                  <a:srgbClr val="E5C07B"/>
                </a:solidFill>
              </a:rPr>
              <a:t>100.0</a:t>
            </a:r>
            <a:endParaRPr>
              <a:solidFill>
                <a:srgbClr val="E5C07B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E5C07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D0D0D0"/>
                </a:solidFill>
              </a:rPr>
              <a:t>)</a:t>
            </a:r>
          </a:p>
        </p:txBody>
      </p:sp>
      <p:sp>
        <p:nvSpPr>
          <p:cNvPr id="197" name="lbl_JS"/>
          <p:cNvSpPr txBox="1"/>
          <p:nvPr/>
        </p:nvSpPr>
        <p:spPr>
          <a:xfrm>
            <a:off x="5296265" y="3513154"/>
            <a:ext cx="34798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198" name="code_JS"/>
          <p:cNvSpPr txBox="1"/>
          <p:nvPr/>
        </p:nvSpPr>
        <p:spPr>
          <a:xfrm>
            <a:off x="5296265" y="3819223"/>
            <a:ext cx="2978178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rPr>
                <a:solidFill>
                  <a:srgbClr val="D0D0D0"/>
                </a:solidFill>
              </a:rPr>
              <a:t> discount = orders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(o =&gt; o.price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(o =&gt; o.price *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reduce</a:t>
            </a:r>
            <a:r>
              <a:t>((s,d) =&gt; s+d,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0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201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02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203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04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205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06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ВЫРАЖЕНИЯ ВМЕСТО ИНСТРУКЦИЙ</a:t>
            </a:r>
          </a:p>
        </p:txBody>
      </p:sp>
      <p:sp>
        <p:nvSpPr>
          <p:cNvPr id="207" name="bullets"/>
          <p:cNvSpPr txBox="1"/>
          <p:nvPr/>
        </p:nvSpPr>
        <p:spPr>
          <a:xfrm>
            <a:off x="381660" y="1745432"/>
            <a:ext cx="7165165" cy="8846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Инструкции производят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эффект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Выражения вычисляются в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значения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Значения можно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компоновать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210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11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212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13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214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15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ВЫРАЖЕНИЯ ВМЕСТО ИНСТРУКЦИЙ</a:t>
            </a:r>
          </a:p>
        </p:txBody>
      </p:sp>
      <p:sp>
        <p:nvSpPr>
          <p:cNvPr id="216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вычислить сумму чётных чисел</a:t>
            </a:r>
          </a:p>
        </p:txBody>
      </p:sp>
      <p:sp>
        <p:nvSpPr>
          <p:cNvPr id="217" name="lbl_0"/>
          <p:cNvSpPr txBox="1"/>
          <p:nvPr/>
        </p:nvSpPr>
        <p:spPr>
          <a:xfrm>
            <a:off x="386751" y="1791579"/>
            <a:ext cx="71375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218" name="code_0"/>
          <p:cNvSpPr txBox="1"/>
          <p:nvPr/>
        </p:nvSpPr>
        <p:spPr>
          <a:xfrm>
            <a:off x="386759" y="2097651"/>
            <a:ext cx="3540758" cy="1335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sum_even xs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List.filter (fun x -&gt; x mod 2 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List.fold_left ( + ) 0</a:t>
            </a:r>
          </a:p>
        </p:txBody>
      </p:sp>
      <p:sp>
        <p:nvSpPr>
          <p:cNvPr id="219" name="lbl_1"/>
          <p:cNvSpPr txBox="1"/>
          <p:nvPr/>
        </p:nvSpPr>
        <p:spPr>
          <a:xfrm>
            <a:off x="3710061" y="1774624"/>
            <a:ext cx="71374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220" name="code_1"/>
          <p:cNvSpPr txBox="1"/>
          <p:nvPr/>
        </p:nvSpPr>
        <p:spPr>
          <a:xfrm>
            <a:off x="3710058" y="2080690"/>
            <a:ext cx="2430387" cy="13358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sumEven(xs: List[Int])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.filter(_ % 2 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</a:t>
            </a:r>
          </a:p>
        </p:txBody>
      </p:sp>
      <p:sp>
        <p:nvSpPr>
          <p:cNvPr id="221" name="lbl_2"/>
          <p:cNvSpPr txBox="1"/>
          <p:nvPr/>
        </p:nvSpPr>
        <p:spPr>
          <a:xfrm>
            <a:off x="6260843" y="1774624"/>
            <a:ext cx="59182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222" name="code_2"/>
          <p:cNvSpPr txBox="1"/>
          <p:nvPr/>
        </p:nvSpPr>
        <p:spPr>
          <a:xfrm>
            <a:off x="6260841" y="2080690"/>
            <a:ext cx="2760606" cy="13656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sum_even(xs: &amp;[i32]) -&gt; i32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xs.iter()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.filter(|x| *x % 2 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223" name="lbl_3"/>
          <p:cNvSpPr txBox="1"/>
          <p:nvPr/>
        </p:nvSpPr>
        <p:spPr>
          <a:xfrm>
            <a:off x="1981074" y="3513154"/>
            <a:ext cx="83566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224" name="code_3"/>
          <p:cNvSpPr txBox="1"/>
          <p:nvPr/>
        </p:nvSpPr>
        <p:spPr>
          <a:xfrm>
            <a:off x="1981074" y="3819223"/>
            <a:ext cx="2498004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sum_even(xs):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x for x in xs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 </a:t>
            </a:r>
            <a:r>
              <a:t>if x % 2 == 0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)</a:t>
            </a:r>
          </a:p>
        </p:txBody>
      </p:sp>
      <p:sp>
        <p:nvSpPr>
          <p:cNvPr id="225" name="lbl_4"/>
          <p:cNvSpPr txBox="1"/>
          <p:nvPr/>
        </p:nvSpPr>
        <p:spPr>
          <a:xfrm>
            <a:off x="5296265" y="3513154"/>
            <a:ext cx="34798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226" name="code_4"/>
          <p:cNvSpPr txBox="1"/>
          <p:nvPr/>
        </p:nvSpPr>
        <p:spPr>
          <a:xfrm>
            <a:off x="5296265" y="3819223"/>
            <a:ext cx="2520978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sumEven = xs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.filter(x =&gt; x % 2 ===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 x) =&gt; s + x,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8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229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30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231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32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233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34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ВЫРАЖЕНИЯ ВМЕСТО ИНСТРУКЦИЙ</a:t>
            </a:r>
          </a:p>
        </p:txBody>
      </p:sp>
      <p:sp>
        <p:nvSpPr>
          <p:cNvPr id="235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вычислить сумму чётных чисел</a:t>
            </a:r>
          </a:p>
        </p:txBody>
      </p:sp>
      <p:sp>
        <p:nvSpPr>
          <p:cNvPr id="236" name="lbl_0"/>
          <p:cNvSpPr txBox="1"/>
          <p:nvPr/>
        </p:nvSpPr>
        <p:spPr>
          <a:xfrm>
            <a:off x="386751" y="1791579"/>
            <a:ext cx="71375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237" name="code_0"/>
          <p:cNvSpPr txBox="1"/>
          <p:nvPr/>
        </p:nvSpPr>
        <p:spPr>
          <a:xfrm>
            <a:off x="386759" y="2097651"/>
            <a:ext cx="3540758" cy="1335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sum_even xs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x -&gt; x </a:t>
            </a:r>
            <a:r>
              <a:rPr>
                <a:solidFill>
                  <a:srgbClr val="E06C75"/>
                </a:solidFill>
              </a:rPr>
              <a:t>mod</a:t>
            </a:r>
            <a:r>
              <a:t> 2 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 ) </a:t>
            </a:r>
            <a:r>
              <a:rPr>
                <a:solidFill>
                  <a:srgbClr val="E5C07B"/>
                </a:solidFill>
              </a:rPr>
              <a:t>0</a:t>
            </a:r>
          </a:p>
        </p:txBody>
      </p:sp>
      <p:sp>
        <p:nvSpPr>
          <p:cNvPr id="238" name="lbl_1"/>
          <p:cNvSpPr txBox="1"/>
          <p:nvPr/>
        </p:nvSpPr>
        <p:spPr>
          <a:xfrm>
            <a:off x="3710061" y="1774624"/>
            <a:ext cx="71374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239" name="code_1"/>
          <p:cNvSpPr txBox="1"/>
          <p:nvPr/>
        </p:nvSpPr>
        <p:spPr>
          <a:xfrm>
            <a:off x="3710058" y="2080690"/>
            <a:ext cx="2430387" cy="13358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sumEven(xs: List[Int])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.filter(_ % 2 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</a:t>
            </a:r>
          </a:p>
        </p:txBody>
      </p:sp>
      <p:sp>
        <p:nvSpPr>
          <p:cNvPr id="240" name="lbl_2"/>
          <p:cNvSpPr txBox="1"/>
          <p:nvPr/>
        </p:nvSpPr>
        <p:spPr>
          <a:xfrm>
            <a:off x="6260843" y="1774624"/>
            <a:ext cx="59182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241" name="code_2"/>
          <p:cNvSpPr txBox="1"/>
          <p:nvPr/>
        </p:nvSpPr>
        <p:spPr>
          <a:xfrm>
            <a:off x="6260841" y="2080690"/>
            <a:ext cx="2760606" cy="13656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sum_even(xs: &amp;[i32]) -&gt; i32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xs.iter()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.filter(|x| *x % 2 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242" name="lbl_3"/>
          <p:cNvSpPr txBox="1"/>
          <p:nvPr/>
        </p:nvSpPr>
        <p:spPr>
          <a:xfrm>
            <a:off x="1981074" y="3513154"/>
            <a:ext cx="83566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243" name="code_3"/>
          <p:cNvSpPr txBox="1"/>
          <p:nvPr/>
        </p:nvSpPr>
        <p:spPr>
          <a:xfrm>
            <a:off x="1981074" y="3819223"/>
            <a:ext cx="2498004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sum_even(xs):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x for x in xs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 </a:t>
            </a:r>
            <a:r>
              <a:t>if x % 2 == 0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)</a:t>
            </a:r>
          </a:p>
        </p:txBody>
      </p:sp>
      <p:sp>
        <p:nvSpPr>
          <p:cNvPr id="244" name="lbl_4"/>
          <p:cNvSpPr txBox="1"/>
          <p:nvPr/>
        </p:nvSpPr>
        <p:spPr>
          <a:xfrm>
            <a:off x="5296265" y="3513154"/>
            <a:ext cx="34798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245" name="code_4"/>
          <p:cNvSpPr txBox="1"/>
          <p:nvPr/>
        </p:nvSpPr>
        <p:spPr>
          <a:xfrm>
            <a:off x="5296265" y="3819223"/>
            <a:ext cx="2520978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sumEven = xs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.filter(x =&gt; x % 2 ===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 x) =&gt; s + x,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7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248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49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250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51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252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53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ВЫРАЖЕНИЯ ВМЕСТО ИНСТРУКЦИЙ</a:t>
            </a:r>
          </a:p>
        </p:txBody>
      </p:sp>
      <p:sp>
        <p:nvSpPr>
          <p:cNvPr id="254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вычислить сумму чётных чисел</a:t>
            </a:r>
          </a:p>
        </p:txBody>
      </p:sp>
      <p:sp>
        <p:nvSpPr>
          <p:cNvPr id="255" name="lbl_0"/>
          <p:cNvSpPr txBox="1"/>
          <p:nvPr/>
        </p:nvSpPr>
        <p:spPr>
          <a:xfrm>
            <a:off x="386751" y="1791579"/>
            <a:ext cx="71375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256" name="code_0"/>
          <p:cNvSpPr txBox="1"/>
          <p:nvPr/>
        </p:nvSpPr>
        <p:spPr>
          <a:xfrm>
            <a:off x="386759" y="2097651"/>
            <a:ext cx="3540758" cy="1335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sum_even xs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x -&gt; x </a:t>
            </a:r>
            <a:r>
              <a:rPr>
                <a:solidFill>
                  <a:srgbClr val="E06C75"/>
                </a:solidFill>
              </a:rPr>
              <a:t>mod</a:t>
            </a:r>
            <a:r>
              <a:t> 2 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 ) </a:t>
            </a:r>
            <a:r>
              <a:rPr>
                <a:solidFill>
                  <a:srgbClr val="E5C07B"/>
                </a:solidFill>
              </a:rPr>
              <a:t>0</a:t>
            </a:r>
          </a:p>
        </p:txBody>
      </p:sp>
      <p:sp>
        <p:nvSpPr>
          <p:cNvPr id="257" name="lbl_1"/>
          <p:cNvSpPr txBox="1"/>
          <p:nvPr/>
        </p:nvSpPr>
        <p:spPr>
          <a:xfrm>
            <a:off x="3710061" y="1774624"/>
            <a:ext cx="71374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258" name="code_1"/>
          <p:cNvSpPr txBox="1"/>
          <p:nvPr/>
        </p:nvSpPr>
        <p:spPr>
          <a:xfrm>
            <a:off x="3710058" y="2080690"/>
            <a:ext cx="2430387" cy="13358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sumEven(xs: </a:t>
            </a:r>
            <a:r>
              <a:rPr>
                <a:solidFill>
                  <a:srgbClr val="61AFEF"/>
                </a:solidFill>
              </a:rPr>
              <a:t>List</a:t>
            </a:r>
            <a:r>
              <a:rPr>
                <a:solidFill>
                  <a:srgbClr val="D0D0D0"/>
                </a:solidFill>
              </a:rPr>
              <a:t>[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(_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</a:p>
        </p:txBody>
      </p:sp>
      <p:sp>
        <p:nvSpPr>
          <p:cNvPr id="259" name="lbl_2"/>
          <p:cNvSpPr txBox="1"/>
          <p:nvPr/>
        </p:nvSpPr>
        <p:spPr>
          <a:xfrm>
            <a:off x="6260843" y="1774624"/>
            <a:ext cx="59182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260" name="code_2"/>
          <p:cNvSpPr txBox="1"/>
          <p:nvPr/>
        </p:nvSpPr>
        <p:spPr>
          <a:xfrm>
            <a:off x="6260841" y="2080690"/>
            <a:ext cx="2760606" cy="13656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sum_even(xs: &amp;[i32]) -&gt; i32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xs.iter()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.filter(|x| *x % 2 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261" name="lbl_3"/>
          <p:cNvSpPr txBox="1"/>
          <p:nvPr/>
        </p:nvSpPr>
        <p:spPr>
          <a:xfrm>
            <a:off x="1981074" y="3513154"/>
            <a:ext cx="83566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262" name="code_3"/>
          <p:cNvSpPr txBox="1"/>
          <p:nvPr/>
        </p:nvSpPr>
        <p:spPr>
          <a:xfrm>
            <a:off x="1981074" y="3819223"/>
            <a:ext cx="2498004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sum_even(xs):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x for x in xs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 </a:t>
            </a:r>
            <a:r>
              <a:t>if x % 2 == 0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)</a:t>
            </a:r>
          </a:p>
        </p:txBody>
      </p:sp>
      <p:sp>
        <p:nvSpPr>
          <p:cNvPr id="263" name="lbl_4"/>
          <p:cNvSpPr txBox="1"/>
          <p:nvPr/>
        </p:nvSpPr>
        <p:spPr>
          <a:xfrm>
            <a:off x="5296265" y="3513154"/>
            <a:ext cx="34798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264" name="code_4"/>
          <p:cNvSpPr txBox="1"/>
          <p:nvPr/>
        </p:nvSpPr>
        <p:spPr>
          <a:xfrm>
            <a:off x="5296265" y="3819223"/>
            <a:ext cx="2520978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sumEven = xs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.filter(x =&gt; x % 2 ===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 x) =&gt; s + x,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6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267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68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269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70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271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72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ВЫРАЖЕНИЯ ВМЕСТО ИНСТРУКЦИЙ</a:t>
            </a:r>
          </a:p>
        </p:txBody>
      </p:sp>
      <p:sp>
        <p:nvSpPr>
          <p:cNvPr id="273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вычислить сумму чётных чисел</a:t>
            </a:r>
          </a:p>
        </p:txBody>
      </p:sp>
      <p:sp>
        <p:nvSpPr>
          <p:cNvPr id="274" name="lbl_0"/>
          <p:cNvSpPr txBox="1"/>
          <p:nvPr/>
        </p:nvSpPr>
        <p:spPr>
          <a:xfrm>
            <a:off x="386751" y="1791579"/>
            <a:ext cx="71375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275" name="code_0"/>
          <p:cNvSpPr txBox="1"/>
          <p:nvPr/>
        </p:nvSpPr>
        <p:spPr>
          <a:xfrm>
            <a:off x="386759" y="2097651"/>
            <a:ext cx="3540758" cy="1335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sum_even xs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x -&gt; x </a:t>
            </a:r>
            <a:r>
              <a:rPr>
                <a:solidFill>
                  <a:srgbClr val="E06C75"/>
                </a:solidFill>
              </a:rPr>
              <a:t>mod</a:t>
            </a:r>
            <a:r>
              <a:t> 2 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 ) </a:t>
            </a:r>
            <a:r>
              <a:rPr>
                <a:solidFill>
                  <a:srgbClr val="E5C07B"/>
                </a:solidFill>
              </a:rPr>
              <a:t>0</a:t>
            </a:r>
          </a:p>
        </p:txBody>
      </p:sp>
      <p:sp>
        <p:nvSpPr>
          <p:cNvPr id="276" name="lbl_1"/>
          <p:cNvSpPr txBox="1"/>
          <p:nvPr/>
        </p:nvSpPr>
        <p:spPr>
          <a:xfrm>
            <a:off x="3710061" y="1774624"/>
            <a:ext cx="71374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277" name="code_1"/>
          <p:cNvSpPr txBox="1"/>
          <p:nvPr/>
        </p:nvSpPr>
        <p:spPr>
          <a:xfrm>
            <a:off x="3710058" y="2080690"/>
            <a:ext cx="2430387" cy="13358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sumEven(xs: </a:t>
            </a:r>
            <a:r>
              <a:rPr>
                <a:solidFill>
                  <a:srgbClr val="61AFEF"/>
                </a:solidFill>
              </a:rPr>
              <a:t>List</a:t>
            </a:r>
            <a:r>
              <a:rPr>
                <a:solidFill>
                  <a:srgbClr val="D0D0D0"/>
                </a:solidFill>
              </a:rPr>
              <a:t>[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(_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</a:p>
        </p:txBody>
      </p:sp>
      <p:sp>
        <p:nvSpPr>
          <p:cNvPr id="278" name="lbl_2"/>
          <p:cNvSpPr txBox="1"/>
          <p:nvPr/>
        </p:nvSpPr>
        <p:spPr>
          <a:xfrm>
            <a:off x="6260843" y="1774624"/>
            <a:ext cx="59182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279" name="code_2"/>
          <p:cNvSpPr txBox="1"/>
          <p:nvPr/>
        </p:nvSpPr>
        <p:spPr>
          <a:xfrm>
            <a:off x="6260841" y="2080690"/>
            <a:ext cx="2760606" cy="13656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sum_even(xs: &amp;[</a:t>
            </a:r>
            <a:r>
              <a:rPr>
                <a:solidFill>
                  <a:srgbClr val="61AFEF"/>
                </a:solidFill>
              </a:rPr>
              <a:t>i32</a:t>
            </a:r>
            <a:r>
              <a:rPr>
                <a:solidFill>
                  <a:srgbClr val="D0D0D0"/>
                </a:solidFill>
              </a:rPr>
              <a:t>]) -&gt; </a:t>
            </a:r>
            <a:r>
              <a:rPr>
                <a:solidFill>
                  <a:srgbClr val="61AFEF"/>
                </a:solidFill>
              </a:rPr>
              <a:t>i32</a:t>
            </a:r>
            <a:r>
              <a:rPr>
                <a:solidFill>
                  <a:srgbClr val="D0D0D0"/>
                </a:solidFill>
              </a:rP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</a:t>
            </a:r>
            <a:r>
              <a:rPr>
                <a:solidFill>
                  <a:srgbClr val="61AFEF"/>
                </a:solidFill>
              </a:rPr>
              <a:t>iter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(|x| *x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280" name="lbl_3"/>
          <p:cNvSpPr txBox="1"/>
          <p:nvPr/>
        </p:nvSpPr>
        <p:spPr>
          <a:xfrm>
            <a:off x="1981074" y="3513154"/>
            <a:ext cx="83566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281" name="code_3"/>
          <p:cNvSpPr txBox="1"/>
          <p:nvPr/>
        </p:nvSpPr>
        <p:spPr>
          <a:xfrm>
            <a:off x="1981074" y="3819223"/>
            <a:ext cx="2498004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sum_even(xs):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x for x in xs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 </a:t>
            </a:r>
            <a:r>
              <a:t>if x % 2 == 0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)</a:t>
            </a:r>
          </a:p>
        </p:txBody>
      </p:sp>
      <p:sp>
        <p:nvSpPr>
          <p:cNvPr id="282" name="lbl_4"/>
          <p:cNvSpPr txBox="1"/>
          <p:nvPr/>
        </p:nvSpPr>
        <p:spPr>
          <a:xfrm>
            <a:off x="5296265" y="3513154"/>
            <a:ext cx="34798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283" name="code_4"/>
          <p:cNvSpPr txBox="1"/>
          <p:nvPr/>
        </p:nvSpPr>
        <p:spPr>
          <a:xfrm>
            <a:off x="5296265" y="3819223"/>
            <a:ext cx="2520978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sumEven = xs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.filter(x =&gt; x % 2 ===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 x) =&gt; s + x,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5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286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87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288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89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290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91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ВЫРАЖЕНИЯ ВМЕСТО ИНСТРУКЦИЙ</a:t>
            </a:r>
          </a:p>
        </p:txBody>
      </p:sp>
      <p:sp>
        <p:nvSpPr>
          <p:cNvPr id="292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вычислить сумму чётных чисел</a:t>
            </a:r>
          </a:p>
        </p:txBody>
      </p:sp>
      <p:sp>
        <p:nvSpPr>
          <p:cNvPr id="293" name="lbl_0"/>
          <p:cNvSpPr txBox="1"/>
          <p:nvPr/>
        </p:nvSpPr>
        <p:spPr>
          <a:xfrm>
            <a:off x="386751" y="1791579"/>
            <a:ext cx="71375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294" name="code_0"/>
          <p:cNvSpPr txBox="1"/>
          <p:nvPr/>
        </p:nvSpPr>
        <p:spPr>
          <a:xfrm>
            <a:off x="386759" y="2097651"/>
            <a:ext cx="3540758" cy="1335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sum_even xs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x -&gt; x </a:t>
            </a:r>
            <a:r>
              <a:rPr>
                <a:solidFill>
                  <a:srgbClr val="E06C75"/>
                </a:solidFill>
              </a:rPr>
              <a:t>mod</a:t>
            </a:r>
            <a:r>
              <a:t> 2 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 ) </a:t>
            </a:r>
            <a:r>
              <a:rPr>
                <a:solidFill>
                  <a:srgbClr val="E5C07B"/>
                </a:solidFill>
              </a:rPr>
              <a:t>0</a:t>
            </a:r>
          </a:p>
        </p:txBody>
      </p:sp>
      <p:sp>
        <p:nvSpPr>
          <p:cNvPr id="295" name="lbl_1"/>
          <p:cNvSpPr txBox="1"/>
          <p:nvPr/>
        </p:nvSpPr>
        <p:spPr>
          <a:xfrm>
            <a:off x="3710061" y="1774624"/>
            <a:ext cx="71374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296" name="code_1"/>
          <p:cNvSpPr txBox="1"/>
          <p:nvPr/>
        </p:nvSpPr>
        <p:spPr>
          <a:xfrm>
            <a:off x="3710058" y="2080690"/>
            <a:ext cx="2430387" cy="13358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sumEven(xs: </a:t>
            </a:r>
            <a:r>
              <a:rPr>
                <a:solidFill>
                  <a:srgbClr val="61AFEF"/>
                </a:solidFill>
              </a:rPr>
              <a:t>List</a:t>
            </a:r>
            <a:r>
              <a:rPr>
                <a:solidFill>
                  <a:srgbClr val="D0D0D0"/>
                </a:solidFill>
              </a:rPr>
              <a:t>[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(_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</a:p>
        </p:txBody>
      </p:sp>
      <p:sp>
        <p:nvSpPr>
          <p:cNvPr id="297" name="lbl_2"/>
          <p:cNvSpPr txBox="1"/>
          <p:nvPr/>
        </p:nvSpPr>
        <p:spPr>
          <a:xfrm>
            <a:off x="6260843" y="1774624"/>
            <a:ext cx="59182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298" name="code_2"/>
          <p:cNvSpPr txBox="1"/>
          <p:nvPr/>
        </p:nvSpPr>
        <p:spPr>
          <a:xfrm>
            <a:off x="6260841" y="2080690"/>
            <a:ext cx="2760606" cy="13656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sum_even(xs: &amp;[</a:t>
            </a:r>
            <a:r>
              <a:rPr>
                <a:solidFill>
                  <a:srgbClr val="61AFEF"/>
                </a:solidFill>
              </a:rPr>
              <a:t>i32</a:t>
            </a:r>
            <a:r>
              <a:rPr>
                <a:solidFill>
                  <a:srgbClr val="D0D0D0"/>
                </a:solidFill>
              </a:rPr>
              <a:t>]) -&gt; </a:t>
            </a:r>
            <a:r>
              <a:rPr>
                <a:solidFill>
                  <a:srgbClr val="61AFEF"/>
                </a:solidFill>
              </a:rPr>
              <a:t>i32</a:t>
            </a:r>
            <a:r>
              <a:rPr>
                <a:solidFill>
                  <a:srgbClr val="D0D0D0"/>
                </a:solidFill>
              </a:rP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</a:t>
            </a:r>
            <a:r>
              <a:rPr>
                <a:solidFill>
                  <a:srgbClr val="61AFEF"/>
                </a:solidFill>
              </a:rPr>
              <a:t>iter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(|x| *x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299" name="lbl_3"/>
          <p:cNvSpPr txBox="1"/>
          <p:nvPr/>
        </p:nvSpPr>
        <p:spPr>
          <a:xfrm>
            <a:off x="1981074" y="3513154"/>
            <a:ext cx="83566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300" name="code_3"/>
          <p:cNvSpPr txBox="1"/>
          <p:nvPr/>
        </p:nvSpPr>
        <p:spPr>
          <a:xfrm>
            <a:off x="1981074" y="3819223"/>
            <a:ext cx="2498004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sum_even(xs):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</a:t>
            </a:r>
            <a:r>
              <a:rPr>
                <a:solidFill>
                  <a:srgbClr val="D0D0D0"/>
                </a:solidFill>
              </a:rPr>
              <a:t>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x </a:t>
            </a:r>
            <a:r>
              <a:rPr>
                <a:solidFill>
                  <a:srgbClr val="E06C75"/>
                </a:solidFill>
              </a:rPr>
              <a:t>for</a:t>
            </a:r>
            <a:r>
              <a:t> x </a:t>
            </a:r>
            <a:r>
              <a:rPr>
                <a:solidFill>
                  <a:srgbClr val="E06C75"/>
                </a:solidFill>
              </a:rPr>
              <a:t>in</a:t>
            </a:r>
            <a:r>
              <a:t> xs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 </a:t>
            </a:r>
            <a:r>
              <a:rPr>
                <a:solidFill>
                  <a:srgbClr val="E06C75"/>
                </a:solidFill>
              </a:rPr>
              <a:t>if</a:t>
            </a:r>
            <a:r>
              <a:t> x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endParaRPr>
              <a:solidFill>
                <a:srgbClr val="E5C07B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E5C07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D0D0D0"/>
                </a:solidFill>
              </a:rPr>
              <a:t>)</a:t>
            </a:r>
          </a:p>
        </p:txBody>
      </p:sp>
      <p:sp>
        <p:nvSpPr>
          <p:cNvPr id="301" name="lbl_4"/>
          <p:cNvSpPr txBox="1"/>
          <p:nvPr/>
        </p:nvSpPr>
        <p:spPr>
          <a:xfrm>
            <a:off x="5296265" y="3513154"/>
            <a:ext cx="34798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302" name="code_4"/>
          <p:cNvSpPr txBox="1"/>
          <p:nvPr/>
        </p:nvSpPr>
        <p:spPr>
          <a:xfrm>
            <a:off x="5296265" y="3819223"/>
            <a:ext cx="2520978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sumEven = xs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.filter(x =&gt; x % 2 ===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 x) =&gt; s + x,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4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305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06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307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08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309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310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ВЫРАЖЕНИЯ ВМЕСТО ИНСТРУКЦИЙ</a:t>
            </a:r>
          </a:p>
        </p:txBody>
      </p:sp>
      <p:sp>
        <p:nvSpPr>
          <p:cNvPr id="311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вычислить сумму чётных чисел</a:t>
            </a:r>
          </a:p>
        </p:txBody>
      </p:sp>
      <p:sp>
        <p:nvSpPr>
          <p:cNvPr id="312" name="lbl_0"/>
          <p:cNvSpPr txBox="1"/>
          <p:nvPr/>
        </p:nvSpPr>
        <p:spPr>
          <a:xfrm>
            <a:off x="386751" y="1791579"/>
            <a:ext cx="71375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313" name="code_0"/>
          <p:cNvSpPr txBox="1"/>
          <p:nvPr/>
        </p:nvSpPr>
        <p:spPr>
          <a:xfrm>
            <a:off x="386759" y="2097651"/>
            <a:ext cx="3540758" cy="1335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sum_even xs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x -&gt; x </a:t>
            </a:r>
            <a:r>
              <a:rPr>
                <a:solidFill>
                  <a:srgbClr val="E06C75"/>
                </a:solidFill>
              </a:rPr>
              <a:t>mod</a:t>
            </a:r>
            <a:r>
              <a:t> 2 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 ) </a:t>
            </a:r>
            <a:r>
              <a:rPr>
                <a:solidFill>
                  <a:srgbClr val="E5C07B"/>
                </a:solidFill>
              </a:rPr>
              <a:t>0</a:t>
            </a:r>
          </a:p>
        </p:txBody>
      </p:sp>
      <p:sp>
        <p:nvSpPr>
          <p:cNvPr id="314" name="lbl_1"/>
          <p:cNvSpPr txBox="1"/>
          <p:nvPr/>
        </p:nvSpPr>
        <p:spPr>
          <a:xfrm>
            <a:off x="3710061" y="1774624"/>
            <a:ext cx="71374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315" name="code_1"/>
          <p:cNvSpPr txBox="1"/>
          <p:nvPr/>
        </p:nvSpPr>
        <p:spPr>
          <a:xfrm>
            <a:off x="3710058" y="2080690"/>
            <a:ext cx="2430387" cy="13358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sumEven(xs: </a:t>
            </a:r>
            <a:r>
              <a:rPr>
                <a:solidFill>
                  <a:srgbClr val="61AFEF"/>
                </a:solidFill>
              </a:rPr>
              <a:t>List</a:t>
            </a:r>
            <a:r>
              <a:rPr>
                <a:solidFill>
                  <a:srgbClr val="D0D0D0"/>
                </a:solidFill>
              </a:rPr>
              <a:t>[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(_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</a:p>
        </p:txBody>
      </p:sp>
      <p:sp>
        <p:nvSpPr>
          <p:cNvPr id="316" name="lbl_2"/>
          <p:cNvSpPr txBox="1"/>
          <p:nvPr/>
        </p:nvSpPr>
        <p:spPr>
          <a:xfrm>
            <a:off x="6260843" y="1774624"/>
            <a:ext cx="59182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317" name="code_2"/>
          <p:cNvSpPr txBox="1"/>
          <p:nvPr/>
        </p:nvSpPr>
        <p:spPr>
          <a:xfrm>
            <a:off x="6260841" y="2080690"/>
            <a:ext cx="2760606" cy="13656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sum_even(xs: &amp;[</a:t>
            </a:r>
            <a:r>
              <a:rPr>
                <a:solidFill>
                  <a:srgbClr val="61AFEF"/>
                </a:solidFill>
              </a:rPr>
              <a:t>i32</a:t>
            </a:r>
            <a:r>
              <a:rPr>
                <a:solidFill>
                  <a:srgbClr val="D0D0D0"/>
                </a:solidFill>
              </a:rPr>
              <a:t>]) -&gt; </a:t>
            </a:r>
            <a:r>
              <a:rPr>
                <a:solidFill>
                  <a:srgbClr val="61AFEF"/>
                </a:solidFill>
              </a:rPr>
              <a:t>i32</a:t>
            </a:r>
            <a:r>
              <a:rPr>
                <a:solidFill>
                  <a:srgbClr val="D0D0D0"/>
                </a:solidFill>
              </a:rP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</a:t>
            </a:r>
            <a:r>
              <a:rPr>
                <a:solidFill>
                  <a:srgbClr val="61AFEF"/>
                </a:solidFill>
              </a:rPr>
              <a:t>iter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(|x| *x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318" name="lbl_3"/>
          <p:cNvSpPr txBox="1"/>
          <p:nvPr/>
        </p:nvSpPr>
        <p:spPr>
          <a:xfrm>
            <a:off x="1981074" y="3513154"/>
            <a:ext cx="83566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319" name="code_3"/>
          <p:cNvSpPr txBox="1"/>
          <p:nvPr/>
        </p:nvSpPr>
        <p:spPr>
          <a:xfrm>
            <a:off x="1981074" y="3819223"/>
            <a:ext cx="2498004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sum_even(xs):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</a:t>
            </a:r>
            <a:r>
              <a:rPr>
                <a:solidFill>
                  <a:srgbClr val="D0D0D0"/>
                </a:solidFill>
              </a:rPr>
              <a:t>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x </a:t>
            </a:r>
            <a:r>
              <a:rPr>
                <a:solidFill>
                  <a:srgbClr val="E06C75"/>
                </a:solidFill>
              </a:rPr>
              <a:t>for</a:t>
            </a:r>
            <a:r>
              <a:t> x </a:t>
            </a:r>
            <a:r>
              <a:rPr>
                <a:solidFill>
                  <a:srgbClr val="E06C75"/>
                </a:solidFill>
              </a:rPr>
              <a:t>in</a:t>
            </a:r>
            <a:r>
              <a:t> xs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 </a:t>
            </a:r>
            <a:r>
              <a:rPr>
                <a:solidFill>
                  <a:srgbClr val="E06C75"/>
                </a:solidFill>
              </a:rPr>
              <a:t>if</a:t>
            </a:r>
            <a:r>
              <a:t> x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endParaRPr>
              <a:solidFill>
                <a:srgbClr val="E5C07B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E5C07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D0D0D0"/>
                </a:solidFill>
              </a:rPr>
              <a:t>)</a:t>
            </a:r>
          </a:p>
        </p:txBody>
      </p:sp>
      <p:sp>
        <p:nvSpPr>
          <p:cNvPr id="320" name="lbl_4"/>
          <p:cNvSpPr txBox="1"/>
          <p:nvPr/>
        </p:nvSpPr>
        <p:spPr>
          <a:xfrm>
            <a:off x="5296265" y="3513154"/>
            <a:ext cx="34798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321" name="code_4"/>
          <p:cNvSpPr txBox="1"/>
          <p:nvPr/>
        </p:nvSpPr>
        <p:spPr>
          <a:xfrm>
            <a:off x="5296265" y="3819223"/>
            <a:ext cx="2520978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rPr>
                <a:solidFill>
                  <a:srgbClr val="D0D0D0"/>
                </a:solidFill>
              </a:rPr>
              <a:t> sumEven = xs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(x =&gt; x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reduce</a:t>
            </a:r>
            <a:r>
              <a:t>((s, x) =&gt; s + x,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3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324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25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326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27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328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329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ФУНКЦИИ КАК ЗНАЧЕНИЯ</a:t>
            </a:r>
          </a:p>
        </p:txBody>
      </p:sp>
      <p:sp>
        <p:nvSpPr>
          <p:cNvPr id="330" name="bullets"/>
          <p:cNvSpPr txBox="1"/>
          <p:nvPr/>
        </p:nvSpPr>
        <p:spPr>
          <a:xfrm>
            <a:off x="381660" y="1503773"/>
            <a:ext cx="7165165" cy="15279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Функция —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first-class value</a:t>
            </a:r>
            <a:r>
              <a:t>: передаётся аргументом, связывается с переменной, возвращается из функции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HOF — принимает или возвращает функцию: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map, filter, fold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Замыкание — захват лексического окружения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Каррирование —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f(a, b) → f(a)(b)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333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34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335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36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337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338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ФУНКЦИИ КАК ЗНАЧЕНИЯ</a:t>
            </a:r>
          </a:p>
        </p:txBody>
      </p:sp>
      <p:sp>
        <p:nvSpPr>
          <p:cNvPr id="339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создать умножитель с коэффициентом и применить к списку</a:t>
            </a:r>
          </a:p>
        </p:txBody>
      </p:sp>
      <p:sp>
        <p:nvSpPr>
          <p:cNvPr id="340" name="lbl_0"/>
          <p:cNvSpPr txBox="1"/>
          <p:nvPr/>
        </p:nvSpPr>
        <p:spPr>
          <a:xfrm>
            <a:off x="386749" y="1791579"/>
            <a:ext cx="80001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341" name="code_0"/>
          <p:cNvSpPr txBox="1"/>
          <p:nvPr/>
        </p:nvSpPr>
        <p:spPr>
          <a:xfrm>
            <a:off x="386752" y="2097651"/>
            <a:ext cx="2700005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multiply a b = a * b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triple = multiply 3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result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List.map triple [1; 2; 3; 4; 5]</a:t>
            </a:r>
          </a:p>
        </p:txBody>
      </p:sp>
      <p:sp>
        <p:nvSpPr>
          <p:cNvPr id="342" name="lbl_1"/>
          <p:cNvSpPr txBox="1"/>
          <p:nvPr/>
        </p:nvSpPr>
        <p:spPr>
          <a:xfrm>
            <a:off x="3018082" y="1791579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343" name="code_1"/>
          <p:cNvSpPr txBox="1"/>
          <p:nvPr/>
        </p:nvSpPr>
        <p:spPr>
          <a:xfrm>
            <a:off x="3018081" y="2097651"/>
            <a:ext cx="2700010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multiply: (Int, Int) =&gt; Int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(factor, x) =&gt; x * factor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triple: Int =&gt; Int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multiply.curried(3)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result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List(1, 2, 3, 4, 5).map(triple)</a:t>
            </a:r>
          </a:p>
        </p:txBody>
      </p:sp>
      <p:sp>
        <p:nvSpPr>
          <p:cNvPr id="344" name="lbl_2"/>
          <p:cNvSpPr txBox="1"/>
          <p:nvPr/>
        </p:nvSpPr>
        <p:spPr>
          <a:xfrm>
            <a:off x="5667540" y="1791579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345" name="code_2"/>
          <p:cNvSpPr txBox="1"/>
          <p:nvPr/>
        </p:nvSpPr>
        <p:spPr>
          <a:xfrm>
            <a:off x="5649407" y="2097644"/>
            <a:ext cx="3249571" cy="15195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 auto_curry::curry;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#[curry]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multiply(factor: i32, x: i32) -&gt; i32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factor * x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triple: impl Fn(i32) -&gt; i32 = multiply(3);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result: Vec&lt;i32&gt; = vec![1, 2, 3, 4, 5]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.into_iter().map(triple).collect();</a:t>
            </a:r>
          </a:p>
        </p:txBody>
      </p:sp>
      <p:sp>
        <p:nvSpPr>
          <p:cNvPr id="346" name="lbl_3"/>
          <p:cNvSpPr txBox="1"/>
          <p:nvPr/>
        </p:nvSpPr>
        <p:spPr>
          <a:xfrm>
            <a:off x="1131565" y="3681936"/>
            <a:ext cx="80000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347" name="code_3"/>
          <p:cNvSpPr txBox="1"/>
          <p:nvPr/>
        </p:nvSpPr>
        <p:spPr>
          <a:xfrm>
            <a:off x="1106723" y="3988003"/>
            <a:ext cx="3562558" cy="11000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 functools import partial</a:t>
            </a:r>
            <a:endParaRPr>
              <a:solidFill>
                <a:srgbClr val="61AFEF"/>
              </a:solidFill>
            </a:endParaRPr>
          </a:p>
          <a:p>
            <a:pPr>
              <a:lnSpc>
                <a:spcPct val="60000"/>
              </a:lnSpc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multiply(factor, x): return factor * x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triple = partial(multiply, 3)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result = list(map(triple, [1, 2, 3, 4, 5]))</a:t>
            </a:r>
          </a:p>
        </p:txBody>
      </p:sp>
      <p:sp>
        <p:nvSpPr>
          <p:cNvPr id="348" name="lbl_4"/>
          <p:cNvSpPr txBox="1"/>
          <p:nvPr/>
        </p:nvSpPr>
        <p:spPr>
          <a:xfrm>
            <a:off x="4869274" y="3681936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349" name="code_4"/>
          <p:cNvSpPr txBox="1"/>
          <p:nvPr/>
        </p:nvSpPr>
        <p:spPr>
          <a:xfrm>
            <a:off x="4869274" y="3988003"/>
            <a:ext cx="3835735" cy="11000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import * as R from "ramda";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multiply = R.curry((factor, x) =&gt; factor * x);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triple = multiply(3);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result = [1, 2, 3, 4, 5].map(triple);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1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352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53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354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55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356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357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ФУНКЦИИ КАК ЗНАЧЕНИЯ</a:t>
            </a:r>
          </a:p>
        </p:txBody>
      </p:sp>
      <p:sp>
        <p:nvSpPr>
          <p:cNvPr id="358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создать умножитель с коэффициентом и применить к списку</a:t>
            </a:r>
          </a:p>
        </p:txBody>
      </p:sp>
      <p:sp>
        <p:nvSpPr>
          <p:cNvPr id="359" name="lbl_0"/>
          <p:cNvSpPr txBox="1"/>
          <p:nvPr/>
        </p:nvSpPr>
        <p:spPr>
          <a:xfrm>
            <a:off x="386749" y="1791579"/>
            <a:ext cx="80001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360" name="code_0"/>
          <p:cNvSpPr txBox="1"/>
          <p:nvPr/>
        </p:nvSpPr>
        <p:spPr>
          <a:xfrm>
            <a:off x="386752" y="2097651"/>
            <a:ext cx="2700005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multiply a b = a * b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triple = multiply </a:t>
            </a:r>
            <a:r>
              <a:rPr>
                <a:solidFill>
                  <a:srgbClr val="E5C07B"/>
                </a:solidFill>
              </a:rPr>
              <a:t>3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61AFEF"/>
                </a:solidFill>
              </a:rPr>
              <a:t>List.map</a:t>
            </a:r>
            <a:r>
              <a:t> triple [</a:t>
            </a:r>
            <a:r>
              <a:rPr>
                <a:solidFill>
                  <a:srgbClr val="E5C07B"/>
                </a:solidFill>
              </a:rPr>
              <a:t>1; 2; 3; 4; 5</a:t>
            </a:r>
            <a:r>
              <a:t>]</a:t>
            </a:r>
          </a:p>
        </p:txBody>
      </p:sp>
      <p:sp>
        <p:nvSpPr>
          <p:cNvPr id="361" name="lbl_1"/>
          <p:cNvSpPr txBox="1"/>
          <p:nvPr/>
        </p:nvSpPr>
        <p:spPr>
          <a:xfrm>
            <a:off x="3018082" y="1791579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362" name="code_1"/>
          <p:cNvSpPr txBox="1"/>
          <p:nvPr/>
        </p:nvSpPr>
        <p:spPr>
          <a:xfrm>
            <a:off x="3018081" y="2097651"/>
            <a:ext cx="2700010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multiply: (Int, Int) =&gt; Int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(factor, x) =&gt; x * factor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triple: Int =&gt; Int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multiply.curried(3)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result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List(1, 2, 3, 4, 5).map(triple)</a:t>
            </a:r>
          </a:p>
        </p:txBody>
      </p:sp>
      <p:sp>
        <p:nvSpPr>
          <p:cNvPr id="363" name="lbl_2"/>
          <p:cNvSpPr txBox="1"/>
          <p:nvPr/>
        </p:nvSpPr>
        <p:spPr>
          <a:xfrm>
            <a:off x="5667540" y="1791579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364" name="code_2"/>
          <p:cNvSpPr txBox="1"/>
          <p:nvPr/>
        </p:nvSpPr>
        <p:spPr>
          <a:xfrm>
            <a:off x="5649407" y="2097644"/>
            <a:ext cx="3249571" cy="15195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 auto_curry::curry;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#[curry]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multiply(factor: i32, x: i32) -&gt; i32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factor * x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triple: impl Fn(i32) -&gt; i32 = multiply(3);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result: Vec&lt;i32&gt; = vec![1, 2, 3, 4, 5]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.into_iter().map(triple).collect();</a:t>
            </a:r>
          </a:p>
        </p:txBody>
      </p:sp>
      <p:sp>
        <p:nvSpPr>
          <p:cNvPr id="365" name="lbl_3"/>
          <p:cNvSpPr txBox="1"/>
          <p:nvPr/>
        </p:nvSpPr>
        <p:spPr>
          <a:xfrm>
            <a:off x="1131565" y="3681936"/>
            <a:ext cx="80000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366" name="code_3"/>
          <p:cNvSpPr txBox="1"/>
          <p:nvPr/>
        </p:nvSpPr>
        <p:spPr>
          <a:xfrm>
            <a:off x="1106723" y="3988003"/>
            <a:ext cx="3562558" cy="11000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 functools import partial</a:t>
            </a:r>
            <a:endParaRPr>
              <a:solidFill>
                <a:srgbClr val="61AFEF"/>
              </a:solidFill>
            </a:endParaRPr>
          </a:p>
          <a:p>
            <a:pPr>
              <a:lnSpc>
                <a:spcPct val="60000"/>
              </a:lnSpc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multiply(factor, x): return factor * x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triple = partial(multiply, 3)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result = list(map(triple, [1, 2, 3, 4, 5]))</a:t>
            </a:r>
          </a:p>
        </p:txBody>
      </p:sp>
      <p:sp>
        <p:nvSpPr>
          <p:cNvPr id="367" name="lbl_4"/>
          <p:cNvSpPr txBox="1"/>
          <p:nvPr/>
        </p:nvSpPr>
        <p:spPr>
          <a:xfrm>
            <a:off x="4869274" y="3681936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368" name="code_4"/>
          <p:cNvSpPr txBox="1"/>
          <p:nvPr/>
        </p:nvSpPr>
        <p:spPr>
          <a:xfrm>
            <a:off x="4869274" y="3988003"/>
            <a:ext cx="3835735" cy="11000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import * as R from "ramda";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multiply = R.curry((factor, x) =&gt; factor * x);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triple = multiply(3);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result = [1, 2, 3, 4, 5].map(triple);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0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371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72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373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74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375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376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ФУНКЦИИ КАК ЗНАЧЕНИЯ</a:t>
            </a:r>
          </a:p>
        </p:txBody>
      </p:sp>
      <p:sp>
        <p:nvSpPr>
          <p:cNvPr id="377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создать умножитель с коэффициентом и применить к списку</a:t>
            </a:r>
          </a:p>
        </p:txBody>
      </p:sp>
      <p:sp>
        <p:nvSpPr>
          <p:cNvPr id="378" name="lbl_0"/>
          <p:cNvSpPr txBox="1"/>
          <p:nvPr/>
        </p:nvSpPr>
        <p:spPr>
          <a:xfrm>
            <a:off x="386749" y="1791579"/>
            <a:ext cx="80001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379" name="code_0"/>
          <p:cNvSpPr txBox="1"/>
          <p:nvPr/>
        </p:nvSpPr>
        <p:spPr>
          <a:xfrm>
            <a:off x="386752" y="2097651"/>
            <a:ext cx="2700005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multiply a b = a * b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triple = multiply </a:t>
            </a:r>
            <a:r>
              <a:rPr>
                <a:solidFill>
                  <a:srgbClr val="E5C07B"/>
                </a:solidFill>
              </a:rPr>
              <a:t>3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61AFEF"/>
                </a:solidFill>
              </a:rPr>
              <a:t>List.map</a:t>
            </a:r>
            <a:r>
              <a:t> triple [</a:t>
            </a:r>
            <a:r>
              <a:rPr>
                <a:solidFill>
                  <a:srgbClr val="E5C07B"/>
                </a:solidFill>
              </a:rPr>
              <a:t>1; 2; 3; 4; 5</a:t>
            </a:r>
            <a:r>
              <a:t>]</a:t>
            </a:r>
          </a:p>
        </p:txBody>
      </p:sp>
      <p:sp>
        <p:nvSpPr>
          <p:cNvPr id="380" name="lbl_1"/>
          <p:cNvSpPr txBox="1"/>
          <p:nvPr/>
        </p:nvSpPr>
        <p:spPr>
          <a:xfrm>
            <a:off x="3018082" y="1791579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381" name="code_1"/>
          <p:cNvSpPr txBox="1"/>
          <p:nvPr/>
        </p:nvSpPr>
        <p:spPr>
          <a:xfrm>
            <a:off x="3018081" y="2097651"/>
            <a:ext cx="2700010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multiply: (Int, Int) =&gt; Int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(factor, x) =&gt; x * factor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triple: Int =&gt; Int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multiply.curried(</a:t>
            </a:r>
            <a:r>
              <a:rPr>
                <a:solidFill>
                  <a:srgbClr val="E5C07B"/>
                </a:solidFill>
              </a:rPr>
              <a:t>3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List(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t>).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(triple)</a:t>
            </a:r>
          </a:p>
        </p:txBody>
      </p:sp>
      <p:sp>
        <p:nvSpPr>
          <p:cNvPr id="382" name="lbl_2"/>
          <p:cNvSpPr txBox="1"/>
          <p:nvPr/>
        </p:nvSpPr>
        <p:spPr>
          <a:xfrm>
            <a:off x="5667540" y="1791579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383" name="code_2"/>
          <p:cNvSpPr txBox="1"/>
          <p:nvPr/>
        </p:nvSpPr>
        <p:spPr>
          <a:xfrm>
            <a:off x="5649407" y="2097644"/>
            <a:ext cx="3249571" cy="15195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 auto_curry::curry;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#[curry]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multiply(factor: i32, x: i32) -&gt; i32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factor * x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triple: impl Fn(i32) -&gt; i32 = multiply(3);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result: Vec&lt;i32&gt; = vec![1, 2, 3, 4, 5]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.into_iter().map(triple).collect();</a:t>
            </a:r>
          </a:p>
        </p:txBody>
      </p:sp>
      <p:sp>
        <p:nvSpPr>
          <p:cNvPr id="384" name="lbl_3"/>
          <p:cNvSpPr txBox="1"/>
          <p:nvPr/>
        </p:nvSpPr>
        <p:spPr>
          <a:xfrm>
            <a:off x="1131565" y="3681936"/>
            <a:ext cx="80000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385" name="code_3"/>
          <p:cNvSpPr txBox="1"/>
          <p:nvPr/>
        </p:nvSpPr>
        <p:spPr>
          <a:xfrm>
            <a:off x="1106723" y="3988003"/>
            <a:ext cx="3562558" cy="11000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 functools import partial</a:t>
            </a:r>
            <a:endParaRPr>
              <a:solidFill>
                <a:srgbClr val="61AFEF"/>
              </a:solidFill>
            </a:endParaRPr>
          </a:p>
          <a:p>
            <a:pPr>
              <a:lnSpc>
                <a:spcPct val="60000"/>
              </a:lnSpc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multiply(factor, x): return factor * x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triple = partial(multiply, 3)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result = list(map(triple, [1, 2, 3, 4, 5]))</a:t>
            </a:r>
          </a:p>
        </p:txBody>
      </p:sp>
      <p:sp>
        <p:nvSpPr>
          <p:cNvPr id="386" name="lbl_4"/>
          <p:cNvSpPr txBox="1"/>
          <p:nvPr/>
        </p:nvSpPr>
        <p:spPr>
          <a:xfrm>
            <a:off x="4869274" y="3681936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387" name="code_4"/>
          <p:cNvSpPr txBox="1"/>
          <p:nvPr/>
        </p:nvSpPr>
        <p:spPr>
          <a:xfrm>
            <a:off x="4869274" y="3988003"/>
            <a:ext cx="3835735" cy="11000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import * as R from "ramda";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multiply = R.curry((factor, x) =&gt; factor * x);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triple = multiply(3);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result = [1, 2, 3, 4, 5].map(triple);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9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390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91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392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93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394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395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ФУНКЦИИ КАК ЗНАЧЕНИЯ</a:t>
            </a:r>
          </a:p>
        </p:txBody>
      </p:sp>
      <p:sp>
        <p:nvSpPr>
          <p:cNvPr id="396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создать умножитель с коэффициентом и применить к списку</a:t>
            </a:r>
          </a:p>
        </p:txBody>
      </p:sp>
      <p:sp>
        <p:nvSpPr>
          <p:cNvPr id="397" name="lbl_0"/>
          <p:cNvSpPr txBox="1"/>
          <p:nvPr/>
        </p:nvSpPr>
        <p:spPr>
          <a:xfrm>
            <a:off x="386749" y="1791579"/>
            <a:ext cx="80001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398" name="code_0"/>
          <p:cNvSpPr txBox="1"/>
          <p:nvPr/>
        </p:nvSpPr>
        <p:spPr>
          <a:xfrm>
            <a:off x="386752" y="2097651"/>
            <a:ext cx="2700005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multiply a b = a * b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triple = multiply </a:t>
            </a:r>
            <a:r>
              <a:rPr>
                <a:solidFill>
                  <a:srgbClr val="E5C07B"/>
                </a:solidFill>
              </a:rPr>
              <a:t>3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61AFEF"/>
                </a:solidFill>
              </a:rPr>
              <a:t>List.map</a:t>
            </a:r>
            <a:r>
              <a:t> triple [</a:t>
            </a:r>
            <a:r>
              <a:rPr>
                <a:solidFill>
                  <a:srgbClr val="E5C07B"/>
                </a:solidFill>
              </a:rPr>
              <a:t>1; 2; 3; 4; 5</a:t>
            </a:r>
            <a:r>
              <a:t>]</a:t>
            </a:r>
          </a:p>
        </p:txBody>
      </p:sp>
      <p:sp>
        <p:nvSpPr>
          <p:cNvPr id="399" name="lbl_1"/>
          <p:cNvSpPr txBox="1"/>
          <p:nvPr/>
        </p:nvSpPr>
        <p:spPr>
          <a:xfrm>
            <a:off x="3018082" y="1791579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400" name="code_1"/>
          <p:cNvSpPr txBox="1"/>
          <p:nvPr/>
        </p:nvSpPr>
        <p:spPr>
          <a:xfrm>
            <a:off x="3018081" y="2097651"/>
            <a:ext cx="2700010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multiply: (Int, Int) =&gt; Int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(factor, x) =&gt; x * factor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triple: Int =&gt; Int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multiply.curried(</a:t>
            </a:r>
            <a:r>
              <a:rPr>
                <a:solidFill>
                  <a:srgbClr val="E5C07B"/>
                </a:solidFill>
              </a:rPr>
              <a:t>3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List(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t>).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(triple)</a:t>
            </a:r>
          </a:p>
        </p:txBody>
      </p:sp>
      <p:sp>
        <p:nvSpPr>
          <p:cNvPr id="401" name="lbl_2"/>
          <p:cNvSpPr txBox="1"/>
          <p:nvPr/>
        </p:nvSpPr>
        <p:spPr>
          <a:xfrm>
            <a:off x="5667540" y="1791579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402" name="code_2"/>
          <p:cNvSpPr txBox="1"/>
          <p:nvPr/>
        </p:nvSpPr>
        <p:spPr>
          <a:xfrm>
            <a:off x="5649407" y="2097644"/>
            <a:ext cx="3249571" cy="15195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</a:t>
            </a:r>
            <a:r>
              <a:rPr>
                <a:solidFill>
                  <a:srgbClr val="D0D0D0"/>
                </a:solidFill>
              </a:rPr>
              <a:t> auto_curry::</a:t>
            </a:r>
            <a:r>
              <a:rPr>
                <a:solidFill>
                  <a:srgbClr val="61AFEF"/>
                </a:solidFill>
              </a:rPr>
              <a:t>curry</a:t>
            </a:r>
            <a:r>
              <a:rPr>
                <a:solidFill>
                  <a:srgbClr val="D0D0D0"/>
                </a:solidFill>
              </a:rPr>
              <a:t>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#[curry]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61AFEF"/>
                </a:solidFill>
              </a:rPr>
              <a:t>multiply</a:t>
            </a:r>
            <a:r>
              <a:rPr>
                <a:solidFill>
                  <a:srgbClr val="D0D0D0"/>
                </a:solidFill>
              </a:rPr>
              <a:t>(factor: i32, x: i32) -&gt; i32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factor * x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triple: impl Fn(i32) -&gt; i32 = multiply(</a:t>
            </a:r>
            <a:r>
              <a:rPr>
                <a:solidFill>
                  <a:srgbClr val="E5C07B"/>
                </a:solidFill>
              </a:rPr>
              <a:t>3</a:t>
            </a:r>
            <a:r>
              <a:rPr>
                <a:solidFill>
                  <a:srgbClr val="D0D0D0"/>
                </a:solidFill>
              </a:rPr>
              <a:t>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result: Vec&lt;i32&gt; = vec![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rPr>
                <a:solidFill>
                  <a:srgbClr val="D0D0D0"/>
                </a:solidFill>
              </a:rPr>
              <a:t>]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.into_iter().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(triple).</a:t>
            </a:r>
            <a:r>
              <a:rPr>
                <a:solidFill>
                  <a:srgbClr val="61AFEF"/>
                </a:solidFill>
              </a:rPr>
              <a:t>collect</a:t>
            </a:r>
            <a:r>
              <a:t>();</a:t>
            </a:r>
          </a:p>
        </p:txBody>
      </p:sp>
      <p:sp>
        <p:nvSpPr>
          <p:cNvPr id="403" name="lbl_3"/>
          <p:cNvSpPr txBox="1"/>
          <p:nvPr/>
        </p:nvSpPr>
        <p:spPr>
          <a:xfrm>
            <a:off x="1131565" y="3681936"/>
            <a:ext cx="80000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404" name="code_3"/>
          <p:cNvSpPr txBox="1"/>
          <p:nvPr/>
        </p:nvSpPr>
        <p:spPr>
          <a:xfrm>
            <a:off x="1106723" y="3988003"/>
            <a:ext cx="3562558" cy="11000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 functools import partial</a:t>
            </a:r>
            <a:endParaRPr>
              <a:solidFill>
                <a:srgbClr val="61AFEF"/>
              </a:solidFill>
            </a:endParaRPr>
          </a:p>
          <a:p>
            <a:pPr>
              <a:lnSpc>
                <a:spcPct val="60000"/>
              </a:lnSpc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multiply(factor, x): return factor * x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triple = partial(multiply, 3)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result = list(map(triple, [1, 2, 3, 4, 5]))</a:t>
            </a:r>
          </a:p>
        </p:txBody>
      </p:sp>
      <p:sp>
        <p:nvSpPr>
          <p:cNvPr id="405" name="lbl_4"/>
          <p:cNvSpPr txBox="1"/>
          <p:nvPr/>
        </p:nvSpPr>
        <p:spPr>
          <a:xfrm>
            <a:off x="4869274" y="3681936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406" name="code_4"/>
          <p:cNvSpPr txBox="1"/>
          <p:nvPr/>
        </p:nvSpPr>
        <p:spPr>
          <a:xfrm>
            <a:off x="4869274" y="3988003"/>
            <a:ext cx="3835735" cy="11000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import * as R from "ramda";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multiply = R.curry((factor, x) =&gt; factor * x);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triple = multiply(3);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result = [1, 2, 3, 4, 5].map(triple);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8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409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10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411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12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413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414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ФУНКЦИИ КАК ЗНАЧЕНИЯ</a:t>
            </a:r>
          </a:p>
        </p:txBody>
      </p:sp>
      <p:sp>
        <p:nvSpPr>
          <p:cNvPr id="415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создать умножитель с коэффициентом и применить к списку</a:t>
            </a:r>
          </a:p>
        </p:txBody>
      </p:sp>
      <p:sp>
        <p:nvSpPr>
          <p:cNvPr id="416" name="lbl_0"/>
          <p:cNvSpPr txBox="1"/>
          <p:nvPr/>
        </p:nvSpPr>
        <p:spPr>
          <a:xfrm>
            <a:off x="386749" y="1791579"/>
            <a:ext cx="80001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417" name="code_0"/>
          <p:cNvSpPr txBox="1"/>
          <p:nvPr/>
        </p:nvSpPr>
        <p:spPr>
          <a:xfrm>
            <a:off x="386752" y="2097651"/>
            <a:ext cx="2700005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multiply a b = a * b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triple = multiply </a:t>
            </a:r>
            <a:r>
              <a:rPr>
                <a:solidFill>
                  <a:srgbClr val="E5C07B"/>
                </a:solidFill>
              </a:rPr>
              <a:t>3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61AFEF"/>
                </a:solidFill>
              </a:rPr>
              <a:t>List.map</a:t>
            </a:r>
            <a:r>
              <a:t> triple [</a:t>
            </a:r>
            <a:r>
              <a:rPr>
                <a:solidFill>
                  <a:srgbClr val="E5C07B"/>
                </a:solidFill>
              </a:rPr>
              <a:t>1; 2; 3; 4; 5</a:t>
            </a:r>
            <a:r>
              <a:t>]</a:t>
            </a:r>
          </a:p>
        </p:txBody>
      </p:sp>
      <p:sp>
        <p:nvSpPr>
          <p:cNvPr id="418" name="lbl_1"/>
          <p:cNvSpPr txBox="1"/>
          <p:nvPr/>
        </p:nvSpPr>
        <p:spPr>
          <a:xfrm>
            <a:off x="3018082" y="1791579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419" name="code_1"/>
          <p:cNvSpPr txBox="1"/>
          <p:nvPr/>
        </p:nvSpPr>
        <p:spPr>
          <a:xfrm>
            <a:off x="3018081" y="2097651"/>
            <a:ext cx="2700010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multiply: (Int, Int) =&gt; Int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(factor, x) =&gt; x * factor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triple: Int =&gt; Int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multiply.curried(</a:t>
            </a:r>
            <a:r>
              <a:rPr>
                <a:solidFill>
                  <a:srgbClr val="E5C07B"/>
                </a:solidFill>
              </a:rPr>
              <a:t>3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List(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t>).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(triple)</a:t>
            </a:r>
          </a:p>
        </p:txBody>
      </p:sp>
      <p:sp>
        <p:nvSpPr>
          <p:cNvPr id="420" name="lbl_2"/>
          <p:cNvSpPr txBox="1"/>
          <p:nvPr/>
        </p:nvSpPr>
        <p:spPr>
          <a:xfrm>
            <a:off x="5667540" y="1791579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421" name="code_2"/>
          <p:cNvSpPr txBox="1"/>
          <p:nvPr/>
        </p:nvSpPr>
        <p:spPr>
          <a:xfrm>
            <a:off x="5649407" y="2097644"/>
            <a:ext cx="3249571" cy="15195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</a:t>
            </a:r>
            <a:r>
              <a:rPr>
                <a:solidFill>
                  <a:srgbClr val="D0D0D0"/>
                </a:solidFill>
              </a:rPr>
              <a:t> auto_curry::</a:t>
            </a:r>
            <a:r>
              <a:rPr>
                <a:solidFill>
                  <a:srgbClr val="61AFEF"/>
                </a:solidFill>
              </a:rPr>
              <a:t>curry</a:t>
            </a:r>
            <a:r>
              <a:rPr>
                <a:solidFill>
                  <a:srgbClr val="D0D0D0"/>
                </a:solidFill>
              </a:rPr>
              <a:t>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#[curry]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61AFEF"/>
                </a:solidFill>
              </a:rPr>
              <a:t>multiply</a:t>
            </a:r>
            <a:r>
              <a:rPr>
                <a:solidFill>
                  <a:srgbClr val="D0D0D0"/>
                </a:solidFill>
              </a:rPr>
              <a:t>(factor: i32, x: i32) -&gt; i32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factor * x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triple: impl Fn(i32) -&gt; i32 = multiply(</a:t>
            </a:r>
            <a:r>
              <a:rPr>
                <a:solidFill>
                  <a:srgbClr val="E5C07B"/>
                </a:solidFill>
              </a:rPr>
              <a:t>3</a:t>
            </a:r>
            <a:r>
              <a:rPr>
                <a:solidFill>
                  <a:srgbClr val="D0D0D0"/>
                </a:solidFill>
              </a:rPr>
              <a:t>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result: Vec&lt;i32&gt; = vec![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rPr>
                <a:solidFill>
                  <a:srgbClr val="D0D0D0"/>
                </a:solidFill>
              </a:rPr>
              <a:t>]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.into_iter().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(triple).</a:t>
            </a:r>
            <a:r>
              <a:rPr>
                <a:solidFill>
                  <a:srgbClr val="61AFEF"/>
                </a:solidFill>
              </a:rPr>
              <a:t>collect</a:t>
            </a:r>
            <a:r>
              <a:t>();</a:t>
            </a:r>
          </a:p>
        </p:txBody>
      </p:sp>
      <p:sp>
        <p:nvSpPr>
          <p:cNvPr id="422" name="lbl_3"/>
          <p:cNvSpPr txBox="1"/>
          <p:nvPr/>
        </p:nvSpPr>
        <p:spPr>
          <a:xfrm>
            <a:off x="1131565" y="3681936"/>
            <a:ext cx="80000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423" name="code_3"/>
          <p:cNvSpPr txBox="1"/>
          <p:nvPr/>
        </p:nvSpPr>
        <p:spPr>
          <a:xfrm>
            <a:off x="1106723" y="3988003"/>
            <a:ext cx="3562558" cy="11000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</a:t>
            </a:r>
            <a:r>
              <a:rPr>
                <a:solidFill>
                  <a:srgbClr val="D0D0D0"/>
                </a:solidFill>
              </a:rPr>
              <a:t> functools </a:t>
            </a:r>
            <a:r>
              <a:t>import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61AFEF"/>
                </a:solidFill>
              </a:rPr>
              <a:t>partial</a:t>
            </a:r>
            <a:endParaRPr>
              <a:solidFill>
                <a:srgbClr val="61AFEF"/>
              </a:solidFill>
            </a:endParaRPr>
          </a:p>
          <a:p>
            <a:pPr>
              <a:lnSpc>
                <a:spcPct val="60000"/>
              </a:lnSpc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61AFEF"/>
                </a:solidFill>
              </a:rPr>
              <a:t>multiply</a:t>
            </a:r>
            <a:r>
              <a:rPr>
                <a:solidFill>
                  <a:srgbClr val="D0D0D0"/>
                </a:solidFill>
              </a:rPr>
              <a:t>(factor, x): return factor * x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triple = </a:t>
            </a:r>
            <a:r>
              <a:rPr>
                <a:solidFill>
                  <a:srgbClr val="61AFEF"/>
                </a:solidFill>
              </a:rPr>
              <a:t>partial</a:t>
            </a:r>
            <a:r>
              <a:t>(multiply, </a:t>
            </a:r>
            <a:r>
              <a:rPr>
                <a:solidFill>
                  <a:srgbClr val="E5C07B"/>
                </a:solidFill>
              </a:rPr>
              <a:t>3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result = list(map(triple, [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t>]))</a:t>
            </a:r>
          </a:p>
        </p:txBody>
      </p:sp>
      <p:sp>
        <p:nvSpPr>
          <p:cNvPr id="424" name="lbl_4"/>
          <p:cNvSpPr txBox="1"/>
          <p:nvPr/>
        </p:nvSpPr>
        <p:spPr>
          <a:xfrm>
            <a:off x="4869274" y="3681936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425" name="code_4"/>
          <p:cNvSpPr txBox="1"/>
          <p:nvPr/>
        </p:nvSpPr>
        <p:spPr>
          <a:xfrm>
            <a:off x="4869274" y="3988003"/>
            <a:ext cx="3835735" cy="11000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import * as R from "ramda";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multiply = R.curry((factor, x) =&gt; factor * x);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triple = multiply(3);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result = [1, 2, 3, 4, 5].map(triple);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7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428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29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430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31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432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433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ФУНКЦИИ КАК ЗНАЧЕНИЯ</a:t>
            </a:r>
          </a:p>
        </p:txBody>
      </p:sp>
      <p:sp>
        <p:nvSpPr>
          <p:cNvPr id="434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создать умножитель с коэффициентом и применить к списку</a:t>
            </a:r>
          </a:p>
        </p:txBody>
      </p:sp>
      <p:sp>
        <p:nvSpPr>
          <p:cNvPr id="435" name="lbl_OCaml"/>
          <p:cNvSpPr txBox="1"/>
          <p:nvPr/>
        </p:nvSpPr>
        <p:spPr>
          <a:xfrm>
            <a:off x="386749" y="1791579"/>
            <a:ext cx="80001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436" name="code_OCaml"/>
          <p:cNvSpPr txBox="1"/>
          <p:nvPr/>
        </p:nvSpPr>
        <p:spPr>
          <a:xfrm>
            <a:off x="386752" y="2097651"/>
            <a:ext cx="2700005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multiply a b = a * b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triple = multiply </a:t>
            </a:r>
            <a:r>
              <a:rPr>
                <a:solidFill>
                  <a:srgbClr val="E5C07B"/>
                </a:solidFill>
              </a:rPr>
              <a:t>3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61AFEF"/>
                </a:solidFill>
              </a:rPr>
              <a:t>List.map</a:t>
            </a:r>
            <a:r>
              <a:t> triple [</a:t>
            </a:r>
            <a:r>
              <a:rPr>
                <a:solidFill>
                  <a:srgbClr val="E5C07B"/>
                </a:solidFill>
              </a:rPr>
              <a:t>1; 2; 3; 4; 5</a:t>
            </a:r>
            <a:r>
              <a:t>]</a:t>
            </a:r>
          </a:p>
        </p:txBody>
      </p:sp>
      <p:sp>
        <p:nvSpPr>
          <p:cNvPr id="437" name="lbl_Scala"/>
          <p:cNvSpPr txBox="1"/>
          <p:nvPr/>
        </p:nvSpPr>
        <p:spPr>
          <a:xfrm>
            <a:off x="3018082" y="1791579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438" name="code_Scala"/>
          <p:cNvSpPr txBox="1"/>
          <p:nvPr/>
        </p:nvSpPr>
        <p:spPr>
          <a:xfrm>
            <a:off x="3018081" y="2097651"/>
            <a:ext cx="2700010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multiply: (Int, Int) =&gt; Int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(factor, x) =&gt; x * factor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triple: Int =&gt; Int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multiply.curried(</a:t>
            </a:r>
            <a:r>
              <a:rPr>
                <a:solidFill>
                  <a:srgbClr val="E5C07B"/>
                </a:solidFill>
              </a:rPr>
              <a:t>3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List(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t>).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(triple)</a:t>
            </a:r>
          </a:p>
        </p:txBody>
      </p:sp>
      <p:sp>
        <p:nvSpPr>
          <p:cNvPr id="439" name="lbl_Rust"/>
          <p:cNvSpPr txBox="1"/>
          <p:nvPr/>
        </p:nvSpPr>
        <p:spPr>
          <a:xfrm>
            <a:off x="5667540" y="1791579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440" name="code_Rust"/>
          <p:cNvSpPr txBox="1"/>
          <p:nvPr/>
        </p:nvSpPr>
        <p:spPr>
          <a:xfrm>
            <a:off x="5649407" y="2097644"/>
            <a:ext cx="3249571" cy="15195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</a:t>
            </a:r>
            <a:r>
              <a:rPr>
                <a:solidFill>
                  <a:srgbClr val="D0D0D0"/>
                </a:solidFill>
              </a:rPr>
              <a:t> auto_curry::</a:t>
            </a:r>
            <a:r>
              <a:rPr>
                <a:solidFill>
                  <a:srgbClr val="61AFEF"/>
                </a:solidFill>
              </a:rPr>
              <a:t>curry</a:t>
            </a:r>
            <a:r>
              <a:rPr>
                <a:solidFill>
                  <a:srgbClr val="D0D0D0"/>
                </a:solidFill>
              </a:rPr>
              <a:t>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#[curry]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61AFEF"/>
                </a:solidFill>
              </a:rPr>
              <a:t>multiply</a:t>
            </a:r>
            <a:r>
              <a:rPr>
                <a:solidFill>
                  <a:srgbClr val="D0D0D0"/>
                </a:solidFill>
              </a:rPr>
              <a:t>(factor: i32, x: i32) -&gt; i32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factor * x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triple: impl Fn(i32) -&gt; i32 = multiply(</a:t>
            </a:r>
            <a:r>
              <a:rPr>
                <a:solidFill>
                  <a:srgbClr val="E5C07B"/>
                </a:solidFill>
              </a:rPr>
              <a:t>3</a:t>
            </a:r>
            <a:r>
              <a:rPr>
                <a:solidFill>
                  <a:srgbClr val="D0D0D0"/>
                </a:solidFill>
              </a:rPr>
              <a:t>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result: Vec&lt;i32&gt; = vec![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rPr>
                <a:solidFill>
                  <a:srgbClr val="D0D0D0"/>
                </a:solidFill>
              </a:rPr>
              <a:t>]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.into_iter().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(triple).</a:t>
            </a:r>
            <a:r>
              <a:rPr>
                <a:solidFill>
                  <a:srgbClr val="61AFEF"/>
                </a:solidFill>
              </a:rPr>
              <a:t>collect</a:t>
            </a:r>
            <a:r>
              <a:t>();</a:t>
            </a:r>
          </a:p>
        </p:txBody>
      </p:sp>
      <p:sp>
        <p:nvSpPr>
          <p:cNvPr id="441" name="lbl_Python"/>
          <p:cNvSpPr txBox="1"/>
          <p:nvPr/>
        </p:nvSpPr>
        <p:spPr>
          <a:xfrm>
            <a:off x="1131565" y="3681936"/>
            <a:ext cx="80000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442" name="code_Python"/>
          <p:cNvSpPr txBox="1"/>
          <p:nvPr/>
        </p:nvSpPr>
        <p:spPr>
          <a:xfrm>
            <a:off x="1106723" y="3988003"/>
            <a:ext cx="3562558" cy="11000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</a:t>
            </a:r>
            <a:r>
              <a:rPr>
                <a:solidFill>
                  <a:srgbClr val="D0D0D0"/>
                </a:solidFill>
              </a:rPr>
              <a:t> functools </a:t>
            </a:r>
            <a:r>
              <a:t>import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61AFEF"/>
                </a:solidFill>
              </a:rPr>
              <a:t>partial</a:t>
            </a:r>
            <a:endParaRPr>
              <a:solidFill>
                <a:srgbClr val="61AFEF"/>
              </a:solidFill>
            </a:endParaRPr>
          </a:p>
          <a:p>
            <a:pPr>
              <a:lnSpc>
                <a:spcPct val="60000"/>
              </a:lnSpc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61AFEF"/>
                </a:solidFill>
              </a:rPr>
              <a:t>multiply</a:t>
            </a:r>
            <a:r>
              <a:rPr>
                <a:solidFill>
                  <a:srgbClr val="D0D0D0"/>
                </a:solidFill>
              </a:rPr>
              <a:t>(factor, x): return factor * x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triple = </a:t>
            </a:r>
            <a:r>
              <a:rPr>
                <a:solidFill>
                  <a:srgbClr val="61AFEF"/>
                </a:solidFill>
              </a:rPr>
              <a:t>partial</a:t>
            </a:r>
            <a:r>
              <a:t>(multiply, </a:t>
            </a:r>
            <a:r>
              <a:rPr>
                <a:solidFill>
                  <a:srgbClr val="E5C07B"/>
                </a:solidFill>
              </a:rPr>
              <a:t>3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result = list(map(triple, [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t>]))</a:t>
            </a:r>
          </a:p>
        </p:txBody>
      </p:sp>
      <p:sp>
        <p:nvSpPr>
          <p:cNvPr id="443" name="lbl_JS"/>
          <p:cNvSpPr txBox="1"/>
          <p:nvPr/>
        </p:nvSpPr>
        <p:spPr>
          <a:xfrm>
            <a:off x="4869274" y="3681936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444" name="code_JS"/>
          <p:cNvSpPr txBox="1"/>
          <p:nvPr/>
        </p:nvSpPr>
        <p:spPr>
          <a:xfrm>
            <a:off x="4869274" y="3988003"/>
            <a:ext cx="3835735" cy="11000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import</a:t>
            </a:r>
            <a:r>
              <a:rPr>
                <a:solidFill>
                  <a:srgbClr val="D0D0D0"/>
                </a:solidFill>
              </a:rPr>
              <a:t> * as R from "ramda";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rPr>
                <a:solidFill>
                  <a:srgbClr val="D0D0D0"/>
                </a:solidFill>
              </a:rPr>
              <a:t> multiply = R.</a:t>
            </a:r>
            <a:r>
              <a:rPr>
                <a:solidFill>
                  <a:srgbClr val="61AFEF"/>
                </a:solidFill>
              </a:rPr>
              <a:t>curry</a:t>
            </a:r>
            <a:r>
              <a:rPr>
                <a:solidFill>
                  <a:srgbClr val="D0D0D0"/>
                </a:solidFill>
              </a:rPr>
              <a:t>((factor, x) =&gt; factor * x);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rPr>
                <a:solidFill>
                  <a:srgbClr val="D0D0D0"/>
                </a:solidFill>
              </a:rPr>
              <a:t> triple = multiply(</a:t>
            </a:r>
            <a:r>
              <a:rPr>
                <a:solidFill>
                  <a:srgbClr val="E5C07B"/>
                </a:solidFill>
              </a:rPr>
              <a:t>3</a:t>
            </a:r>
            <a:r>
              <a:rPr>
                <a:solidFill>
                  <a:srgbClr val="D0D0D0"/>
                </a:solidFill>
              </a:rPr>
              <a:t>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rPr>
                <a:solidFill>
                  <a:srgbClr val="D0D0D0"/>
                </a:solidFill>
              </a:rPr>
              <a:t> result = [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rPr>
                <a:solidFill>
                  <a:srgbClr val="D0D0D0"/>
                </a:solidFill>
              </a:rPr>
              <a:t>].</a:t>
            </a:r>
            <a:r>
              <a:rPr>
                <a:solidFill>
                  <a:srgbClr val="61AFEF"/>
                </a:solidFill>
              </a:rPr>
              <a:t>map</a:t>
            </a:r>
            <a:r>
              <a:rPr>
                <a:solidFill>
                  <a:srgbClr val="D0D0D0"/>
                </a:solidFill>
              </a:rPr>
              <a:t>(triple);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6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447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48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449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50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451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452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ЧИСТОТА ФУНКЦИЙ</a:t>
            </a:r>
          </a:p>
        </p:txBody>
      </p:sp>
      <p:sp>
        <p:nvSpPr>
          <p:cNvPr id="453" name="bullets"/>
          <p:cNvSpPr txBox="1"/>
          <p:nvPr/>
        </p:nvSpPr>
        <p:spPr>
          <a:xfrm>
            <a:off x="381660" y="1562944"/>
            <a:ext cx="7165165" cy="18495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Чистая функция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: возвращаемое значение зависит только от аргументов; </a:t>
            </a:r>
            <a:r>
              <a:t>нет побочных эффектов.</a:t>
            </a:r>
            <a:endParaRPr>
              <a:latin typeface="Montserrat Thin Bold"/>
              <a:ea typeface="Montserrat Thin Bold"/>
              <a:cs typeface="Montserrat Thin Bold"/>
              <a:sym typeface="Montserrat Thin Bold"/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Следствия: мемоизация;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независимость порядка вычислений</a:t>
            </a:r>
            <a:r>
              <a:t>; data race-free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параллелизм.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Эффекты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 неизбежны (I/O, время, состояние). Стратегия — </a:t>
            </a:r>
            <a:r>
              <a:t>изоляция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 на границах системы.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5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456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57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458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59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460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461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ЧИСТОТА ФУНКЦИЙ</a:t>
            </a:r>
          </a:p>
        </p:txBody>
      </p:sp>
      <p:sp>
        <p:nvSpPr>
          <p:cNvPr id="462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функция скидки — чистая и нечистая версии</a:t>
            </a:r>
          </a:p>
        </p:txBody>
      </p:sp>
      <p:sp>
        <p:nvSpPr>
          <p:cNvPr id="463" name="lbl_0"/>
          <p:cNvSpPr txBox="1"/>
          <p:nvPr/>
        </p:nvSpPr>
        <p:spPr>
          <a:xfrm>
            <a:off x="355340" y="1810903"/>
            <a:ext cx="80000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464" name="code_0"/>
          <p:cNvSpPr txBox="1"/>
          <p:nvPr/>
        </p:nvSpPr>
        <p:spPr>
          <a:xfrm>
            <a:off x="355342" y="2116975"/>
            <a:ext cx="2344137" cy="15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discount rate price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(1.0 -.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rate = ref 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discount_impure price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:= !rate +. 0.05;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(1.0 -. !rate)</a:t>
            </a:r>
          </a:p>
        </p:txBody>
      </p:sp>
      <p:sp>
        <p:nvSpPr>
          <p:cNvPr id="465" name="lbl_1"/>
          <p:cNvSpPr txBox="1"/>
          <p:nvPr/>
        </p:nvSpPr>
        <p:spPr>
          <a:xfrm>
            <a:off x="2806660" y="1811091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466" name="code_1"/>
          <p:cNvSpPr txBox="1"/>
          <p:nvPr/>
        </p:nvSpPr>
        <p:spPr>
          <a:xfrm>
            <a:off x="2806660" y="2117163"/>
            <a:ext cx="3350005" cy="150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discount(rate: Double, price: Double): Double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(1.0 -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var rate = 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discountImpure(price: Double): Double =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0.05; price * (1.0 -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467" name="lbl_2"/>
          <p:cNvSpPr txBox="1"/>
          <p:nvPr/>
        </p:nvSpPr>
        <p:spPr>
          <a:xfrm>
            <a:off x="5985766" y="1731434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468" name="code_2"/>
          <p:cNvSpPr txBox="1"/>
          <p:nvPr/>
        </p:nvSpPr>
        <p:spPr>
          <a:xfrm>
            <a:off x="5985764" y="2037506"/>
            <a:ext cx="2740005" cy="15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discount(rate: f64, price: f64) -&gt; f64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(1.0 -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static mut RATE: f64 = 0.1;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discount_impure(price: f64) -&gt; f64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unsafe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RATE += 0.05;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price * (1.0 -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}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469" name="lbl_3"/>
          <p:cNvSpPr txBox="1"/>
          <p:nvPr/>
        </p:nvSpPr>
        <p:spPr>
          <a:xfrm>
            <a:off x="1863918" y="3420678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470" name="code_3"/>
          <p:cNvSpPr txBox="1"/>
          <p:nvPr/>
        </p:nvSpPr>
        <p:spPr>
          <a:xfrm>
            <a:off x="1863918" y="3726745"/>
            <a:ext cx="2148715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discount(rate, price):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rate = 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discount_impure(price):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global rate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</a:t>
            </a:r>
          </a:p>
        </p:txBody>
      </p:sp>
      <p:sp>
        <p:nvSpPr>
          <p:cNvPr id="471" name="lbl_4"/>
          <p:cNvSpPr txBox="1"/>
          <p:nvPr/>
        </p:nvSpPr>
        <p:spPr>
          <a:xfrm>
            <a:off x="4849612" y="3404568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472" name="code_4"/>
          <p:cNvSpPr txBox="1"/>
          <p:nvPr/>
        </p:nvSpPr>
        <p:spPr>
          <a:xfrm>
            <a:off x="4849612" y="3710635"/>
            <a:ext cx="2416596" cy="11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(rate, price) =&gt;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(1 - rate);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rate = 0.1;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function discountImpure(price)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4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475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76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477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78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479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480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ЧИСТОТА ФУНКЦИЙ</a:t>
            </a:r>
          </a:p>
        </p:txBody>
      </p:sp>
      <p:sp>
        <p:nvSpPr>
          <p:cNvPr id="481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функция скидки — чистая и нечистая версии</a:t>
            </a:r>
          </a:p>
        </p:txBody>
      </p:sp>
      <p:sp>
        <p:nvSpPr>
          <p:cNvPr id="482" name="lbl_0"/>
          <p:cNvSpPr txBox="1"/>
          <p:nvPr/>
        </p:nvSpPr>
        <p:spPr>
          <a:xfrm>
            <a:off x="355340" y="1810903"/>
            <a:ext cx="80000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483" name="code_0"/>
          <p:cNvSpPr txBox="1"/>
          <p:nvPr/>
        </p:nvSpPr>
        <p:spPr>
          <a:xfrm>
            <a:off x="355342" y="2116975"/>
            <a:ext cx="2344137" cy="15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rate price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t>ref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discount_impure price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:= !rate +.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!rate)</a:t>
            </a:r>
          </a:p>
        </p:txBody>
      </p:sp>
      <p:sp>
        <p:nvSpPr>
          <p:cNvPr id="484" name="lbl_1"/>
          <p:cNvSpPr txBox="1"/>
          <p:nvPr/>
        </p:nvSpPr>
        <p:spPr>
          <a:xfrm>
            <a:off x="2806660" y="1811091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485" name="code_1"/>
          <p:cNvSpPr txBox="1"/>
          <p:nvPr/>
        </p:nvSpPr>
        <p:spPr>
          <a:xfrm>
            <a:off x="2806660" y="2117163"/>
            <a:ext cx="3350005" cy="150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discount(rate: Double, price: Double): Double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(1.0 -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var rate = 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discountImpure(price: Double): Double =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0.05; price * (1.0 -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486" name="lbl_2"/>
          <p:cNvSpPr txBox="1"/>
          <p:nvPr/>
        </p:nvSpPr>
        <p:spPr>
          <a:xfrm>
            <a:off x="5985766" y="1731434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487" name="code_2"/>
          <p:cNvSpPr txBox="1"/>
          <p:nvPr/>
        </p:nvSpPr>
        <p:spPr>
          <a:xfrm>
            <a:off x="5985764" y="2037506"/>
            <a:ext cx="2740005" cy="15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discount(rate: f64, price: f64) -&gt; f64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(1.0 -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static mut RATE: f64 = 0.1;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discount_impure(price: f64) -&gt; f64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unsafe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RATE += 0.05;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price * (1.0 -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}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488" name="lbl_3"/>
          <p:cNvSpPr txBox="1"/>
          <p:nvPr/>
        </p:nvSpPr>
        <p:spPr>
          <a:xfrm>
            <a:off x="1863918" y="3420678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489" name="code_3"/>
          <p:cNvSpPr txBox="1"/>
          <p:nvPr/>
        </p:nvSpPr>
        <p:spPr>
          <a:xfrm>
            <a:off x="1863918" y="3726745"/>
            <a:ext cx="2148715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discount(rate, price):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rate = 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discount_impure(price):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global rate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</a:t>
            </a:r>
          </a:p>
        </p:txBody>
      </p:sp>
      <p:sp>
        <p:nvSpPr>
          <p:cNvPr id="490" name="lbl_4"/>
          <p:cNvSpPr txBox="1"/>
          <p:nvPr/>
        </p:nvSpPr>
        <p:spPr>
          <a:xfrm>
            <a:off x="4849612" y="3404568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491" name="code_4"/>
          <p:cNvSpPr txBox="1"/>
          <p:nvPr/>
        </p:nvSpPr>
        <p:spPr>
          <a:xfrm>
            <a:off x="4849612" y="3710635"/>
            <a:ext cx="2416596" cy="11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(rate, price) =&gt;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(1 - rate);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rate = 0.1;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function discountImpure(price)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3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494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95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496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97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498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499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ЧИСТОТА ФУНКЦИЙ</a:t>
            </a:r>
          </a:p>
        </p:txBody>
      </p:sp>
      <p:sp>
        <p:nvSpPr>
          <p:cNvPr id="500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функция скидки — чистая и нечистая версии</a:t>
            </a:r>
          </a:p>
        </p:txBody>
      </p:sp>
      <p:sp>
        <p:nvSpPr>
          <p:cNvPr id="501" name="lbl_0"/>
          <p:cNvSpPr txBox="1"/>
          <p:nvPr/>
        </p:nvSpPr>
        <p:spPr>
          <a:xfrm>
            <a:off x="355340" y="1810903"/>
            <a:ext cx="80000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502" name="code_0"/>
          <p:cNvSpPr txBox="1"/>
          <p:nvPr/>
        </p:nvSpPr>
        <p:spPr>
          <a:xfrm>
            <a:off x="355342" y="2116975"/>
            <a:ext cx="2344137" cy="15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rate price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t>ref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discount_impure price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:= !rate +.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!rate)</a:t>
            </a:r>
          </a:p>
        </p:txBody>
      </p:sp>
      <p:sp>
        <p:nvSpPr>
          <p:cNvPr id="503" name="lbl_1"/>
          <p:cNvSpPr txBox="1"/>
          <p:nvPr/>
        </p:nvSpPr>
        <p:spPr>
          <a:xfrm>
            <a:off x="2806660" y="1811091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504" name="code_1"/>
          <p:cNvSpPr txBox="1"/>
          <p:nvPr/>
        </p:nvSpPr>
        <p:spPr>
          <a:xfrm>
            <a:off x="2806660" y="2117163"/>
            <a:ext cx="3350005" cy="150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discount(rate: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, price: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):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var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discountImpure(price: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):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 =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505" name="lbl_2"/>
          <p:cNvSpPr txBox="1"/>
          <p:nvPr/>
        </p:nvSpPr>
        <p:spPr>
          <a:xfrm>
            <a:off x="5985766" y="1731434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506" name="code_2"/>
          <p:cNvSpPr txBox="1"/>
          <p:nvPr/>
        </p:nvSpPr>
        <p:spPr>
          <a:xfrm>
            <a:off x="5985764" y="2037506"/>
            <a:ext cx="2740005" cy="15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discount(rate: f64, price: f64) -&gt; f64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(1.0 -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static mut RATE: f64 = 0.1;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discount_impure(price: f64) -&gt; f64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unsafe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RATE += 0.05;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price * (1.0 -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}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507" name="lbl_3"/>
          <p:cNvSpPr txBox="1"/>
          <p:nvPr/>
        </p:nvSpPr>
        <p:spPr>
          <a:xfrm>
            <a:off x="1863918" y="3420678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508" name="code_3"/>
          <p:cNvSpPr txBox="1"/>
          <p:nvPr/>
        </p:nvSpPr>
        <p:spPr>
          <a:xfrm>
            <a:off x="1863918" y="3726745"/>
            <a:ext cx="2148715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discount(rate, price):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rate = 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discount_impure(price):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global rate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</a:t>
            </a:r>
          </a:p>
        </p:txBody>
      </p:sp>
      <p:sp>
        <p:nvSpPr>
          <p:cNvPr id="509" name="lbl_4"/>
          <p:cNvSpPr txBox="1"/>
          <p:nvPr/>
        </p:nvSpPr>
        <p:spPr>
          <a:xfrm>
            <a:off x="4849612" y="3404568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510" name="code_4"/>
          <p:cNvSpPr txBox="1"/>
          <p:nvPr/>
        </p:nvSpPr>
        <p:spPr>
          <a:xfrm>
            <a:off x="4849612" y="3710635"/>
            <a:ext cx="2416596" cy="11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(rate, price) =&gt;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(1 - rate);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rate = 0.1;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function discountImpure(price)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513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14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515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16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517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518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ЧИСТОТА ФУНКЦИЙ</a:t>
            </a:r>
          </a:p>
        </p:txBody>
      </p:sp>
      <p:sp>
        <p:nvSpPr>
          <p:cNvPr id="519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функция скидки — чистая и нечистая версии</a:t>
            </a:r>
          </a:p>
        </p:txBody>
      </p:sp>
      <p:sp>
        <p:nvSpPr>
          <p:cNvPr id="520" name="lbl_0"/>
          <p:cNvSpPr txBox="1"/>
          <p:nvPr/>
        </p:nvSpPr>
        <p:spPr>
          <a:xfrm>
            <a:off x="355340" y="1810903"/>
            <a:ext cx="80000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521" name="code_0"/>
          <p:cNvSpPr txBox="1"/>
          <p:nvPr/>
        </p:nvSpPr>
        <p:spPr>
          <a:xfrm>
            <a:off x="355342" y="2116975"/>
            <a:ext cx="2344137" cy="15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rate price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t>ref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discount_impure price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:= !rate +.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!rate)</a:t>
            </a:r>
          </a:p>
        </p:txBody>
      </p:sp>
      <p:sp>
        <p:nvSpPr>
          <p:cNvPr id="522" name="lbl_1"/>
          <p:cNvSpPr txBox="1"/>
          <p:nvPr/>
        </p:nvSpPr>
        <p:spPr>
          <a:xfrm>
            <a:off x="2806660" y="1811091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523" name="code_1"/>
          <p:cNvSpPr txBox="1"/>
          <p:nvPr/>
        </p:nvSpPr>
        <p:spPr>
          <a:xfrm>
            <a:off x="2806660" y="2117163"/>
            <a:ext cx="3350005" cy="150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discount(rate: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, price: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):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var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discountImpure(price: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):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 =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524" name="lbl_2"/>
          <p:cNvSpPr txBox="1"/>
          <p:nvPr/>
        </p:nvSpPr>
        <p:spPr>
          <a:xfrm>
            <a:off x="5985766" y="1731434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525" name="code_2"/>
          <p:cNvSpPr txBox="1"/>
          <p:nvPr/>
        </p:nvSpPr>
        <p:spPr>
          <a:xfrm>
            <a:off x="5985764" y="2037506"/>
            <a:ext cx="2740005" cy="15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discount(rate: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, price: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static</a:t>
            </a:r>
            <a:r>
              <a:rPr>
                <a:solidFill>
                  <a:srgbClr val="D0D0D0"/>
                </a:solidFill>
              </a:rPr>
              <a:t> </a:t>
            </a:r>
            <a:r>
              <a:t>mut</a:t>
            </a:r>
            <a:r>
              <a:rPr>
                <a:solidFill>
                  <a:srgbClr val="D0D0D0"/>
                </a:solidFill>
              </a:rPr>
              <a:t> RATE: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= </a:t>
            </a:r>
            <a:r>
              <a:rPr>
                <a:solidFill>
                  <a:srgbClr val="E5C07B"/>
                </a:solidFill>
              </a:rPr>
              <a:t>0.1</a:t>
            </a:r>
            <a:r>
              <a:rPr>
                <a:solidFill>
                  <a:srgbClr val="D0D0D0"/>
                </a:solidFill>
              </a:rPr>
              <a:t>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discount_impure(price: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unsafe</a:t>
            </a:r>
            <a: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RATE +=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526" name="lbl_3"/>
          <p:cNvSpPr txBox="1"/>
          <p:nvPr/>
        </p:nvSpPr>
        <p:spPr>
          <a:xfrm>
            <a:off x="1863918" y="3420678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527" name="code_3"/>
          <p:cNvSpPr txBox="1"/>
          <p:nvPr/>
        </p:nvSpPr>
        <p:spPr>
          <a:xfrm>
            <a:off x="1863918" y="3726745"/>
            <a:ext cx="2148715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discount(rate, price):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rate = 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discount_impure(price):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global rate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</a:t>
            </a:r>
          </a:p>
        </p:txBody>
      </p:sp>
      <p:sp>
        <p:nvSpPr>
          <p:cNvPr id="528" name="lbl_4"/>
          <p:cNvSpPr txBox="1"/>
          <p:nvPr/>
        </p:nvSpPr>
        <p:spPr>
          <a:xfrm>
            <a:off x="4849612" y="3404568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529" name="code_4"/>
          <p:cNvSpPr txBox="1"/>
          <p:nvPr/>
        </p:nvSpPr>
        <p:spPr>
          <a:xfrm>
            <a:off x="4849612" y="3710635"/>
            <a:ext cx="2416596" cy="11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(rate, price) =&gt;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(1 - rate);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rate = 0.1;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function discountImpure(price)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1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532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33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534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35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536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537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ЧИСТОТА ФУНКЦИЙ</a:t>
            </a:r>
          </a:p>
        </p:txBody>
      </p:sp>
      <p:sp>
        <p:nvSpPr>
          <p:cNvPr id="538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функция скидки — чистая и нечистая версии</a:t>
            </a:r>
          </a:p>
        </p:txBody>
      </p:sp>
      <p:sp>
        <p:nvSpPr>
          <p:cNvPr id="539" name="lbl_0"/>
          <p:cNvSpPr txBox="1"/>
          <p:nvPr/>
        </p:nvSpPr>
        <p:spPr>
          <a:xfrm>
            <a:off x="355340" y="1810903"/>
            <a:ext cx="80000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540" name="code_0"/>
          <p:cNvSpPr txBox="1"/>
          <p:nvPr/>
        </p:nvSpPr>
        <p:spPr>
          <a:xfrm>
            <a:off x="355342" y="2116975"/>
            <a:ext cx="2344137" cy="15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rate price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t>ref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discount_impure price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:= !rate +.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!rate)</a:t>
            </a:r>
          </a:p>
        </p:txBody>
      </p:sp>
      <p:sp>
        <p:nvSpPr>
          <p:cNvPr id="541" name="lbl_1"/>
          <p:cNvSpPr txBox="1"/>
          <p:nvPr/>
        </p:nvSpPr>
        <p:spPr>
          <a:xfrm>
            <a:off x="2806660" y="1811091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542" name="code_1"/>
          <p:cNvSpPr txBox="1"/>
          <p:nvPr/>
        </p:nvSpPr>
        <p:spPr>
          <a:xfrm>
            <a:off x="2806660" y="2117163"/>
            <a:ext cx="3350005" cy="150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discount(rate: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, price: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):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var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discountImpure(price: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):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 =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543" name="lbl_2"/>
          <p:cNvSpPr txBox="1"/>
          <p:nvPr/>
        </p:nvSpPr>
        <p:spPr>
          <a:xfrm>
            <a:off x="5985766" y="1731434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544" name="code_2"/>
          <p:cNvSpPr txBox="1"/>
          <p:nvPr/>
        </p:nvSpPr>
        <p:spPr>
          <a:xfrm>
            <a:off x="5985764" y="2037506"/>
            <a:ext cx="2740005" cy="15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discount(rate: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, price: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static</a:t>
            </a:r>
            <a:r>
              <a:rPr>
                <a:solidFill>
                  <a:srgbClr val="D0D0D0"/>
                </a:solidFill>
              </a:rPr>
              <a:t> </a:t>
            </a:r>
            <a:r>
              <a:t>mut</a:t>
            </a:r>
            <a:r>
              <a:rPr>
                <a:solidFill>
                  <a:srgbClr val="D0D0D0"/>
                </a:solidFill>
              </a:rPr>
              <a:t> RATE: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= </a:t>
            </a:r>
            <a:r>
              <a:rPr>
                <a:solidFill>
                  <a:srgbClr val="E5C07B"/>
                </a:solidFill>
              </a:rPr>
              <a:t>0.1</a:t>
            </a:r>
            <a:r>
              <a:rPr>
                <a:solidFill>
                  <a:srgbClr val="D0D0D0"/>
                </a:solidFill>
              </a:rPr>
              <a:t>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discount_impure(price: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unsafe</a:t>
            </a:r>
            <a: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RATE +=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545" name="lbl_3"/>
          <p:cNvSpPr txBox="1"/>
          <p:nvPr/>
        </p:nvSpPr>
        <p:spPr>
          <a:xfrm>
            <a:off x="1863918" y="3420678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546" name="code_3"/>
          <p:cNvSpPr txBox="1"/>
          <p:nvPr/>
        </p:nvSpPr>
        <p:spPr>
          <a:xfrm>
            <a:off x="1863918" y="3726745"/>
            <a:ext cx="2148715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discount(rate, price):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return</a:t>
            </a:r>
            <a:r>
              <a:t> price * (</a:t>
            </a:r>
            <a:r>
              <a:rPr>
                <a:solidFill>
                  <a:srgbClr val="E5C07B"/>
                </a:solidFill>
              </a:rPr>
              <a:t>1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rate = </a:t>
            </a:r>
            <a:r>
              <a:rPr>
                <a:solidFill>
                  <a:srgbClr val="E5C07B"/>
                </a:solidFill>
              </a:rPr>
              <a:t>0.1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discount_impure(price):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global</a:t>
            </a:r>
            <a:r>
              <a:t> rate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</a:t>
            </a:r>
            <a:r>
              <a:rPr>
                <a:solidFill>
                  <a:srgbClr val="E5C07B"/>
                </a:solidFill>
              </a:rPr>
              <a:t>0.05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return</a:t>
            </a:r>
            <a:r>
              <a:t> price * (</a:t>
            </a:r>
            <a:r>
              <a:rPr>
                <a:solidFill>
                  <a:srgbClr val="E5C07B"/>
                </a:solidFill>
              </a:rPr>
              <a:t>1</a:t>
            </a:r>
            <a:r>
              <a:t> - rate)</a:t>
            </a:r>
          </a:p>
        </p:txBody>
      </p:sp>
      <p:sp>
        <p:nvSpPr>
          <p:cNvPr id="547" name="lbl_4"/>
          <p:cNvSpPr txBox="1"/>
          <p:nvPr/>
        </p:nvSpPr>
        <p:spPr>
          <a:xfrm>
            <a:off x="4849612" y="3404568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548" name="code_4"/>
          <p:cNvSpPr txBox="1"/>
          <p:nvPr/>
        </p:nvSpPr>
        <p:spPr>
          <a:xfrm>
            <a:off x="4849612" y="3710635"/>
            <a:ext cx="2416596" cy="11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(rate, price) =&gt;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(1 - rate);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rate = 0.1;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function discountImpure(price)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0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551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52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553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54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555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556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ЧИСТОТА ФУНКЦИЙ</a:t>
            </a:r>
          </a:p>
        </p:txBody>
      </p:sp>
      <p:sp>
        <p:nvSpPr>
          <p:cNvPr id="557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функция скидки — чистая и нечистая версии</a:t>
            </a:r>
          </a:p>
        </p:txBody>
      </p:sp>
      <p:sp>
        <p:nvSpPr>
          <p:cNvPr id="558" name="lbl_0"/>
          <p:cNvSpPr txBox="1"/>
          <p:nvPr/>
        </p:nvSpPr>
        <p:spPr>
          <a:xfrm>
            <a:off x="355340" y="1810903"/>
            <a:ext cx="80000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559" name="code_0"/>
          <p:cNvSpPr txBox="1"/>
          <p:nvPr/>
        </p:nvSpPr>
        <p:spPr>
          <a:xfrm>
            <a:off x="355342" y="2116975"/>
            <a:ext cx="2344137" cy="15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rate price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t>ref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discount_impure price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:= !rate +.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!rate)</a:t>
            </a:r>
          </a:p>
        </p:txBody>
      </p:sp>
      <p:sp>
        <p:nvSpPr>
          <p:cNvPr id="560" name="lbl_1"/>
          <p:cNvSpPr txBox="1"/>
          <p:nvPr/>
        </p:nvSpPr>
        <p:spPr>
          <a:xfrm>
            <a:off x="2806660" y="1811091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561" name="code_1"/>
          <p:cNvSpPr txBox="1"/>
          <p:nvPr/>
        </p:nvSpPr>
        <p:spPr>
          <a:xfrm>
            <a:off x="2806660" y="2117163"/>
            <a:ext cx="3350005" cy="150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discount(rate: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, price: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):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var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discountImpure(price: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):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 =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562" name="lbl_2"/>
          <p:cNvSpPr txBox="1"/>
          <p:nvPr/>
        </p:nvSpPr>
        <p:spPr>
          <a:xfrm>
            <a:off x="5985766" y="1731434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563" name="code_2"/>
          <p:cNvSpPr txBox="1"/>
          <p:nvPr/>
        </p:nvSpPr>
        <p:spPr>
          <a:xfrm>
            <a:off x="5985764" y="2037506"/>
            <a:ext cx="2740005" cy="15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discount(rate: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, price: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static</a:t>
            </a:r>
            <a:r>
              <a:rPr>
                <a:solidFill>
                  <a:srgbClr val="D0D0D0"/>
                </a:solidFill>
              </a:rPr>
              <a:t> </a:t>
            </a:r>
            <a:r>
              <a:t>mut</a:t>
            </a:r>
            <a:r>
              <a:rPr>
                <a:solidFill>
                  <a:srgbClr val="D0D0D0"/>
                </a:solidFill>
              </a:rPr>
              <a:t> RATE: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= </a:t>
            </a:r>
            <a:r>
              <a:rPr>
                <a:solidFill>
                  <a:srgbClr val="E5C07B"/>
                </a:solidFill>
              </a:rPr>
              <a:t>0.1</a:t>
            </a:r>
            <a:r>
              <a:rPr>
                <a:solidFill>
                  <a:srgbClr val="D0D0D0"/>
                </a:solidFill>
              </a:rPr>
              <a:t>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discount_impure(price: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unsafe</a:t>
            </a:r>
            <a: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RATE +=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564" name="lbl_3"/>
          <p:cNvSpPr txBox="1"/>
          <p:nvPr/>
        </p:nvSpPr>
        <p:spPr>
          <a:xfrm>
            <a:off x="1863918" y="3420678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565" name="code_3"/>
          <p:cNvSpPr txBox="1"/>
          <p:nvPr/>
        </p:nvSpPr>
        <p:spPr>
          <a:xfrm>
            <a:off x="1863918" y="3726745"/>
            <a:ext cx="2148715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discount(rate, price):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return</a:t>
            </a:r>
            <a:r>
              <a:t> price * (</a:t>
            </a:r>
            <a:r>
              <a:rPr>
                <a:solidFill>
                  <a:srgbClr val="E5C07B"/>
                </a:solidFill>
              </a:rPr>
              <a:t>1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rate = </a:t>
            </a:r>
            <a:r>
              <a:rPr>
                <a:solidFill>
                  <a:srgbClr val="E5C07B"/>
                </a:solidFill>
              </a:rPr>
              <a:t>0.1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discount_impure(price):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global</a:t>
            </a:r>
            <a:r>
              <a:t> rate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</a:t>
            </a:r>
            <a:r>
              <a:rPr>
                <a:solidFill>
                  <a:srgbClr val="E5C07B"/>
                </a:solidFill>
              </a:rPr>
              <a:t>0.05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return</a:t>
            </a:r>
            <a:r>
              <a:t> price * (</a:t>
            </a:r>
            <a:r>
              <a:rPr>
                <a:solidFill>
                  <a:srgbClr val="E5C07B"/>
                </a:solidFill>
              </a:rPr>
              <a:t>1</a:t>
            </a:r>
            <a:r>
              <a:t> - rate)</a:t>
            </a:r>
          </a:p>
        </p:txBody>
      </p:sp>
      <p:sp>
        <p:nvSpPr>
          <p:cNvPr id="566" name="lbl_4"/>
          <p:cNvSpPr txBox="1"/>
          <p:nvPr/>
        </p:nvSpPr>
        <p:spPr>
          <a:xfrm>
            <a:off x="4849612" y="3404568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567" name="code_4"/>
          <p:cNvSpPr txBox="1"/>
          <p:nvPr/>
        </p:nvSpPr>
        <p:spPr>
          <a:xfrm>
            <a:off x="4849612" y="3710635"/>
            <a:ext cx="2416596" cy="11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rPr>
                <a:solidFill>
                  <a:srgbClr val="D0D0D0"/>
                </a:solidFill>
              </a:rPr>
              <a:t> discount = (rate, price) =&gt;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</a:t>
            </a:r>
            <a:r>
              <a:rPr>
                <a:solidFill>
                  <a:srgbClr val="E5C07B"/>
                </a:solidFill>
              </a:rPr>
              <a:t>1</a:t>
            </a:r>
            <a:r>
              <a:t> - rate);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rPr>
                <a:solidFill>
                  <a:srgbClr val="E5C07B"/>
                </a:solidFill>
              </a:rPr>
              <a:t>0.1</a:t>
            </a:r>
            <a:r>
              <a:rPr>
                <a:solidFill>
                  <a:srgbClr val="D0D0D0"/>
                </a:solidFill>
              </a:rPr>
              <a:t>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function</a:t>
            </a:r>
            <a:r>
              <a:rPr>
                <a:solidFill>
                  <a:srgbClr val="D0D0D0"/>
                </a:solidFill>
              </a:rPr>
              <a:t> discountImpure(price)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return</a:t>
            </a:r>
            <a:r>
              <a:t> price * (</a:t>
            </a:r>
            <a:r>
              <a:rPr>
                <a:solidFill>
                  <a:srgbClr val="E5C07B"/>
                </a:solidFill>
              </a:rPr>
              <a:t>1</a:t>
            </a:r>
            <a:r>
              <a:t> - rate);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9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570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71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572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73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574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575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ИММУТАБЕЛЬНОСТЬ</a:t>
            </a:r>
          </a:p>
        </p:txBody>
      </p:sp>
      <p:sp>
        <p:nvSpPr>
          <p:cNvPr id="576" name="bullets"/>
          <p:cNvSpPr txBox="1"/>
          <p:nvPr/>
        </p:nvSpPr>
        <p:spPr>
          <a:xfrm>
            <a:off x="381660" y="1562944"/>
            <a:ext cx="7165165" cy="18495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const / val — запрет перезаписи переменной. Иммутабельность —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запрет мутации самого значения.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Гарантия: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компилятором</a:t>
            </a:r>
            <a:r>
              <a:t> (OCaml let, Rust let) /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соглашением</a:t>
            </a:r>
            <a:r>
              <a:t> (Scala val) /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опционально</a:t>
            </a:r>
            <a:r>
              <a:t> (Python frozen=True, JS Object.freeze).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Persistent data structures: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structural sharing</a:t>
            </a:r>
            <a:r>
              <a:t>. Обновление поля —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O(log n), не O(n).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8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579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80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581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82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583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584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ИММУТАБЕЛЬНОСТЬ</a:t>
            </a:r>
          </a:p>
        </p:txBody>
      </p:sp>
      <p:sp>
        <p:nvSpPr>
          <p:cNvPr id="585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обновить одно поле записи без изменения оригинала</a:t>
            </a:r>
          </a:p>
        </p:txBody>
      </p:sp>
      <p:sp>
        <p:nvSpPr>
          <p:cNvPr id="586" name="lbl_0"/>
          <p:cNvSpPr txBox="1"/>
          <p:nvPr/>
        </p:nvSpPr>
        <p:spPr>
          <a:xfrm>
            <a:off x="355340" y="1810903"/>
            <a:ext cx="80000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587" name="code_0"/>
          <p:cNvSpPr txBox="1"/>
          <p:nvPr/>
        </p:nvSpPr>
        <p:spPr>
          <a:xfrm>
            <a:off x="355342" y="2116975"/>
            <a:ext cx="2344137" cy="77373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type user = { name: string; age: int }</a:t>
            </a:r>
          </a:p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user = { name = "Alice"; age = 30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older = { user with age = 31 }</a:t>
            </a:r>
          </a:p>
        </p:txBody>
      </p:sp>
      <p:sp>
        <p:nvSpPr>
          <p:cNvPr id="588" name="lbl_1"/>
          <p:cNvSpPr txBox="1"/>
          <p:nvPr/>
        </p:nvSpPr>
        <p:spPr>
          <a:xfrm>
            <a:off x="2806660" y="1811091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589" name="code_1"/>
          <p:cNvSpPr txBox="1"/>
          <p:nvPr/>
        </p:nvSpPr>
        <p:spPr>
          <a:xfrm>
            <a:off x="2806660" y="2117163"/>
            <a:ext cx="2740003" cy="90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case class User(name: String, age: Int)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user = User("Alice", 30)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older = user.copy(age = 31)</a:t>
            </a:r>
          </a:p>
        </p:txBody>
      </p:sp>
      <p:sp>
        <p:nvSpPr>
          <p:cNvPr id="590" name="lbl_2"/>
          <p:cNvSpPr txBox="1"/>
          <p:nvPr/>
        </p:nvSpPr>
        <p:spPr>
          <a:xfrm>
            <a:off x="5985766" y="1731434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591" name="code_2"/>
          <p:cNvSpPr txBox="1"/>
          <p:nvPr/>
        </p:nvSpPr>
        <p:spPr>
          <a:xfrm>
            <a:off x="5985766" y="2037506"/>
            <a:ext cx="3071319" cy="12199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struct User { name: String, age: u32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user = User { name: "Alice".into(), age: 30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older = User { age: 31, ..user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mut draft = User { name: "Bob".into(), age: 25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draft.age = 26;</a:t>
            </a:r>
          </a:p>
        </p:txBody>
      </p:sp>
      <p:sp>
        <p:nvSpPr>
          <p:cNvPr id="592" name="lbl_3"/>
          <p:cNvSpPr txBox="1"/>
          <p:nvPr/>
        </p:nvSpPr>
        <p:spPr>
          <a:xfrm>
            <a:off x="1863918" y="3420678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593" name="code_3"/>
          <p:cNvSpPr txBox="1"/>
          <p:nvPr/>
        </p:nvSpPr>
        <p:spPr>
          <a:xfrm>
            <a:off x="1863918" y="3726745"/>
            <a:ext cx="2476638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 dataclasses import dataclass, replace</a:t>
            </a:r>
          </a:p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@dataclass(frozen=True)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class User: name: str; age: int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user = User("Alice", 30)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older = replace(user, age=31)</a:t>
            </a:r>
          </a:p>
        </p:txBody>
      </p:sp>
      <p:sp>
        <p:nvSpPr>
          <p:cNvPr id="594" name="lbl_4"/>
          <p:cNvSpPr txBox="1"/>
          <p:nvPr/>
        </p:nvSpPr>
        <p:spPr>
          <a:xfrm>
            <a:off x="4849612" y="3404568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595" name="code_4"/>
          <p:cNvSpPr txBox="1"/>
          <p:nvPr/>
        </p:nvSpPr>
        <p:spPr>
          <a:xfrm>
            <a:off x="4849612" y="3710635"/>
            <a:ext cx="3072311" cy="11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"use strict";</a:t>
            </a:r>
          </a:p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user = Object.freeze({ name: "Alice", age: 30 });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older = { ...user, age: 31 };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7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598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99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600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01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602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603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ИММУТАБЕЛЬНОСТЬ</a:t>
            </a:r>
          </a:p>
        </p:txBody>
      </p:sp>
      <p:sp>
        <p:nvSpPr>
          <p:cNvPr id="604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обновить одно поле записи без изменения оригинала</a:t>
            </a:r>
          </a:p>
        </p:txBody>
      </p:sp>
      <p:sp>
        <p:nvSpPr>
          <p:cNvPr id="605" name="lbl_0"/>
          <p:cNvSpPr txBox="1"/>
          <p:nvPr/>
        </p:nvSpPr>
        <p:spPr>
          <a:xfrm>
            <a:off x="355340" y="1810903"/>
            <a:ext cx="80000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606" name="code_0"/>
          <p:cNvSpPr txBox="1"/>
          <p:nvPr/>
        </p:nvSpPr>
        <p:spPr>
          <a:xfrm>
            <a:off x="355342" y="2116975"/>
            <a:ext cx="2344137" cy="77373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type</a:t>
            </a:r>
            <a:r>
              <a:rPr>
                <a:solidFill>
                  <a:srgbClr val="D0D0D0"/>
                </a:solidFill>
              </a:rPr>
              <a:t> user = { 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; age: 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 }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user = { name = 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; age =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older = { user </a:t>
            </a:r>
            <a:r>
              <a:t>with</a:t>
            </a:r>
            <a:r>
              <a:rPr>
                <a:solidFill>
                  <a:srgbClr val="D0D0D0"/>
                </a:solidFill>
              </a:rPr>
              <a:t> age =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 }</a:t>
            </a:r>
          </a:p>
        </p:txBody>
      </p:sp>
      <p:sp>
        <p:nvSpPr>
          <p:cNvPr id="607" name="lbl_1"/>
          <p:cNvSpPr txBox="1"/>
          <p:nvPr/>
        </p:nvSpPr>
        <p:spPr>
          <a:xfrm>
            <a:off x="2806660" y="1811091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608" name="code_1"/>
          <p:cNvSpPr txBox="1"/>
          <p:nvPr/>
        </p:nvSpPr>
        <p:spPr>
          <a:xfrm>
            <a:off x="2806660" y="2117163"/>
            <a:ext cx="2740003" cy="90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case class User(name: String, age: Int)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user = User("Alice", 30)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older = user.copy(age = 31)</a:t>
            </a:r>
          </a:p>
        </p:txBody>
      </p:sp>
      <p:sp>
        <p:nvSpPr>
          <p:cNvPr id="609" name="lbl_2"/>
          <p:cNvSpPr txBox="1"/>
          <p:nvPr/>
        </p:nvSpPr>
        <p:spPr>
          <a:xfrm>
            <a:off x="5985766" y="1731434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610" name="code_2"/>
          <p:cNvSpPr txBox="1"/>
          <p:nvPr/>
        </p:nvSpPr>
        <p:spPr>
          <a:xfrm>
            <a:off x="5985766" y="2037506"/>
            <a:ext cx="3071319" cy="12199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struct User { name: String, age: u32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user = User { name: "Alice".into(), age: 30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older = User { age: 31, ..user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mut draft = User { name: "Bob".into(), age: 25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draft.age = 26;</a:t>
            </a:r>
          </a:p>
        </p:txBody>
      </p:sp>
      <p:sp>
        <p:nvSpPr>
          <p:cNvPr id="611" name="lbl_3"/>
          <p:cNvSpPr txBox="1"/>
          <p:nvPr/>
        </p:nvSpPr>
        <p:spPr>
          <a:xfrm>
            <a:off x="1863918" y="3420678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612" name="code_3"/>
          <p:cNvSpPr txBox="1"/>
          <p:nvPr/>
        </p:nvSpPr>
        <p:spPr>
          <a:xfrm>
            <a:off x="1863918" y="3726745"/>
            <a:ext cx="2476638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 dataclasses import dataclass, replace</a:t>
            </a:r>
          </a:p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@dataclass(frozen=True)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class User: name: str; age: int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user = User("Alice", 30)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older = replace(user, age=31)</a:t>
            </a:r>
          </a:p>
        </p:txBody>
      </p:sp>
      <p:sp>
        <p:nvSpPr>
          <p:cNvPr id="613" name="lbl_4"/>
          <p:cNvSpPr txBox="1"/>
          <p:nvPr/>
        </p:nvSpPr>
        <p:spPr>
          <a:xfrm>
            <a:off x="4849612" y="3404568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614" name="code_4"/>
          <p:cNvSpPr txBox="1"/>
          <p:nvPr/>
        </p:nvSpPr>
        <p:spPr>
          <a:xfrm>
            <a:off x="4849612" y="3710635"/>
            <a:ext cx="3072311" cy="11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"use strict";</a:t>
            </a:r>
          </a:p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user = Object.freeze({ name: "Alice", age: 30 });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older = { ...user, age: 31 };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6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617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18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619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20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621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622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ИММУТАБЕЛЬНОСТЬ</a:t>
            </a:r>
          </a:p>
        </p:txBody>
      </p:sp>
      <p:sp>
        <p:nvSpPr>
          <p:cNvPr id="623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обновить одно поле записи без изменения оригинала</a:t>
            </a:r>
          </a:p>
        </p:txBody>
      </p:sp>
      <p:sp>
        <p:nvSpPr>
          <p:cNvPr id="624" name="lbl_0"/>
          <p:cNvSpPr txBox="1"/>
          <p:nvPr/>
        </p:nvSpPr>
        <p:spPr>
          <a:xfrm>
            <a:off x="355340" y="1810903"/>
            <a:ext cx="80000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625" name="code_0"/>
          <p:cNvSpPr txBox="1"/>
          <p:nvPr/>
        </p:nvSpPr>
        <p:spPr>
          <a:xfrm>
            <a:off x="355342" y="2116975"/>
            <a:ext cx="2344137" cy="77373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type</a:t>
            </a:r>
            <a:r>
              <a:rPr>
                <a:solidFill>
                  <a:srgbClr val="D0D0D0"/>
                </a:solidFill>
              </a:rPr>
              <a:t> user = { 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; age: 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 }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user = { name = 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; age =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older = { user </a:t>
            </a:r>
            <a:r>
              <a:t>with</a:t>
            </a:r>
            <a:r>
              <a:rPr>
                <a:solidFill>
                  <a:srgbClr val="D0D0D0"/>
                </a:solidFill>
              </a:rPr>
              <a:t> age =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 }</a:t>
            </a:r>
          </a:p>
        </p:txBody>
      </p:sp>
      <p:sp>
        <p:nvSpPr>
          <p:cNvPr id="626" name="lbl_1"/>
          <p:cNvSpPr txBox="1"/>
          <p:nvPr/>
        </p:nvSpPr>
        <p:spPr>
          <a:xfrm>
            <a:off x="2806660" y="1811091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627" name="code_1"/>
          <p:cNvSpPr txBox="1"/>
          <p:nvPr/>
        </p:nvSpPr>
        <p:spPr>
          <a:xfrm>
            <a:off x="2806660" y="2117163"/>
            <a:ext cx="2740003" cy="90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case class</a:t>
            </a:r>
            <a:r>
              <a:rPr>
                <a:solidFill>
                  <a:srgbClr val="D0D0D0"/>
                </a:solidFill>
              </a:rPr>
              <a:t> User(name: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, age: 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user = User(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,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older = user.copy(age =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)</a:t>
            </a:r>
          </a:p>
        </p:txBody>
      </p:sp>
      <p:sp>
        <p:nvSpPr>
          <p:cNvPr id="628" name="lbl_2"/>
          <p:cNvSpPr txBox="1"/>
          <p:nvPr/>
        </p:nvSpPr>
        <p:spPr>
          <a:xfrm>
            <a:off x="5985766" y="1731434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629" name="code_2"/>
          <p:cNvSpPr txBox="1"/>
          <p:nvPr/>
        </p:nvSpPr>
        <p:spPr>
          <a:xfrm>
            <a:off x="5985766" y="2037506"/>
            <a:ext cx="3071319" cy="12199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struct User { name: String, age: u32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user = User { name: "Alice".into(), age: 30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older = User { age: 31, ..user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mut draft = User { name: "Bob".into(), age: 25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draft.age = 26;</a:t>
            </a:r>
          </a:p>
        </p:txBody>
      </p:sp>
      <p:sp>
        <p:nvSpPr>
          <p:cNvPr id="630" name="lbl_3"/>
          <p:cNvSpPr txBox="1"/>
          <p:nvPr/>
        </p:nvSpPr>
        <p:spPr>
          <a:xfrm>
            <a:off x="1863918" y="3420678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631" name="code_3"/>
          <p:cNvSpPr txBox="1"/>
          <p:nvPr/>
        </p:nvSpPr>
        <p:spPr>
          <a:xfrm>
            <a:off x="1863918" y="3726745"/>
            <a:ext cx="2476638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 dataclasses import dataclass, replace</a:t>
            </a:r>
          </a:p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@dataclass(frozen=True)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class User: name: str; age: int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user = User("Alice", 30)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older = replace(user, age=31)</a:t>
            </a:r>
          </a:p>
        </p:txBody>
      </p:sp>
      <p:sp>
        <p:nvSpPr>
          <p:cNvPr id="632" name="lbl_4"/>
          <p:cNvSpPr txBox="1"/>
          <p:nvPr/>
        </p:nvSpPr>
        <p:spPr>
          <a:xfrm>
            <a:off x="4849612" y="3404568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633" name="code_4"/>
          <p:cNvSpPr txBox="1"/>
          <p:nvPr/>
        </p:nvSpPr>
        <p:spPr>
          <a:xfrm>
            <a:off x="4849612" y="3710635"/>
            <a:ext cx="3072311" cy="11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"use strict";</a:t>
            </a:r>
          </a:p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user = Object.freeze({ name: "Alice", age: 30 });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older = { ...user, age: 31 };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5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636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37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638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39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640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641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ИММУТАБЕЛЬНОСТЬ</a:t>
            </a:r>
          </a:p>
        </p:txBody>
      </p:sp>
      <p:sp>
        <p:nvSpPr>
          <p:cNvPr id="642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обновить одно поле записи без изменения оригинала</a:t>
            </a:r>
          </a:p>
        </p:txBody>
      </p:sp>
      <p:sp>
        <p:nvSpPr>
          <p:cNvPr id="643" name="lbl_0"/>
          <p:cNvSpPr txBox="1"/>
          <p:nvPr/>
        </p:nvSpPr>
        <p:spPr>
          <a:xfrm>
            <a:off x="355340" y="1810903"/>
            <a:ext cx="80000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644" name="code_0"/>
          <p:cNvSpPr txBox="1"/>
          <p:nvPr/>
        </p:nvSpPr>
        <p:spPr>
          <a:xfrm>
            <a:off x="355342" y="2116975"/>
            <a:ext cx="2344137" cy="77373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type</a:t>
            </a:r>
            <a:r>
              <a:rPr>
                <a:solidFill>
                  <a:srgbClr val="D0D0D0"/>
                </a:solidFill>
              </a:rPr>
              <a:t> user = { 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; age: 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 }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user = { name = 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; age =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older = { user </a:t>
            </a:r>
            <a:r>
              <a:t>with</a:t>
            </a:r>
            <a:r>
              <a:rPr>
                <a:solidFill>
                  <a:srgbClr val="D0D0D0"/>
                </a:solidFill>
              </a:rPr>
              <a:t> age =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 }</a:t>
            </a:r>
          </a:p>
        </p:txBody>
      </p:sp>
      <p:sp>
        <p:nvSpPr>
          <p:cNvPr id="645" name="lbl_1"/>
          <p:cNvSpPr txBox="1"/>
          <p:nvPr/>
        </p:nvSpPr>
        <p:spPr>
          <a:xfrm>
            <a:off x="2806660" y="1811091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646" name="code_1"/>
          <p:cNvSpPr txBox="1"/>
          <p:nvPr/>
        </p:nvSpPr>
        <p:spPr>
          <a:xfrm>
            <a:off x="2806660" y="2117163"/>
            <a:ext cx="2740003" cy="90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case class</a:t>
            </a:r>
            <a:r>
              <a:rPr>
                <a:solidFill>
                  <a:srgbClr val="D0D0D0"/>
                </a:solidFill>
              </a:rPr>
              <a:t> User(name: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, age: 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user = User(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,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older = user.copy(age =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)</a:t>
            </a:r>
          </a:p>
        </p:txBody>
      </p:sp>
      <p:sp>
        <p:nvSpPr>
          <p:cNvPr id="647" name="lbl_2"/>
          <p:cNvSpPr txBox="1"/>
          <p:nvPr/>
        </p:nvSpPr>
        <p:spPr>
          <a:xfrm>
            <a:off x="5985766" y="1731434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648" name="code_2"/>
          <p:cNvSpPr txBox="1"/>
          <p:nvPr/>
        </p:nvSpPr>
        <p:spPr>
          <a:xfrm>
            <a:off x="5985766" y="2037506"/>
            <a:ext cx="3071319" cy="12199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struct</a:t>
            </a:r>
            <a:r>
              <a:rPr>
                <a:solidFill>
                  <a:srgbClr val="D0D0D0"/>
                </a:solidFill>
              </a:rPr>
              <a:t> User { 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, age: </a:t>
            </a:r>
            <a:r>
              <a:rPr>
                <a:solidFill>
                  <a:srgbClr val="61AFEF"/>
                </a:solidFill>
              </a:rPr>
              <a:t>u32</a:t>
            </a:r>
            <a:r>
              <a:rPr>
                <a:solidFill>
                  <a:srgbClr val="D0D0D0"/>
                </a:solidFill>
              </a:rPr>
              <a:t>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user = User { name: 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.into(), age: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older = User { age: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, ..user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</a:t>
            </a:r>
            <a:r>
              <a:t>mut</a:t>
            </a:r>
            <a:r>
              <a:rPr>
                <a:solidFill>
                  <a:srgbClr val="D0D0D0"/>
                </a:solidFill>
              </a:rPr>
              <a:t> draft = User { name: </a:t>
            </a:r>
            <a:r>
              <a:rPr>
                <a:solidFill>
                  <a:srgbClr val="E5C07B"/>
                </a:solidFill>
              </a:rPr>
              <a:t>"Bob"</a:t>
            </a:r>
            <a:r>
              <a:rPr>
                <a:solidFill>
                  <a:srgbClr val="D0D0D0"/>
                </a:solidFill>
              </a:rPr>
              <a:t>.into(), age: </a:t>
            </a:r>
            <a:r>
              <a:rPr>
                <a:solidFill>
                  <a:srgbClr val="E5C07B"/>
                </a:solidFill>
              </a:rPr>
              <a:t>25</a:t>
            </a:r>
            <a:r>
              <a:rPr>
                <a:solidFill>
                  <a:srgbClr val="D0D0D0"/>
                </a:solidFill>
              </a:rPr>
              <a:t>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draft.age = </a:t>
            </a:r>
            <a:r>
              <a:rPr>
                <a:solidFill>
                  <a:srgbClr val="E5C07B"/>
                </a:solidFill>
              </a:rPr>
              <a:t>26</a:t>
            </a:r>
            <a:r>
              <a:t>;</a:t>
            </a:r>
          </a:p>
        </p:txBody>
      </p:sp>
      <p:sp>
        <p:nvSpPr>
          <p:cNvPr id="649" name="lbl_3"/>
          <p:cNvSpPr txBox="1"/>
          <p:nvPr/>
        </p:nvSpPr>
        <p:spPr>
          <a:xfrm>
            <a:off x="1863918" y="3420678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650" name="code_3"/>
          <p:cNvSpPr txBox="1"/>
          <p:nvPr/>
        </p:nvSpPr>
        <p:spPr>
          <a:xfrm>
            <a:off x="1863918" y="3726745"/>
            <a:ext cx="2476638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 dataclasses import dataclass, replace</a:t>
            </a:r>
          </a:p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@dataclass(frozen=True)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class User: name: str; age: int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user = User("Alice", 30)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older = replace(user, age=31)</a:t>
            </a:r>
          </a:p>
        </p:txBody>
      </p:sp>
      <p:sp>
        <p:nvSpPr>
          <p:cNvPr id="651" name="lbl_4"/>
          <p:cNvSpPr txBox="1"/>
          <p:nvPr/>
        </p:nvSpPr>
        <p:spPr>
          <a:xfrm>
            <a:off x="4849612" y="3404568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652" name="code_4"/>
          <p:cNvSpPr txBox="1"/>
          <p:nvPr/>
        </p:nvSpPr>
        <p:spPr>
          <a:xfrm>
            <a:off x="4849612" y="3710635"/>
            <a:ext cx="3072311" cy="11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"use strict";</a:t>
            </a:r>
          </a:p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user = Object.freeze({ name: "Alice", age: 30 });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older = { ...user, age: 31 };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4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655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56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657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58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659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660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ИММУТАБЕЛЬНОСТЬ</a:t>
            </a:r>
          </a:p>
        </p:txBody>
      </p:sp>
      <p:sp>
        <p:nvSpPr>
          <p:cNvPr id="661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обновить одно поле записи без изменения оригинала</a:t>
            </a:r>
          </a:p>
        </p:txBody>
      </p:sp>
      <p:sp>
        <p:nvSpPr>
          <p:cNvPr id="662" name="lbl_0"/>
          <p:cNvSpPr txBox="1"/>
          <p:nvPr/>
        </p:nvSpPr>
        <p:spPr>
          <a:xfrm>
            <a:off x="355340" y="1810903"/>
            <a:ext cx="80000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663" name="code_0"/>
          <p:cNvSpPr txBox="1"/>
          <p:nvPr/>
        </p:nvSpPr>
        <p:spPr>
          <a:xfrm>
            <a:off x="355342" y="2116975"/>
            <a:ext cx="2344137" cy="77373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type</a:t>
            </a:r>
            <a:r>
              <a:rPr>
                <a:solidFill>
                  <a:srgbClr val="D0D0D0"/>
                </a:solidFill>
              </a:rPr>
              <a:t> user = { 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; age: 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 }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user = { name = 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; age =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older = { user </a:t>
            </a:r>
            <a:r>
              <a:t>with</a:t>
            </a:r>
            <a:r>
              <a:rPr>
                <a:solidFill>
                  <a:srgbClr val="D0D0D0"/>
                </a:solidFill>
              </a:rPr>
              <a:t> age =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 }</a:t>
            </a:r>
          </a:p>
        </p:txBody>
      </p:sp>
      <p:sp>
        <p:nvSpPr>
          <p:cNvPr id="664" name="lbl_1"/>
          <p:cNvSpPr txBox="1"/>
          <p:nvPr/>
        </p:nvSpPr>
        <p:spPr>
          <a:xfrm>
            <a:off x="2806660" y="1811091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665" name="code_1"/>
          <p:cNvSpPr txBox="1"/>
          <p:nvPr/>
        </p:nvSpPr>
        <p:spPr>
          <a:xfrm>
            <a:off x="2806660" y="2117163"/>
            <a:ext cx="2740003" cy="90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case class</a:t>
            </a:r>
            <a:r>
              <a:rPr>
                <a:solidFill>
                  <a:srgbClr val="D0D0D0"/>
                </a:solidFill>
              </a:rPr>
              <a:t> User(name: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, age: 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user = User(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,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older = user.copy(age =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)</a:t>
            </a:r>
          </a:p>
        </p:txBody>
      </p:sp>
      <p:sp>
        <p:nvSpPr>
          <p:cNvPr id="666" name="lbl_2"/>
          <p:cNvSpPr txBox="1"/>
          <p:nvPr/>
        </p:nvSpPr>
        <p:spPr>
          <a:xfrm>
            <a:off x="5985766" y="1731434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667" name="code_2"/>
          <p:cNvSpPr txBox="1"/>
          <p:nvPr/>
        </p:nvSpPr>
        <p:spPr>
          <a:xfrm>
            <a:off x="5985766" y="2037506"/>
            <a:ext cx="3071319" cy="12199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struct</a:t>
            </a:r>
            <a:r>
              <a:rPr>
                <a:solidFill>
                  <a:srgbClr val="D0D0D0"/>
                </a:solidFill>
              </a:rPr>
              <a:t> User { 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, age: </a:t>
            </a:r>
            <a:r>
              <a:rPr>
                <a:solidFill>
                  <a:srgbClr val="61AFEF"/>
                </a:solidFill>
              </a:rPr>
              <a:t>u32</a:t>
            </a:r>
            <a:r>
              <a:rPr>
                <a:solidFill>
                  <a:srgbClr val="D0D0D0"/>
                </a:solidFill>
              </a:rPr>
              <a:t>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user = User { name: 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.into(), age: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older = User { age: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, ..user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</a:t>
            </a:r>
            <a:r>
              <a:t>mut</a:t>
            </a:r>
            <a:r>
              <a:rPr>
                <a:solidFill>
                  <a:srgbClr val="D0D0D0"/>
                </a:solidFill>
              </a:rPr>
              <a:t> draft = User { name: </a:t>
            </a:r>
            <a:r>
              <a:rPr>
                <a:solidFill>
                  <a:srgbClr val="E5C07B"/>
                </a:solidFill>
              </a:rPr>
              <a:t>"Bob"</a:t>
            </a:r>
            <a:r>
              <a:rPr>
                <a:solidFill>
                  <a:srgbClr val="D0D0D0"/>
                </a:solidFill>
              </a:rPr>
              <a:t>.into(), age: </a:t>
            </a:r>
            <a:r>
              <a:rPr>
                <a:solidFill>
                  <a:srgbClr val="E5C07B"/>
                </a:solidFill>
              </a:rPr>
              <a:t>25</a:t>
            </a:r>
            <a:r>
              <a:rPr>
                <a:solidFill>
                  <a:srgbClr val="D0D0D0"/>
                </a:solidFill>
              </a:rPr>
              <a:t>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draft.age = </a:t>
            </a:r>
            <a:r>
              <a:rPr>
                <a:solidFill>
                  <a:srgbClr val="E5C07B"/>
                </a:solidFill>
              </a:rPr>
              <a:t>26</a:t>
            </a:r>
            <a:r>
              <a:t>;</a:t>
            </a:r>
          </a:p>
        </p:txBody>
      </p:sp>
      <p:sp>
        <p:nvSpPr>
          <p:cNvPr id="668" name="lbl_3"/>
          <p:cNvSpPr txBox="1"/>
          <p:nvPr/>
        </p:nvSpPr>
        <p:spPr>
          <a:xfrm>
            <a:off x="1863918" y="3420678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669" name="code_3"/>
          <p:cNvSpPr txBox="1"/>
          <p:nvPr/>
        </p:nvSpPr>
        <p:spPr>
          <a:xfrm>
            <a:off x="1863918" y="3726745"/>
            <a:ext cx="2476638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</a:t>
            </a:r>
            <a:r>
              <a:rPr>
                <a:solidFill>
                  <a:srgbClr val="D0D0D0"/>
                </a:solidFill>
              </a:rPr>
              <a:t> dataclasses </a:t>
            </a:r>
            <a:r>
              <a:t>import</a:t>
            </a:r>
            <a:r>
              <a:rPr>
                <a:solidFill>
                  <a:srgbClr val="D0D0D0"/>
                </a:solidFill>
              </a:rPr>
              <a:t> dataclass, replace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@</a:t>
            </a:r>
            <a:r>
              <a:rPr>
                <a:solidFill>
                  <a:srgbClr val="61AFEF"/>
                </a:solidFill>
              </a:rPr>
              <a:t>dataclass</a:t>
            </a:r>
            <a:r>
              <a:t>(frozen=</a:t>
            </a:r>
            <a:r>
              <a:rPr>
                <a:solidFill>
                  <a:srgbClr val="E06C75"/>
                </a:solidFill>
              </a:rPr>
              <a:t>True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class</a:t>
            </a:r>
            <a:r>
              <a:rPr>
                <a:solidFill>
                  <a:srgbClr val="D0D0D0"/>
                </a:solidFill>
              </a:rPr>
              <a:t> User: name: </a:t>
            </a:r>
            <a:r>
              <a:rPr>
                <a:solidFill>
                  <a:srgbClr val="61AFEF"/>
                </a:solidFill>
              </a:rPr>
              <a:t>str</a:t>
            </a:r>
            <a:r>
              <a:rPr>
                <a:solidFill>
                  <a:srgbClr val="D0D0D0"/>
                </a:solidFill>
              </a:rPr>
              <a:t>; age: </a:t>
            </a:r>
            <a:r>
              <a:rPr>
                <a:solidFill>
                  <a:srgbClr val="61AFEF"/>
                </a:solidFill>
              </a:rPr>
              <a:t>int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user = User(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t>, </a:t>
            </a:r>
            <a:r>
              <a:rPr>
                <a:solidFill>
                  <a:srgbClr val="E5C07B"/>
                </a:solidFill>
              </a:rPr>
              <a:t>30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older = replace(user, age=</a:t>
            </a:r>
            <a:r>
              <a:rPr>
                <a:solidFill>
                  <a:srgbClr val="E5C07B"/>
                </a:solidFill>
              </a:rPr>
              <a:t>31</a:t>
            </a:r>
            <a:r>
              <a:t>)</a:t>
            </a:r>
          </a:p>
        </p:txBody>
      </p:sp>
      <p:sp>
        <p:nvSpPr>
          <p:cNvPr id="670" name="lbl_4"/>
          <p:cNvSpPr txBox="1"/>
          <p:nvPr/>
        </p:nvSpPr>
        <p:spPr>
          <a:xfrm>
            <a:off x="4849612" y="3404568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671" name="code_4"/>
          <p:cNvSpPr txBox="1"/>
          <p:nvPr/>
        </p:nvSpPr>
        <p:spPr>
          <a:xfrm>
            <a:off x="4849612" y="3710635"/>
            <a:ext cx="3072311" cy="11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"use strict";</a:t>
            </a:r>
          </a:p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user = Object.freeze({ name: "Alice", age: 30 });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older = { ...user, age: 31 };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3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674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75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676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77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678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679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ИММУТАБЕЛЬНОСТЬ</a:t>
            </a:r>
          </a:p>
        </p:txBody>
      </p:sp>
      <p:sp>
        <p:nvSpPr>
          <p:cNvPr id="680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обновить одно поле записи без изменения оригинала</a:t>
            </a:r>
          </a:p>
        </p:txBody>
      </p:sp>
      <p:sp>
        <p:nvSpPr>
          <p:cNvPr id="681" name="lbl_0"/>
          <p:cNvSpPr txBox="1"/>
          <p:nvPr/>
        </p:nvSpPr>
        <p:spPr>
          <a:xfrm>
            <a:off x="355340" y="1810903"/>
            <a:ext cx="80000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682" name="code_0"/>
          <p:cNvSpPr txBox="1"/>
          <p:nvPr/>
        </p:nvSpPr>
        <p:spPr>
          <a:xfrm>
            <a:off x="355342" y="2116975"/>
            <a:ext cx="2344137" cy="77373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type</a:t>
            </a:r>
            <a:r>
              <a:rPr>
                <a:solidFill>
                  <a:srgbClr val="D0D0D0"/>
                </a:solidFill>
              </a:rPr>
              <a:t> user = { 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; age: 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 }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user = { name = 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; age =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older = { user </a:t>
            </a:r>
            <a:r>
              <a:t>with</a:t>
            </a:r>
            <a:r>
              <a:rPr>
                <a:solidFill>
                  <a:srgbClr val="D0D0D0"/>
                </a:solidFill>
              </a:rPr>
              <a:t> age =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 }</a:t>
            </a:r>
          </a:p>
        </p:txBody>
      </p:sp>
      <p:sp>
        <p:nvSpPr>
          <p:cNvPr id="683" name="lbl_1"/>
          <p:cNvSpPr txBox="1"/>
          <p:nvPr/>
        </p:nvSpPr>
        <p:spPr>
          <a:xfrm>
            <a:off x="2806660" y="1811091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684" name="code_1"/>
          <p:cNvSpPr txBox="1"/>
          <p:nvPr/>
        </p:nvSpPr>
        <p:spPr>
          <a:xfrm>
            <a:off x="2806660" y="2117163"/>
            <a:ext cx="2740003" cy="90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case class</a:t>
            </a:r>
            <a:r>
              <a:rPr>
                <a:solidFill>
                  <a:srgbClr val="D0D0D0"/>
                </a:solidFill>
              </a:rPr>
              <a:t> User(name: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, age: 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user = User(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,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older = user.copy(age =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)</a:t>
            </a:r>
          </a:p>
        </p:txBody>
      </p:sp>
      <p:sp>
        <p:nvSpPr>
          <p:cNvPr id="685" name="lbl_2"/>
          <p:cNvSpPr txBox="1"/>
          <p:nvPr/>
        </p:nvSpPr>
        <p:spPr>
          <a:xfrm>
            <a:off x="5985766" y="1731434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686" name="code_2"/>
          <p:cNvSpPr txBox="1"/>
          <p:nvPr/>
        </p:nvSpPr>
        <p:spPr>
          <a:xfrm>
            <a:off x="5985766" y="2037506"/>
            <a:ext cx="3071319" cy="12199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struct</a:t>
            </a:r>
            <a:r>
              <a:rPr>
                <a:solidFill>
                  <a:srgbClr val="D0D0D0"/>
                </a:solidFill>
              </a:rPr>
              <a:t> User { 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, age: </a:t>
            </a:r>
            <a:r>
              <a:rPr>
                <a:solidFill>
                  <a:srgbClr val="61AFEF"/>
                </a:solidFill>
              </a:rPr>
              <a:t>u32</a:t>
            </a:r>
            <a:r>
              <a:rPr>
                <a:solidFill>
                  <a:srgbClr val="D0D0D0"/>
                </a:solidFill>
              </a:rPr>
              <a:t>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user = User { name: 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.into(), age: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older = User { age: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, ..user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</a:t>
            </a:r>
            <a:r>
              <a:t>mut</a:t>
            </a:r>
            <a:r>
              <a:rPr>
                <a:solidFill>
                  <a:srgbClr val="D0D0D0"/>
                </a:solidFill>
              </a:rPr>
              <a:t> draft = User { name: </a:t>
            </a:r>
            <a:r>
              <a:rPr>
                <a:solidFill>
                  <a:srgbClr val="E5C07B"/>
                </a:solidFill>
              </a:rPr>
              <a:t>"Bob"</a:t>
            </a:r>
            <a:r>
              <a:rPr>
                <a:solidFill>
                  <a:srgbClr val="D0D0D0"/>
                </a:solidFill>
              </a:rPr>
              <a:t>.into(), age: </a:t>
            </a:r>
            <a:r>
              <a:rPr>
                <a:solidFill>
                  <a:srgbClr val="E5C07B"/>
                </a:solidFill>
              </a:rPr>
              <a:t>25</a:t>
            </a:r>
            <a:r>
              <a:rPr>
                <a:solidFill>
                  <a:srgbClr val="D0D0D0"/>
                </a:solidFill>
              </a:rPr>
              <a:t>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draft.age = </a:t>
            </a:r>
            <a:r>
              <a:rPr>
                <a:solidFill>
                  <a:srgbClr val="E5C07B"/>
                </a:solidFill>
              </a:rPr>
              <a:t>26</a:t>
            </a:r>
            <a:r>
              <a:t>;</a:t>
            </a:r>
          </a:p>
        </p:txBody>
      </p:sp>
      <p:sp>
        <p:nvSpPr>
          <p:cNvPr id="687" name="lbl_3"/>
          <p:cNvSpPr txBox="1"/>
          <p:nvPr/>
        </p:nvSpPr>
        <p:spPr>
          <a:xfrm>
            <a:off x="1863918" y="3420678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688" name="code_3"/>
          <p:cNvSpPr txBox="1"/>
          <p:nvPr/>
        </p:nvSpPr>
        <p:spPr>
          <a:xfrm>
            <a:off x="1863918" y="3726745"/>
            <a:ext cx="2476638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</a:t>
            </a:r>
            <a:r>
              <a:rPr>
                <a:solidFill>
                  <a:srgbClr val="D0D0D0"/>
                </a:solidFill>
              </a:rPr>
              <a:t> dataclasses </a:t>
            </a:r>
            <a:r>
              <a:t>import</a:t>
            </a:r>
            <a:r>
              <a:rPr>
                <a:solidFill>
                  <a:srgbClr val="D0D0D0"/>
                </a:solidFill>
              </a:rPr>
              <a:t> dataclass, replace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@</a:t>
            </a:r>
            <a:r>
              <a:rPr>
                <a:solidFill>
                  <a:srgbClr val="61AFEF"/>
                </a:solidFill>
              </a:rPr>
              <a:t>dataclass</a:t>
            </a:r>
            <a:r>
              <a:t>(frozen=</a:t>
            </a:r>
            <a:r>
              <a:rPr>
                <a:solidFill>
                  <a:srgbClr val="E06C75"/>
                </a:solidFill>
              </a:rPr>
              <a:t>True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class</a:t>
            </a:r>
            <a:r>
              <a:rPr>
                <a:solidFill>
                  <a:srgbClr val="D0D0D0"/>
                </a:solidFill>
              </a:rPr>
              <a:t> User: name: </a:t>
            </a:r>
            <a:r>
              <a:rPr>
                <a:solidFill>
                  <a:srgbClr val="61AFEF"/>
                </a:solidFill>
              </a:rPr>
              <a:t>str</a:t>
            </a:r>
            <a:r>
              <a:rPr>
                <a:solidFill>
                  <a:srgbClr val="D0D0D0"/>
                </a:solidFill>
              </a:rPr>
              <a:t>; age: </a:t>
            </a:r>
            <a:r>
              <a:rPr>
                <a:solidFill>
                  <a:srgbClr val="61AFEF"/>
                </a:solidFill>
              </a:rPr>
              <a:t>int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user = User(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t>, </a:t>
            </a:r>
            <a:r>
              <a:rPr>
                <a:solidFill>
                  <a:srgbClr val="E5C07B"/>
                </a:solidFill>
              </a:rPr>
              <a:t>30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older = replace(user, age=</a:t>
            </a:r>
            <a:r>
              <a:rPr>
                <a:solidFill>
                  <a:srgbClr val="E5C07B"/>
                </a:solidFill>
              </a:rPr>
              <a:t>31</a:t>
            </a:r>
            <a:r>
              <a:t>)</a:t>
            </a:r>
          </a:p>
        </p:txBody>
      </p:sp>
      <p:sp>
        <p:nvSpPr>
          <p:cNvPr id="689" name="lbl_4"/>
          <p:cNvSpPr txBox="1"/>
          <p:nvPr/>
        </p:nvSpPr>
        <p:spPr>
          <a:xfrm>
            <a:off x="4849612" y="3404568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690" name="code_4"/>
          <p:cNvSpPr txBox="1"/>
          <p:nvPr/>
        </p:nvSpPr>
        <p:spPr>
          <a:xfrm>
            <a:off x="4849612" y="3710635"/>
            <a:ext cx="3072311" cy="11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5C07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"use strict"</a:t>
            </a:r>
            <a:r>
              <a:rPr>
                <a:solidFill>
                  <a:srgbClr val="D0D0D0"/>
                </a:solidFill>
              </a:rPr>
              <a:t>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defRPr sz="700">
                <a:solidFill>
                  <a:srgbClr val="E5C07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rPr>
                <a:solidFill>
                  <a:srgbClr val="D0D0D0"/>
                </a:solidFill>
              </a:rPr>
              <a:t> user = Object.freeze({ name: 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, age: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 });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rPr>
                <a:solidFill>
                  <a:srgbClr val="D0D0D0"/>
                </a:solidFill>
              </a:rPr>
              <a:t> older = { ...user, age: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 };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2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693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94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695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96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697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698" name="title"/>
          <p:cNvSpPr txBox="1"/>
          <p:nvPr/>
        </p:nvSpPr>
        <p:spPr>
          <a:xfrm>
            <a:off x="508459" y="907439"/>
            <a:ext cx="8282424" cy="368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4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Итог: пять свойств × пять языков</a:t>
            </a:r>
          </a:p>
        </p:txBody>
      </p:sp>
      <p:graphicFrame>
        <p:nvGraphicFramePr>
          <p:cNvPr id="699" name="summary_table"/>
          <p:cNvGraphicFramePr/>
          <p:nvPr/>
        </p:nvGraphicFramePr>
        <p:xfrm>
          <a:off x="534870" y="1504949"/>
          <a:ext cx="8229602" cy="3000002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2700000"/>
                <a:gridCol w="1105920"/>
                <a:gridCol w="1105920"/>
                <a:gridCol w="1105920"/>
                <a:gridCol w="1105920"/>
                <a:gridCol w="1105920"/>
              </a:tblGrid>
              <a:tr h="439999">
                <a:tc>
                  <a:txBody>
                    <a:bodyPr/>
                    <a:lstStyle/>
                    <a:p>
                      <a:pPr/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5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OCaml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5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Scala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5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Rust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5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Python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5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JS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1A1A1A"/>
                    </a:solidFill>
                  </a:tcPr>
                </a:tc>
              </a:tr>
              <a:tr h="5120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4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Декларативность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600">
                          <a:solidFill>
                            <a:srgbClr val="E06C75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600">
                          <a:solidFill>
                            <a:srgbClr val="E06C75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600">
                          <a:solidFill>
                            <a:srgbClr val="E06C75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D0D0D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D0D0D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</a:tr>
              <a:tr h="5120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4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Выражения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600">
                          <a:solidFill>
                            <a:srgbClr val="E06C75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D0D0D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600">
                          <a:solidFill>
                            <a:srgbClr val="E06C75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60606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60606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E2E2E"/>
                    </a:solidFill>
                  </a:tcPr>
                </a:tc>
              </a:tr>
              <a:tr h="5120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4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Функции как значения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600">
                          <a:solidFill>
                            <a:srgbClr val="E06C75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600">
                          <a:solidFill>
                            <a:srgbClr val="E06C75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D0D0D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D0D0D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600">
                          <a:solidFill>
                            <a:srgbClr val="E06C75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</a:tr>
              <a:tr h="5120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4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Чистота функций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600">
                          <a:solidFill>
                            <a:srgbClr val="E06C75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D0D0D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D0D0D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60606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60606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E2E2E"/>
                    </a:solidFill>
                  </a:tcPr>
                </a:tc>
              </a:tr>
              <a:tr h="5120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4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Иммутабельность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600">
                          <a:solidFill>
                            <a:srgbClr val="E06C75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D0D0D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600">
                          <a:solidFill>
                            <a:srgbClr val="E06C75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60606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60606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</a:tr>
            </a:tbl>
          </a:graphicData>
        </a:graphic>
      </p:graphicFrame>
      <p:sp>
        <p:nvSpPr>
          <p:cNvPr id="700" name="legend"/>
          <p:cNvSpPr txBox="1"/>
          <p:nvPr/>
        </p:nvSpPr>
        <p:spPr>
          <a:xfrm>
            <a:off x="534870" y="4616787"/>
            <a:ext cx="822960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900">
                <a:solidFill>
                  <a:srgbClr val="E06C75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+++</a:t>
            </a:r>
            <a:r>
              <a:rPr>
                <a:solidFill>
                  <a:srgbClr val="606060"/>
                </a:solidFill>
              </a:rPr>
              <a:t> — в дизайне языка, идиоматично    </a:t>
            </a:r>
            <a:r>
              <a:rPr>
                <a:solidFill>
                  <a:srgbClr val="D0D0D0"/>
                </a:solidFill>
              </a:rPr>
              <a:t>++</a:t>
            </a:r>
            <a:r>
              <a:rPr>
                <a:solidFill>
                  <a:srgbClr val="606060"/>
                </a:solidFill>
              </a:rPr>
              <a:t> — поддерживается, требует дисциплины    + — возможно, но нетипично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2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703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04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705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06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707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708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ЗАДАНИЕ НА ДОМ</a:t>
            </a:r>
          </a:p>
        </p:txBody>
      </p:sp>
      <p:sp>
        <p:nvSpPr>
          <p:cNvPr id="709" name="bullets"/>
          <p:cNvSpPr txBox="1"/>
          <p:nvPr/>
        </p:nvSpPr>
        <p:spPr>
          <a:xfrm>
            <a:off x="402843" y="1586181"/>
            <a:ext cx="7165165" cy="21543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marL="457200" indent="-457200">
              <a:lnSpc>
                <a:spcPct val="133302"/>
              </a:lnSpc>
              <a:buSzPct val="100000"/>
              <a:buAutoNum type="arabicPeriod" startAt="1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Какие из пяти свойств присутствуют в вашем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текущем проекте</a:t>
            </a:r>
            <a:r>
              <a:t>?</a:t>
            </a:r>
            <a:endParaRPr>
              <a:solidFill>
                <a:srgbClr val="FFFFFF"/>
              </a:solidFill>
            </a:endParaRPr>
          </a:p>
          <a:p>
            <a:pPr marL="457200" indent="-457200">
              <a:lnSpc>
                <a:spcPct val="133302"/>
              </a:lnSpc>
              <a:spcBef>
                <a:spcPts val="1200"/>
              </a:spcBef>
              <a:buSzPct val="100000"/>
              <a:buAutoNum type="arabicPeriod" startAt="1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Какие из них язык гарантирует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by design</a:t>
            </a:r>
            <a:r>
              <a:t>, а какие —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конвенцией</a:t>
            </a:r>
            <a:r>
              <a:t>?</a:t>
            </a:r>
            <a:endParaRPr>
              <a:solidFill>
                <a:srgbClr val="FFFFFF"/>
              </a:solidFill>
            </a:endParaRPr>
          </a:p>
          <a:p>
            <a:pPr marL="457200" indent="-457200">
              <a:lnSpc>
                <a:spcPct val="133302"/>
              </a:lnSpc>
              <a:spcBef>
                <a:spcPts val="1200"/>
              </a:spcBef>
              <a:buSzPct val="100000"/>
              <a:buAutoNum type="arabicPeriod" startAt="1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Где явная иммутабельность или декларативный стиль снизили бы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когнитивную нагрузку</a:t>
            </a:r>
            <a:r>
              <a:t> в последнем PR?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6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447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48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449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50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451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452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БОНУС-ТРЕК: ФП В PRODUCTION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6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447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48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449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50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451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452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PRODUCTION: RUBY-СТЕК</a:t>
            </a:r>
          </a:p>
        </p:txBody>
      </p:sp>
      <p:sp>
        <p:nvSpPr>
          <p:cNvPr id="453" name="bullets"/>
          <p:cNvSpPr txBox="1"/>
          <p:nvPr/>
        </p:nvSpPr>
        <p:spPr>
          <a:xfrm>
            <a:off x="381660" y="1562944"/>
            <a:ext cx="7165165" cy="18495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marL="150394" indent="-150394">
              <a:lnSpc>
                <a:spcPct val="133302"/>
              </a:lnSpc>
              <a:buClr>
                <a:srgbClr val="A7A7A7"/>
              </a:buClr>
              <a:buFont typeface="Montserrat Thin Bold"/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Фреймворк: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Rails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spcBef>
                <a:spcPts val="800"/>
              </a:spcBef>
              <a:buClr>
                <a:srgbClr val="A7A7A7"/>
              </a:buClr>
              <a:buFont typeface="Montserrat Thin Bold"/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dry-types</a:t>
            </a:r>
            <a:r>
              <a:t> — Type constructors, Value Objects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spcBef>
                <a:spcPts val="800"/>
              </a:spcBef>
              <a:buClr>
                <a:srgbClr val="A7A7A7"/>
              </a:buClr>
              <a:buFont typeface="Montserrat Thin Bold"/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dry-validation</a:t>
            </a:r>
            <a:r>
              <a:t> — Contract DSL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spcBef>
                <a:spcPts val="800"/>
              </a:spcBef>
              <a:buClr>
                <a:srgbClr val="A7A7A7"/>
              </a:buClr>
              <a:buFont typeface="Montserrat Thin Bold"/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dry-monads</a:t>
            </a:r>
            <a:r>
              <a:t> — Result, Do-нотация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spcBef>
                <a:spcPts val="800"/>
              </a:spcBef>
              <a:buClr>
                <a:srgbClr val="A7A7A7"/>
              </a:buClr>
              <a:buFont typeface="Montserrat Thin Bold"/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dry-matcher</a:t>
            </a:r>
            <a:r>
              <a:t> — Pattern matching на Result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spcBef>
                <a:spcPts val="800"/>
              </a:spcBef>
              <a:buClr>
                <a:srgbClr val="A7A7A7"/>
              </a:buClr>
              <a:buFont typeface="Montserrat Thin Bold"/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Архитектура: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CQRS + DDD, EventStore</a:t>
            </a: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6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447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48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449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50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451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452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EVENT FLOW: ТИПОВОЙ СЦЕНАРИЙ</a:t>
            </a:r>
          </a:p>
        </p:txBody>
      </p:sp>
      <p:pic>
        <p:nvPicPr>
          <p:cNvPr id="453" name="Picture 45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660" y="1500000"/>
            <a:ext cx="8380680" cy="3100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6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447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48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449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50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451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452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ФП → DDD: МАППИНГ</a:t>
            </a:r>
          </a:p>
        </p:txBody>
      </p:sp>
      <p:graphicFrame>
        <p:nvGraphicFramePr>
          <p:cNvPr id="453" name="Table 452"/>
          <p:cNvGraphicFramePr>
            <a:graphicFrameLocks noGrp="1"/>
          </p:cNvGraphicFramePr>
          <p:nvPr/>
        </p:nvGraphicFramePr>
        <p:xfrm>
          <a:off x="381660" y="1450000"/>
          <a:ext cx="8380680" cy="3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00000"/>
                <a:gridCol w="5380680"/>
              </a:tblGrid>
              <a:tr h="400000">
                <a:tc>
                  <a:txBody>
                    <a:bodyPr wrap="square" lIns="182880" tIns="91440" rIns="182880" bIns="91440" anchor="ctr"/>
                    <a:lstStyle/>
                    <a:p>
                      <a:pPr algn="l"/>
                      <a:r>
                        <a:rPr lang="ru-RU" sz="1100">
                          <a:solidFill>
                            <a:srgbClr val="A7A7A7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Принципы ФП</a:t>
                      </a:r>
                    </a:p>
                  </a:txBody>
                  <a:tcPr>
                    <a:solidFill>
                      <a:srgbClr val="222222"/>
                    </a:solidFill>
                    <a:lnL w="6350" cap="flat" cmpd="sng">
                      <a:solidFill>
                        <a:srgbClr val="333333"/>
                      </a:solidFill>
                    </a:lnL>
                    <a:lnR w="6350" cap="flat" cmpd="sng">
                      <a:solidFill>
                        <a:srgbClr val="333333"/>
                      </a:solidFill>
                    </a:lnR>
                    <a:lnT w="6350" cap="flat" cmpd="sng">
                      <a:solidFill>
                        <a:srgbClr val="333333"/>
                      </a:solidFill>
                    </a:lnT>
                    <a:lnB w="6350" cap="flat" cmpd="sng">
                      <a:solidFill>
                        <a:srgbClr val="333333"/>
                      </a:solidFill>
                    </a:lnB>
                  </a:tcPr>
                </a:tc>
                <a:tc>
                  <a:txBody>
                    <a:bodyPr wrap="square" lIns="182880" tIns="91440" rIns="182880" bIns="91440" anchor="ctr"/>
                    <a:lstStyle/>
                    <a:p>
                      <a:pPr algn="l"/>
                      <a:r>
                        <a:rPr lang="ru-RU" sz="1100">
                          <a:solidFill>
                            <a:srgbClr val="A7A7A7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DDD implementation</a:t>
                      </a:r>
                    </a:p>
                  </a:txBody>
                  <a:tcPr>
                    <a:solidFill>
                      <a:srgbClr val="222222"/>
                    </a:solidFill>
                    <a:lnL w="6350" cap="flat" cmpd="sng">
                      <a:solidFill>
                        <a:srgbClr val="333333"/>
                      </a:solidFill>
                    </a:lnL>
                    <a:lnR w="6350" cap="flat" cmpd="sng">
                      <a:solidFill>
                        <a:srgbClr val="333333"/>
                      </a:solidFill>
                    </a:lnR>
                    <a:lnT w="6350" cap="flat" cmpd="sng">
                      <a:solidFill>
                        <a:srgbClr val="333333"/>
                      </a:solidFill>
                    </a:lnT>
                    <a:lnB w="6350" cap="flat" cmpd="sng">
                      <a:solidFill>
                        <a:srgbClr val="333333"/>
                      </a:solidFill>
                    </a:lnB>
                  </a:tcPr>
                </a:tc>
              </a:tr>
              <a:tr h="600000">
                <a:tc>
                  <a:txBody>
                    <a:bodyPr wrap="square" lIns="182880" tIns="91440" rIns="182880" bIns="91440" anchor="ctr"/>
                    <a:lstStyle/>
                    <a:p>
                      <a:pPr algn="l"/>
                      <a:r>
                        <a:rPr lang="ru-RU" sz="1400">
                          <a:solidFill>
                            <a:srgbClr val="48CC42"/>
                          </a:solidFill>
                          <a:latin typeface="Montserrat Thin Black"/>
                          <a:ea typeface="Montserrat Thin Black"/>
                          <a:cs typeface="Montserrat Thin Black"/>
                          <a:sym typeface="Montserrat Thin Black"/>
                        </a:rPr>
                        <a:t>Функции как значения</a:t>
                      </a:r>
                    </a:p>
                  </a:txBody>
                  <a:tcPr>
                    <a:noFill/>
                    <a:lnL w="6350" cap="flat" cmpd="sng">
                      <a:solidFill>
                        <a:srgbClr val="333333"/>
                      </a:solidFill>
                    </a:lnL>
                    <a:lnR w="6350" cap="flat" cmpd="sng">
                      <a:solidFill>
                        <a:srgbClr val="333333"/>
                      </a:solidFill>
                    </a:lnR>
                    <a:lnT w="6350" cap="flat" cmpd="sng">
                      <a:solidFill>
                        <a:srgbClr val="333333"/>
                      </a:solidFill>
                    </a:lnT>
                    <a:lnB w="6350" cap="flat" cmpd="sng">
                      <a:solidFill>
                        <a:srgbClr val="333333"/>
                      </a:solidFill>
                    </a:lnB>
                  </a:tcPr>
                </a:tc>
                <a:tc>
                  <a:txBody>
                    <a:bodyPr wrap="square" lIns="182880" tIns="91440" rIns="182880" bIns="91440" anchor="ctr"/>
                    <a:lstStyle/>
                    <a:p>
                      <a:pPr algn="l"/>
                      <a:r>
                        <a:rPr lang="ru-RU" sz="14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Command: функциональный объект</a:t>
                      </a:r>
                    </a:p>
                  </a:txBody>
                  <a:tcPr>
                    <a:noFill/>
                    <a:lnL w="6350" cap="flat" cmpd="sng">
                      <a:solidFill>
                        <a:srgbClr val="333333"/>
                      </a:solidFill>
                    </a:lnL>
                    <a:lnR w="6350" cap="flat" cmpd="sng">
                      <a:solidFill>
                        <a:srgbClr val="333333"/>
                      </a:solidFill>
                    </a:lnR>
                    <a:lnT w="6350" cap="flat" cmpd="sng">
                      <a:solidFill>
                        <a:srgbClr val="333333"/>
                      </a:solidFill>
                    </a:lnT>
                    <a:lnB w="6350" cap="flat" cmpd="sng">
                      <a:solidFill>
                        <a:srgbClr val="333333"/>
                      </a:solidFill>
                    </a:lnB>
                  </a:tcPr>
                </a:tc>
              </a:tr>
              <a:tr h="600000">
                <a:tc>
                  <a:txBody>
                    <a:bodyPr wrap="square" lIns="182880" tIns="91440" rIns="182880" bIns="91440" anchor="ctr"/>
                    <a:lstStyle/>
                    <a:p>
                      <a:pPr algn="l"/>
                      <a:r>
                        <a:rPr lang="ru-RU" sz="1400">
                          <a:solidFill>
                            <a:srgbClr val="48CC42"/>
                          </a:solidFill>
                          <a:latin typeface="Montserrat Thin Black"/>
                          <a:ea typeface="Montserrat Thin Black"/>
                          <a:cs typeface="Montserrat Thin Black"/>
                          <a:sym typeface="Montserrat Thin Black"/>
                        </a:rPr>
                        <a:t>Чистота функций</a:t>
                      </a:r>
                    </a:p>
                  </a:txBody>
                  <a:tcPr>
                    <a:noFill/>
                    <a:lnL w="6350" cap="flat" cmpd="sng">
                      <a:solidFill>
                        <a:srgbClr val="333333"/>
                      </a:solidFill>
                    </a:lnL>
                    <a:lnR w="6350" cap="flat" cmpd="sng">
                      <a:solidFill>
                        <a:srgbClr val="333333"/>
                      </a:solidFill>
                    </a:lnR>
                    <a:lnT w="6350" cap="flat" cmpd="sng">
                      <a:solidFill>
                        <a:srgbClr val="333333"/>
                      </a:solidFill>
                    </a:lnT>
                    <a:lnB w="6350" cap="flat" cmpd="sng">
                      <a:solidFill>
                        <a:srgbClr val="333333"/>
                      </a:solidFill>
                    </a:lnB>
                  </a:tcPr>
                </a:tc>
                <a:tc>
                  <a:txBody>
                    <a:bodyPr wrap="square" lIns="182880" tIns="91440" rIns="182880" bIns="91440" anchor="ctr"/>
                    <a:lstStyle/>
                    <a:p>
                      <a:pPr algn="l"/>
                      <a:r>
                        <a:rPr lang="ru-RU" sz="14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Command: изолированная операция БЛ</a:t>
                      </a:r>
                    </a:p>
                  </a:txBody>
                  <a:tcPr>
                    <a:noFill/>
                    <a:lnL w="6350" cap="flat" cmpd="sng">
                      <a:solidFill>
                        <a:srgbClr val="333333"/>
                      </a:solidFill>
                    </a:lnL>
                    <a:lnR w="6350" cap="flat" cmpd="sng">
                      <a:solidFill>
                        <a:srgbClr val="333333"/>
                      </a:solidFill>
                    </a:lnR>
                    <a:lnT w="6350" cap="flat" cmpd="sng">
                      <a:solidFill>
                        <a:srgbClr val="333333"/>
                      </a:solidFill>
                    </a:lnT>
                    <a:lnB w="6350" cap="flat" cmpd="sng">
                      <a:solidFill>
                        <a:srgbClr val="333333"/>
                      </a:solidFill>
                    </a:lnB>
                  </a:tcPr>
                </a:tc>
              </a:tr>
              <a:tr h="600000">
                <a:tc>
                  <a:txBody>
                    <a:bodyPr wrap="square" lIns="182880" tIns="91440" rIns="182880" bIns="91440" anchor="ctr"/>
                    <a:lstStyle/>
                    <a:p>
                      <a:pPr algn="l"/>
                      <a:r>
                        <a:rPr lang="ru-RU" sz="1400">
                          <a:solidFill>
                            <a:srgbClr val="48CC42"/>
                          </a:solidFill>
                          <a:latin typeface="Montserrat Thin Black"/>
                          <a:ea typeface="Montserrat Thin Black"/>
                          <a:cs typeface="Montserrat Thin Black"/>
                          <a:sym typeface="Montserrat Thin Black"/>
                        </a:rPr>
                        <a:t>Иммутабельность</a:t>
                      </a:r>
                    </a:p>
                  </a:txBody>
                  <a:tcPr>
                    <a:noFill/>
                    <a:lnL w="6350" cap="flat" cmpd="sng">
                      <a:solidFill>
                        <a:srgbClr val="333333"/>
                      </a:solidFill>
                    </a:lnL>
                    <a:lnR w="6350" cap="flat" cmpd="sng">
                      <a:solidFill>
                        <a:srgbClr val="333333"/>
                      </a:solidFill>
                    </a:lnR>
                    <a:lnT w="6350" cap="flat" cmpd="sng">
                      <a:solidFill>
                        <a:srgbClr val="333333"/>
                      </a:solidFill>
                    </a:lnT>
                    <a:lnB w="6350" cap="flat" cmpd="sng">
                      <a:solidFill>
                        <a:srgbClr val="333333"/>
                      </a:solidFill>
                    </a:lnB>
                  </a:tcPr>
                </a:tc>
                <a:tc>
                  <a:txBody>
                    <a:bodyPr wrap="square" lIns="182880" tIns="91440" rIns="182880" bIns="91440" anchor="ctr"/>
                    <a:lstStyle/>
                    <a:p>
                      <a:pPr algn="l"/>
                      <a:r>
                        <a:rPr lang="ru-RU" sz="14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иммутабельные DTO</a:t>
                      </a:r>
                    </a:p>
                  </a:txBody>
                  <a:tcPr>
                    <a:noFill/>
                    <a:lnL w="6350" cap="flat" cmpd="sng">
                      <a:solidFill>
                        <a:srgbClr val="333333"/>
                      </a:solidFill>
                    </a:lnL>
                    <a:lnR w="6350" cap="flat" cmpd="sng">
                      <a:solidFill>
                        <a:srgbClr val="333333"/>
                      </a:solidFill>
                    </a:lnR>
                    <a:lnT w="6350" cap="flat" cmpd="sng">
                      <a:solidFill>
                        <a:srgbClr val="333333"/>
                      </a:solidFill>
                    </a:lnT>
                    <a:lnB w="6350" cap="flat" cmpd="sng">
                      <a:solidFill>
                        <a:srgbClr val="333333"/>
                      </a:solidFill>
                    </a:lnB>
                  </a:tcPr>
                </a:tc>
              </a:tr>
              <a:tr h="600000">
                <a:tc>
                  <a:txBody>
                    <a:bodyPr wrap="square" lIns="182880" tIns="91440" rIns="182880" bIns="91440" anchor="ctr"/>
                    <a:lstStyle/>
                    <a:p>
                      <a:pPr algn="l"/>
                      <a:r>
                        <a:rPr lang="ru-RU" sz="1400">
                          <a:solidFill>
                            <a:srgbClr val="48CC42"/>
                          </a:solidFill>
                          <a:latin typeface="Montserrat Thin Black"/>
                          <a:ea typeface="Montserrat Thin Black"/>
                          <a:cs typeface="Montserrat Thin Black"/>
                          <a:sym typeface="Montserrat Thin Black"/>
                        </a:rPr>
                        <a:t>Декларативность</a:t>
                      </a:r>
                    </a:p>
                  </a:txBody>
                  <a:tcPr>
                    <a:noFill/>
                    <a:lnL w="6350" cap="flat" cmpd="sng">
                      <a:solidFill>
                        <a:srgbClr val="333333"/>
                      </a:solidFill>
                    </a:lnL>
                    <a:lnR w="6350" cap="flat" cmpd="sng">
                      <a:solidFill>
                        <a:srgbClr val="333333"/>
                      </a:solidFill>
                    </a:lnR>
                    <a:lnT w="6350" cap="flat" cmpd="sng">
                      <a:solidFill>
                        <a:srgbClr val="333333"/>
                      </a:solidFill>
                    </a:lnT>
                    <a:lnB w="6350" cap="flat" cmpd="sng">
                      <a:solidFill>
                        <a:srgbClr val="333333"/>
                      </a:solidFill>
                    </a:lnB>
                  </a:tcPr>
                </a:tc>
                <a:tc>
                  <a:txBody>
                    <a:bodyPr wrap="square" lIns="182880" tIns="91440" rIns="182880" bIns="91440" anchor="ctr"/>
                    <a:lstStyle/>
                    <a:p>
                      <a:pPr algn="l"/>
                      <a:r>
                        <a:rPr lang="ru-RU" sz="14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монадный DSL</a:t>
                      </a:r>
                    </a:p>
                  </a:txBody>
                  <a:tcPr>
                    <a:noFill/>
                    <a:lnL w="6350" cap="flat" cmpd="sng">
                      <a:solidFill>
                        <a:srgbClr val="333333"/>
                      </a:solidFill>
                    </a:lnL>
                    <a:lnR w="6350" cap="flat" cmpd="sng">
                      <a:solidFill>
                        <a:srgbClr val="333333"/>
                      </a:solidFill>
                    </a:lnR>
                    <a:lnT w="6350" cap="flat" cmpd="sng">
                      <a:solidFill>
                        <a:srgbClr val="333333"/>
                      </a:solidFill>
                    </a:lnT>
                    <a:lnB w="6350" cap="flat" cmpd="sng">
                      <a:solidFill>
                        <a:srgbClr val="333333"/>
                      </a:solidFill>
                    </a:lnB>
                  </a:tcPr>
                </a:tc>
              </a:tr>
              <a:tr h="600000">
                <a:tc>
                  <a:txBody>
                    <a:bodyPr wrap="square" lIns="182880" tIns="91440" rIns="182880" bIns="91440" anchor="ctr"/>
                    <a:lstStyle/>
                    <a:p>
                      <a:pPr algn="l"/>
                      <a:r>
                        <a:rPr lang="ru-RU" sz="1400">
                          <a:solidFill>
                            <a:srgbClr val="48CC42"/>
                          </a:solidFill>
                          <a:latin typeface="Montserrat Thin Black"/>
                          <a:ea typeface="Montserrat Thin Black"/>
                          <a:cs typeface="Montserrat Thin Black"/>
                          <a:sym typeface="Montserrat Thin Black"/>
                        </a:rPr>
                        <a:t>Выражения</a:t>
                      </a:r>
                    </a:p>
                  </a:txBody>
                  <a:tcPr>
                    <a:noFill/>
                    <a:lnL w="6350" cap="flat" cmpd="sng">
                      <a:solidFill>
                        <a:srgbClr val="333333"/>
                      </a:solidFill>
                    </a:lnL>
                    <a:lnR w="6350" cap="flat" cmpd="sng">
                      <a:solidFill>
                        <a:srgbClr val="333333"/>
                      </a:solidFill>
                    </a:lnR>
                    <a:lnT w="6350" cap="flat" cmpd="sng">
                      <a:solidFill>
                        <a:srgbClr val="333333"/>
                      </a:solidFill>
                    </a:lnT>
                    <a:lnB w="6350" cap="flat" cmpd="sng">
                      <a:solidFill>
                        <a:srgbClr val="333333"/>
                      </a:solidFill>
                    </a:lnB>
                  </a:tcPr>
                </a:tc>
                <a:tc>
                  <a:txBody>
                    <a:bodyPr wrap="square" lIns="182880" tIns="91440" rIns="182880" bIns="91440" anchor="ctr"/>
                    <a:lstStyle/>
                    <a:p>
                      <a:pPr algn="l"/>
                      <a:r>
                        <a:rPr lang="ru-RU" sz="14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ROP → Result</a:t>
                      </a:r>
                    </a:p>
                  </a:txBody>
                  <a:tcPr>
                    <a:noFill/>
                    <a:lnL w="6350" cap="flat" cmpd="sng">
                      <a:solidFill>
                        <a:srgbClr val="333333"/>
                      </a:solidFill>
                    </a:lnL>
                    <a:lnR w="6350" cap="flat" cmpd="sng">
                      <a:solidFill>
                        <a:srgbClr val="333333"/>
                      </a:solidFill>
                    </a:lnR>
                    <a:lnT w="6350" cap="flat" cmpd="sng">
                      <a:solidFill>
                        <a:srgbClr val="333333"/>
                      </a:solidFill>
                    </a:lnT>
                    <a:lnB w="6350" cap="flat" cmpd="sng">
                      <a:solidFill>
                        <a:srgbClr val="333333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6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447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48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449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50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451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452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АРХИТЕКТУРА КОМАНДЫ</a:t>
            </a:r>
          </a:p>
        </p:txBody>
      </p:sp>
      <p:pic>
        <p:nvPicPr>
          <p:cNvPr id="453" name="Picture 45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660" y="1500000"/>
            <a:ext cx="8380680" cy="2900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
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5" r:id="rId17"/>
    <p:sldId id="266" r:id="rId18"/>
    <p:sldId id="267" r:id="rId19"/>
    <p:sldId id="262" r:id="rId14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j-lt"/>
        <a:ea typeface="+mj-ea"/>
        <a:cs typeface="+mj-cs"/>
        <a:sym typeface="Arial"/>
      </a:defRPr>
    </a:lvl1pPr>
    <a:lvl2pPr indent="228600" latinLnBrk="0">
      <a:defRPr sz="1400">
        <a:latin typeface="+mj-lt"/>
        <a:ea typeface="+mj-ea"/>
        <a:cs typeface="+mj-cs"/>
        <a:sym typeface="Arial"/>
      </a:defRPr>
    </a:lvl2pPr>
    <a:lvl3pPr indent="457200" latinLnBrk="0">
      <a:defRPr sz="1400">
        <a:latin typeface="+mj-lt"/>
        <a:ea typeface="+mj-ea"/>
        <a:cs typeface="+mj-cs"/>
        <a:sym typeface="Arial"/>
      </a:defRPr>
    </a:lvl3pPr>
    <a:lvl4pPr indent="685800" latinLnBrk="0">
      <a:defRPr sz="1400">
        <a:latin typeface="+mj-lt"/>
        <a:ea typeface="+mj-ea"/>
        <a:cs typeface="+mj-cs"/>
        <a:sym typeface="Arial"/>
      </a:defRPr>
    </a:lvl4pPr>
    <a:lvl5pPr indent="914400" latinLnBrk="0">
      <a:defRPr sz="1400">
        <a:latin typeface="+mj-lt"/>
        <a:ea typeface="+mj-ea"/>
        <a:cs typeface="+mj-cs"/>
        <a:sym typeface="Arial"/>
      </a:defRPr>
    </a:lvl5pPr>
    <a:lvl6pPr indent="1143000" latinLnBrk="0">
      <a:defRPr sz="1400">
        <a:latin typeface="+mj-lt"/>
        <a:ea typeface="+mj-ea"/>
        <a:cs typeface="+mj-cs"/>
        <a:sym typeface="Arial"/>
      </a:defRPr>
    </a:lvl6pPr>
    <a:lvl7pPr indent="1371600" latinLnBrk="0">
      <a:defRPr sz="1400">
        <a:latin typeface="+mj-lt"/>
        <a:ea typeface="+mj-ea"/>
        <a:cs typeface="+mj-cs"/>
        <a:sym typeface="Arial"/>
      </a:defRPr>
    </a:lvl7pPr>
    <a:lvl8pPr indent="1600200" latinLnBrk="0">
      <a:defRPr sz="1400">
        <a:latin typeface="+mj-lt"/>
        <a:ea typeface="+mj-ea"/>
        <a:cs typeface="+mj-cs"/>
        <a:sym typeface="Arial"/>
      </a:defRPr>
    </a:lvl8pPr>
    <a:lvl9pPr indent="1828800" latinLnBrk="0">
      <a:defRPr sz="14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/>
          <p:cNvSpPr txBox="1"/>
          <p:nvPr>
            <p:ph type="title"/>
          </p:nvPr>
        </p:nvSpPr>
        <p:spPr>
          <a:xfrm>
            <a:off x="457200" y="69056"/>
            <a:ext cx="8229600" cy="11310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Текст заголовка</a:t>
            </a:r>
          </a:p>
        </p:txBody>
      </p:sp>
      <p:sp>
        <p:nvSpPr>
          <p:cNvPr id="3" name="Уровень текста 1…"/>
          <p:cNvSpPr txBox="1"/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" name="Номер слайда"/>
          <p:cNvSpPr txBox="1"/>
          <p:nvPr>
            <p:ph type="sldNum" sz="quarter" idx="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hyperlink" Target="http://evrone.ru" TargetMode="External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16;p3" descr="Google Shape;16;p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1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Google Shape;17;p3" descr="Google Shape;17;p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686425" y="0"/>
            <a:ext cx="3457575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Google Shape;18;p3"/>
          <p:cNvSpPr/>
          <p:nvPr/>
        </p:nvSpPr>
        <p:spPr>
          <a:xfrm>
            <a:off x="2114550" y="442912"/>
            <a:ext cx="1101629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" name="Google Shape;19;p3"/>
          <p:cNvSpPr txBox="1"/>
          <p:nvPr/>
        </p:nvSpPr>
        <p:spPr>
          <a:xfrm>
            <a:off x="2286744" y="493098"/>
            <a:ext cx="75723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4" name="Google Shape;20;p3"/>
          <p:cNvSpPr/>
          <p:nvPr/>
        </p:nvSpPr>
        <p:spPr>
          <a:xfrm>
            <a:off x="3319462" y="442912"/>
            <a:ext cx="1149254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" name="Google Shape;21;p3"/>
          <p:cNvSpPr txBox="1"/>
          <p:nvPr/>
        </p:nvSpPr>
        <p:spPr>
          <a:xfrm>
            <a:off x="3491658" y="493098"/>
            <a:ext cx="80486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26" name="Google Shape;22;p3"/>
          <p:cNvSpPr txBox="1"/>
          <p:nvPr/>
        </p:nvSpPr>
        <p:spPr>
          <a:xfrm>
            <a:off x="466725" y="2302681"/>
            <a:ext cx="4929188" cy="11477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05392"/>
              </a:lnSpc>
              <a:defRPr sz="36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IT-КОНФЕРЕНЦИЯ MERGE</a:t>
            </a:r>
          </a:p>
        </p:txBody>
      </p:sp>
      <p:sp>
        <p:nvSpPr>
          <p:cNvPr id="27" name="Google Shape;23;p3"/>
          <p:cNvSpPr txBox="1"/>
          <p:nvPr/>
        </p:nvSpPr>
        <p:spPr>
          <a:xfrm>
            <a:off x="466724" y="2143918"/>
            <a:ext cx="3833814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5"/>
              </a:lnSpc>
              <a:defRPr sz="13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Профессиональная межрегиональная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 descr="Google Shape;29;p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1"/>
          </a:xfrm>
          <a:prstGeom prst="rect">
            <a:avLst/>
          </a:prstGeom>
          <a:ln w="12700">
            <a:miter lim="400000"/>
          </a:ln>
        </p:spPr>
      </p:pic>
      <p:sp>
        <p:nvSpPr>
          <p:cNvPr id="30" name="Google Shape;30;p4"/>
          <p:cNvSpPr/>
          <p:nvPr/>
        </p:nvSpPr>
        <p:spPr>
          <a:xfrm>
            <a:off x="2114550" y="442912"/>
            <a:ext cx="1101629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1" name="Google Shape;31;p4"/>
          <p:cNvSpPr txBox="1"/>
          <p:nvPr/>
        </p:nvSpPr>
        <p:spPr>
          <a:xfrm>
            <a:off x="2286744" y="493098"/>
            <a:ext cx="75723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" name="Google Shape;32;p4"/>
          <p:cNvSpPr/>
          <p:nvPr/>
        </p:nvSpPr>
        <p:spPr>
          <a:xfrm>
            <a:off x="2624138" y="2767013"/>
            <a:ext cx="1696942" cy="240072"/>
          </a:xfrm>
          <a:prstGeom prst="roundRect">
            <a:avLst>
              <a:gd name="adj" fmla="val 50000"/>
            </a:avLst>
          </a:prstGeom>
          <a:solidFill>
            <a:srgbClr val="242424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" name="Google Shape;33;p4"/>
          <p:cNvSpPr txBox="1"/>
          <p:nvPr/>
        </p:nvSpPr>
        <p:spPr>
          <a:xfrm>
            <a:off x="2796332" y="2817198"/>
            <a:ext cx="13525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DDDDDD"/>
                </a:solidFill>
                <a:uFill>
                  <a:solidFill>
                    <a:srgbClr val="0563C1"/>
                  </a:solidFill>
                </a:uFill>
                <a:latin typeface="Montserrat Thin Bold"/>
                <a:ea typeface="Montserrat Thin Bold"/>
                <a:cs typeface="Montserrat Thin Bold"/>
                <a:sym typeface="Montserrat Thin Bold"/>
                <a:hlinkClick r:id="rId3" invalidUrl="" action="" tgtFrame="" tooltip="" history="1" highlightClick="0" endSnd="0"/>
              </a:defRPr>
            </a:lvl1pPr>
          </a:lstStyle>
          <a:p>
            <a:pPr>
              <a:defRPr>
                <a:uFillTx/>
              </a:defRPr>
            </a:pPr>
            <a:r>
              <a:rPr>
                <a:uFill>
                  <a:solidFill>
                    <a:srgbClr val="0563C1"/>
                  </a:solidFill>
                </a:uFill>
                <a:hlinkClick r:id="rId3" invalidUrl="" action="" tgtFrame="" tooltip="" history="1" highlightClick="0" endSnd="0"/>
              </a:rPr>
              <a:t>evrone.ru</a:t>
            </a:r>
          </a:p>
        </p:txBody>
      </p:sp>
      <p:sp>
        <p:nvSpPr>
          <p:cNvPr id="34" name="Google Shape;34;p4"/>
          <p:cNvSpPr/>
          <p:nvPr/>
        </p:nvSpPr>
        <p:spPr>
          <a:xfrm>
            <a:off x="3319462" y="442912"/>
            <a:ext cx="1149254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" name="Google Shape;35;p4"/>
          <p:cNvSpPr txBox="1"/>
          <p:nvPr/>
        </p:nvSpPr>
        <p:spPr>
          <a:xfrm>
            <a:off x="3491658" y="493098"/>
            <a:ext cx="80486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36" name="Google Shape;36;p4"/>
          <p:cNvSpPr txBox="1"/>
          <p:nvPr/>
        </p:nvSpPr>
        <p:spPr>
          <a:xfrm>
            <a:off x="466725" y="1525587"/>
            <a:ext cx="8153400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lvl="1"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ДРЕВНЯЯ МАГИЯ НА КАЖДЫЙ ДЕНЬ</a:t>
            </a:r>
          </a:p>
        </p:txBody>
      </p:sp>
      <p:sp>
        <p:nvSpPr>
          <p:cNvPr id="37" name="Google Shape;37;p4"/>
          <p:cNvSpPr txBox="1"/>
          <p:nvPr/>
        </p:nvSpPr>
        <p:spPr>
          <a:xfrm>
            <a:off x="2624138" y="3075781"/>
            <a:ext cx="398145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38" name="Google Shape;38;p4"/>
          <p:cNvSpPr txBox="1"/>
          <p:nvPr/>
        </p:nvSpPr>
        <p:spPr>
          <a:xfrm>
            <a:off x="441110" y="1277622"/>
            <a:ext cx="2628957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82887"/>
              </a:lnSpc>
              <a:defRPr sz="10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принципов FP в пяти языках</a:t>
            </a:r>
          </a:p>
        </p:txBody>
      </p:sp>
      <p:sp>
        <p:nvSpPr>
          <p:cNvPr id="39" name="Google Shape;39;p4"/>
          <p:cNvSpPr txBox="1"/>
          <p:nvPr/>
        </p:nvSpPr>
        <p:spPr>
          <a:xfrm>
            <a:off x="4467225" y="2813844"/>
            <a:ext cx="133350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93628"/>
              </a:lnSpc>
              <a:defRPr sz="9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FP guru</a:t>
            </a:r>
          </a:p>
        </p:txBody>
      </p:sp>
      <p:sp>
        <p:nvSpPr>
          <p:cNvPr id="40" name="Google Shape;40;p4"/>
          <p:cNvSpPr txBox="1"/>
          <p:nvPr/>
        </p:nvSpPr>
        <p:spPr>
          <a:xfrm>
            <a:off x="2796332" y="3601064"/>
            <a:ext cx="5139613" cy="1406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Значительная часть недостатков в разработке ПО связана с тем, что программисты не полностью понимают все возможные состояния, в которых может выполняться их код</a:t>
            </a:r>
          </a:p>
          <a:p>
            <a:pPr algn="r"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Джон Кармак</a:t>
            </a:r>
          </a:p>
        </p:txBody>
      </p:sp>
      <p:pic>
        <p:nvPicPr>
          <p:cNvPr id="41" name="Google Shape;41;p4" descr="Google Shape;41;p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623751" y="3649202"/>
            <a:ext cx="47390" cy="1232094"/>
          </a:xfrm>
          <a:prstGeom prst="rect">
            <a:avLst/>
          </a:prstGeom>
          <a:ln w="12700">
            <a:miter lim="400000"/>
          </a:ln>
        </p:spPr>
      </p:pic>
      <p:pic>
        <p:nvPicPr>
          <p:cNvPr id="42" name="Google Shape;43;p4" descr="Google Shape;43;p4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100137" y="3405187"/>
            <a:ext cx="590551" cy="590551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oogle Shape;98;p2" descr="Google Shape;98;p2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04811" y="2288380"/>
            <a:ext cx="1981204" cy="198120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1"/>
          </a:xfrm>
          <a:prstGeom prst="rect">
            <a:avLst/>
          </a:prstGeom>
          <a:ln w="12700">
            <a:miter lim="400000"/>
          </a:ln>
        </p:spPr>
      </p:pic>
      <p:sp>
        <p:nvSpPr>
          <p:cNvPr id="46" name="Google Shape;61;p6"/>
          <p:cNvSpPr/>
          <p:nvPr/>
        </p:nvSpPr>
        <p:spPr>
          <a:xfrm>
            <a:off x="2114550" y="442912"/>
            <a:ext cx="1101629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" name="Google Shape;62;p6"/>
          <p:cNvSpPr txBox="1"/>
          <p:nvPr/>
        </p:nvSpPr>
        <p:spPr>
          <a:xfrm>
            <a:off x="2286746" y="493098"/>
            <a:ext cx="75723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8" name="Google Shape;63;p6"/>
          <p:cNvSpPr/>
          <p:nvPr/>
        </p:nvSpPr>
        <p:spPr>
          <a:xfrm>
            <a:off x="3319462" y="442912"/>
            <a:ext cx="1149254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" name="Google Shape;64;p6"/>
          <p:cNvSpPr txBox="1"/>
          <p:nvPr/>
        </p:nvSpPr>
        <p:spPr>
          <a:xfrm>
            <a:off x="3491658" y="493098"/>
            <a:ext cx="80486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Google Shape;66;p6"/>
          <p:cNvSpPr txBox="1"/>
          <p:nvPr/>
        </p:nvSpPr>
        <p:spPr>
          <a:xfrm>
            <a:off x="419099" y="1735932"/>
            <a:ext cx="5824540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52" name="Google Shape;67;p6"/>
          <p:cNvSpPr txBox="1"/>
          <p:nvPr/>
        </p:nvSpPr>
        <p:spPr>
          <a:xfrm>
            <a:off x="409905" y="2524752"/>
            <a:ext cx="4104936" cy="15279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много</a:t>
            </a:r>
            <a:r>
              <a:t> </a:t>
            </a:r>
            <a:r>
              <a:rPr>
                <a:solidFill>
                  <a:srgbClr val="A7A7A7"/>
                </a:solidFill>
              </a:rPr>
              <a:t>опыта</a:t>
            </a: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A7A7A7"/>
                </a:solidFill>
              </a:rPr>
              <a:t>разрабатывал</a:t>
            </a:r>
            <a:r>
              <a:t> </a:t>
            </a: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всё</a:t>
            </a: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A7A7A7"/>
                </a:solidFill>
              </a:rPr>
              <a:t>FP с</a:t>
            </a:r>
            <a:r>
              <a:t> </a:t>
            </a: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2002</a:t>
            </a:r>
            <a:r>
              <a:t> </a:t>
            </a:r>
            <a:r>
              <a:rPr>
                <a:solidFill>
                  <a:srgbClr val="A7A7A7"/>
                </a:solidFill>
              </a:rPr>
              <a:t>г.</a:t>
            </a: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Evrone.ru:</a:t>
            </a:r>
            <a:r>
              <a:t> </a:t>
            </a:r>
            <a:r>
              <a:rPr>
                <a:solidFill>
                  <a:srgbClr val="A7A7A7"/>
                </a:solidFill>
              </a:rPr>
              <a:t>разработка разработчиков</a:t>
            </a:r>
          </a:p>
        </p:txBody>
      </p:sp>
      <p:sp>
        <p:nvSpPr>
          <p:cNvPr id="53" name="Google Shape;68;p6"/>
          <p:cNvSpPr/>
          <p:nvPr/>
        </p:nvSpPr>
        <p:spPr>
          <a:xfrm>
            <a:off x="5338762" y="862012"/>
            <a:ext cx="3328989" cy="3419476"/>
          </a:xfrm>
          <a:prstGeom prst="roundRect">
            <a:avLst>
              <a:gd name="adj" fmla="val 16667"/>
            </a:avLst>
          </a:prstGeom>
          <a:solidFill>
            <a:srgbClr val="242424"/>
          </a:solidFill>
          <a:ln w="22600">
            <a:solidFill>
              <a:srgbClr val="3333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pic>
        <p:nvPicPr>
          <p:cNvPr id="54" name="Google Shape;69;p6" descr="Google Shape;69;p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91300" y="2162175"/>
            <a:ext cx="823913" cy="823913"/>
          </a:xfrm>
          <a:prstGeom prst="rect">
            <a:avLst/>
          </a:prstGeom>
          <a:ln w="12700">
            <a:miter lim="400000"/>
          </a:ln>
        </p:spPr>
      </p:pic>
      <p:pic>
        <p:nvPicPr>
          <p:cNvPr id="55" name="Google Shape;98;p2" descr="Google Shape;98;p2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293434" y="861928"/>
            <a:ext cx="3419645" cy="341964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1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Google Shape;61;p6"/>
          <p:cNvSpPr/>
          <p:nvPr/>
        </p:nvSpPr>
        <p:spPr>
          <a:xfrm>
            <a:off x="2114550" y="442912"/>
            <a:ext cx="1101629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" name="Google Shape;62;p6"/>
          <p:cNvSpPr txBox="1"/>
          <p:nvPr/>
        </p:nvSpPr>
        <p:spPr>
          <a:xfrm>
            <a:off x="2286746" y="493098"/>
            <a:ext cx="75723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" name="Google Shape;63;p6"/>
          <p:cNvSpPr/>
          <p:nvPr/>
        </p:nvSpPr>
        <p:spPr>
          <a:xfrm>
            <a:off x="3319462" y="442912"/>
            <a:ext cx="1149254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1" name="Google Shape;64;p6"/>
          <p:cNvSpPr txBox="1"/>
          <p:nvPr/>
        </p:nvSpPr>
        <p:spPr>
          <a:xfrm>
            <a:off x="3491658" y="493098"/>
            <a:ext cx="80486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3" name="Google Shape;66;p6"/>
          <p:cNvSpPr txBox="1"/>
          <p:nvPr/>
        </p:nvSpPr>
        <p:spPr>
          <a:xfrm>
            <a:off x="404977" y="938038"/>
            <a:ext cx="5824540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(λx.M)N →β M[x := N]</a:t>
            </a:r>
          </a:p>
        </p:txBody>
      </p:sp>
      <p:sp>
        <p:nvSpPr>
          <p:cNvPr id="64" name="Google Shape;67;p6"/>
          <p:cNvSpPr txBox="1"/>
          <p:nvPr/>
        </p:nvSpPr>
        <p:spPr>
          <a:xfrm>
            <a:off x="381661" y="1745433"/>
            <a:ext cx="4104936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ФП:</a:t>
            </a:r>
            <a:r>
              <a:t> </a:t>
            </a:r>
            <a:r>
              <a:rPr>
                <a:solidFill>
                  <a:srgbClr val="A7A7A7"/>
                </a:solidFill>
              </a:rPr>
              <a:t>пять ĸонĸретных свойств ĸода</a:t>
            </a: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Смысл:</a:t>
            </a:r>
            <a:r>
              <a:t> </a:t>
            </a:r>
            <a:r>
              <a:rPr>
                <a:solidFill>
                  <a:srgbClr val="A7A7A7"/>
                </a:solidFill>
              </a:rPr>
              <a:t>описание результата, а не миĸроменеджмент процесса.</a:t>
            </a:r>
          </a:p>
        </p:txBody>
      </p:sp>
      <p:sp>
        <p:nvSpPr>
          <p:cNvPr id="65" name="Google Shape;108;p3"/>
          <p:cNvSpPr txBox="1"/>
          <p:nvPr/>
        </p:nvSpPr>
        <p:spPr>
          <a:xfrm>
            <a:off x="3990942" y="3094543"/>
            <a:ext cx="4878184" cy="13262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[1,2,3].map(x =&gt; x * 2)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add = x =&gt; y =&gt; x + y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x = 1; x = 2 // TypeError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1"/>
          </a:xfrm>
          <a:prstGeom prst="rect">
            <a:avLst/>
          </a:prstGeom>
          <a:ln w="12700">
            <a:miter lim="400000"/>
          </a:ln>
        </p:spPr>
      </p:pic>
      <p:sp>
        <p:nvSpPr>
          <p:cNvPr id="68" name="Google Shape;61;p6"/>
          <p:cNvSpPr/>
          <p:nvPr/>
        </p:nvSpPr>
        <p:spPr>
          <a:xfrm>
            <a:off x="2114550" y="442912"/>
            <a:ext cx="1101629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" name="Google Shape;62;p6"/>
          <p:cNvSpPr txBox="1"/>
          <p:nvPr/>
        </p:nvSpPr>
        <p:spPr>
          <a:xfrm>
            <a:off x="2286746" y="493098"/>
            <a:ext cx="75723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0" name="Google Shape;63;p6"/>
          <p:cNvSpPr/>
          <p:nvPr/>
        </p:nvSpPr>
        <p:spPr>
          <a:xfrm>
            <a:off x="3319462" y="442912"/>
            <a:ext cx="1149254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1" name="Google Shape;64;p6"/>
          <p:cNvSpPr txBox="1"/>
          <p:nvPr/>
        </p:nvSpPr>
        <p:spPr>
          <a:xfrm>
            <a:off x="3491658" y="493098"/>
            <a:ext cx="80486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3" name="Google Shape;66;p6"/>
          <p:cNvSpPr txBox="1"/>
          <p:nvPr/>
        </p:nvSpPr>
        <p:spPr>
          <a:xfrm>
            <a:off x="404977" y="938038"/>
            <a:ext cx="5824540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ЯЗЫКОВ</a:t>
            </a:r>
          </a:p>
        </p:txBody>
      </p:sp>
      <p:graphicFrame>
        <p:nvGraphicFramePr>
          <p:cNvPr id="74" name="Tаблица 1"/>
          <p:cNvGraphicFramePr/>
          <p:nvPr/>
        </p:nvGraphicFramePr>
        <p:xfrm>
          <a:off x="2585435" y="1760765"/>
          <a:ext cx="5016737" cy="344069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49618"/>
                <a:gridCol w="2349618"/>
              </a:tblGrid>
              <a:tr h="49509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91075" marR="91075" marT="91075" marB="91075" anchor="t" anchorCtr="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богов (тм)</a:t>
                      </a:r>
                    </a:p>
                  </a:txBody>
                  <a:tcPr marL="91075" marR="91075" marT="91075" marB="91075" anchor="t" anchorCtr="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</a:tr>
              <a:tr h="49509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91075" marR="91075" marT="91075" marB="91075" anchor="t" anchorCtr="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почти OCaml</a:t>
                      </a:r>
                    </a:p>
                  </a:txBody>
                  <a:tcPr marL="91075" marR="91075" marT="91075" marB="91075" anchor="t" anchorCtr="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</a:tr>
              <a:tr h="49509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91075" marR="91075" marT="91075" marB="91075" anchor="t" anchorCtr="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МНС</a:t>
                      </a:r>
                    </a:p>
                  </a:txBody>
                  <a:tcPr marL="91075" marR="91075" marT="91075" marB="91075" anchor="t" anchorCtr="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</a:tr>
              <a:tr h="49509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91075" marR="91075" marT="91075" marB="91075" anchor="t" anchorCtr="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вездесущ</a:t>
                      </a:r>
                    </a:p>
                  </a:txBody>
                  <a:tcPr marL="91075" marR="91075" marT="91075" marB="91075" anchor="t" anchorCtr="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</a:tr>
              <a:tr h="49509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91075" marR="91075" marT="91075" marB="91075" anchor="t" anchorCtr="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всемогущ</a:t>
                      </a:r>
                    </a:p>
                  </a:txBody>
                  <a:tcPr marL="91075" marR="91075" marT="91075" marB="91075" anchor="t" anchorCtr="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1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Google Shape;61;p6"/>
          <p:cNvSpPr/>
          <p:nvPr/>
        </p:nvSpPr>
        <p:spPr>
          <a:xfrm>
            <a:off x="2114550" y="442912"/>
            <a:ext cx="1101629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" name="Google Shape;62;p6"/>
          <p:cNvSpPr txBox="1"/>
          <p:nvPr/>
        </p:nvSpPr>
        <p:spPr>
          <a:xfrm>
            <a:off x="2286746" y="493098"/>
            <a:ext cx="75723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9" name="Google Shape;63;p6"/>
          <p:cNvSpPr/>
          <p:nvPr/>
        </p:nvSpPr>
        <p:spPr>
          <a:xfrm>
            <a:off x="3319462" y="442912"/>
            <a:ext cx="1149254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" name="Google Shape;64;p6"/>
          <p:cNvSpPr txBox="1"/>
          <p:nvPr/>
        </p:nvSpPr>
        <p:spPr>
          <a:xfrm>
            <a:off x="3491658" y="493098"/>
            <a:ext cx="80486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Google Shape;66;p6"/>
          <p:cNvSpPr txBox="1"/>
          <p:nvPr/>
        </p:nvSpPr>
        <p:spPr>
          <a:xfrm>
            <a:off x="404977" y="938038"/>
            <a:ext cx="5824540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83" name="Google Shape;67;p6"/>
          <p:cNvSpPr txBox="1"/>
          <p:nvPr/>
        </p:nvSpPr>
        <p:spPr>
          <a:xfrm>
            <a:off x="381661" y="1584604"/>
            <a:ext cx="7165164" cy="1206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A7A7A7"/>
                </a:solidFill>
              </a:rPr>
              <a:t>Императивный код —</a:t>
            </a:r>
            <a:r>
              <a:t> </a:t>
            </a: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микроменеджмент</a:t>
            </a: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A7A7A7"/>
                </a:solidFill>
              </a:rPr>
              <a:t>Декларативный код —</a:t>
            </a: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 спецификация</a:t>
            </a:r>
            <a:endParaRPr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A7A7A7"/>
                </a:solidFill>
              </a:rPr>
              <a:t>Людям —</a:t>
            </a: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 понятность</a:t>
            </a:r>
            <a:endParaRPr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A7A7A7"/>
                </a:solidFill>
              </a:rPr>
              <a:t>Машинам — </a:t>
            </a: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законы оптимизации</a:t>
            </a:r>
          </a:p>
        </p:txBody>
      </p:sp>
      <p:sp>
        <p:nvSpPr>
          <p:cNvPr id="84" name="Google Shape;108;p3"/>
          <p:cNvSpPr txBox="1"/>
          <p:nvPr/>
        </p:nvSpPr>
        <p:spPr>
          <a:xfrm>
            <a:off x="3420131" y="3384044"/>
            <a:ext cx="5557447" cy="132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SELECT … WHERE vs for … in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for … end vs list.map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49;p5" descr="Google Shape;49;p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1"/>
          </a:xfrm>
          <a:prstGeom prst="rect">
            <a:avLst/>
          </a:prstGeom>
          <a:ln w="12700">
            <a:miter lim="400000"/>
          </a:ln>
        </p:spPr>
      </p:pic>
      <p:sp>
        <p:nvSpPr>
          <p:cNvPr id="87" name="Google Shape;50;p5"/>
          <p:cNvSpPr/>
          <p:nvPr/>
        </p:nvSpPr>
        <p:spPr>
          <a:xfrm>
            <a:off x="2114550" y="442912"/>
            <a:ext cx="1101629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8" name="Google Shape;51;p5"/>
          <p:cNvSpPr txBox="1"/>
          <p:nvPr/>
        </p:nvSpPr>
        <p:spPr>
          <a:xfrm>
            <a:off x="2286746" y="493098"/>
            <a:ext cx="75723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89" name="Google Shape;52;p5"/>
          <p:cNvSpPr/>
          <p:nvPr/>
        </p:nvSpPr>
        <p:spPr>
          <a:xfrm>
            <a:off x="3319462" y="442912"/>
            <a:ext cx="1149254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0" name="Google Shape;53;p5"/>
          <p:cNvSpPr txBox="1"/>
          <p:nvPr/>
        </p:nvSpPr>
        <p:spPr>
          <a:xfrm>
            <a:off x="3491658" y="493098"/>
            <a:ext cx="80486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91" name="Google Shape;54;p5" descr="Google Shape;54;p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0" name="title_0"/>
          <p:cNvSpPr txBox="1">
            <a:spLocks noGrp="1"/>
          </p:cNvSpPr>
          <p:nvPr/>
        </p:nvSpPr>
        <p:spPr>
          <a:xfrm>
            <a:off x="404977" y="938038"/>
            <a:ext cx="5824540" cy="342901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0" name="subtitle_0"/>
          <p:cNvSpPr txBox="1">
            <a:spLocks noGrp="1"/>
          </p:cNvSpPr>
          <p:nvPr/>
        </p:nvSpPr>
        <p:spPr>
          <a:xfrm>
            <a:off x="381661" y="1330000"/>
            <a:ext cx="7500000" cy="300000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Задача:</a:t>
            </a:r>
            <a:r>
              <a:t> </a:t>
            </a:r>
            <a:r>
              <a:rPr>
                <a:solidFill>
                  <a:srgbClr val="A7A7A7"/>
                </a:solidFill>
              </a:rPr>
              <a:t>сумма скидок для заказов дороже 100, скидка 10%</a:t>
            </a:r>
          </a:p>
        </p:txBody>
      </p:sp>
      <p:sp>
        <p:nvSpPr>
          <p:cNvPr id="0" name="lang_0_0"/>
          <p:cNvSpPr txBox="1">
            <a:spLocks noGrp="1"/>
          </p:cNvSpPr>
          <p:nvPr/>
        </p:nvSpPr>
        <p:spPr>
          <a:xfrm>
            <a:off x="250000" y="1700000"/>
            <a:ext cx="2800000" cy="320000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6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0" name="code_0_0"/>
          <p:cNvSpPr txBox="1">
            <a:spLocks noGrp="1"/>
          </p:cNvSpPr>
          <p:nvPr/>
        </p:nvSpPr>
        <p:spPr>
          <a:xfrm>
            <a:off x="250000" y="2100000"/>
            <a:ext cx="2800000" cy="2800000"/>
          </a:xfrm>
          <a:prstGeom prst="rect">
            <a:avLst/>
          </a:prstGeom>
          <a:noFill/>
        </p:spPr>
        <p:txBody>
          <a:bodyPr lIns="30000" tIns="30000" rIns="30000" bIns="30000">
            <a:normAutofit fontScale="100000" lnSpcReduction="0"/>
          </a:bodyPr>
          <a:lstStyle/>
          <a:p>
            <a:pPr>
              <a:lnSpc>
                <a:spcPct val="60000"/>
              </a:lnSpc>
              <a:defRPr sz="14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orders =</a:t>
            </a:r>
          </a:p>
          <a:p>
            <a:pPr>
              <a:lnSpc>
                <a:spcPct val="60000"/>
              </a:lnSpc>
              <a:spcBef>
                <a:spcPts val="600"/>
              </a:spcBef>
              <a:defRPr sz="14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600"/>
              </a:spcBef>
              <a:defRPr sz="14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o -&gt; o.price &gt; 100)</a:t>
            </a:r>
          </a:p>
          <a:p>
            <a:pPr>
              <a:lnSpc>
                <a:spcPct val="60000"/>
              </a:lnSpc>
              <a:spcBef>
                <a:spcPts val="600"/>
              </a:spcBef>
              <a:defRPr sz="14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List.map (fun o -&gt; o.price *. 0.1)</a:t>
            </a:r>
          </a:p>
          <a:p>
            <a:pPr>
              <a:lnSpc>
                <a:spcPct val="60000"/>
              </a:lnSpc>
              <a:spcBef>
                <a:spcPts val="600"/>
              </a:spcBef>
              <a:defRPr sz="14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+. ) 0.0</a:t>
            </a:r>
          </a:p>
        </p:txBody>
      </p:sp>
      <p:sp>
        <p:nvSpPr>
          <p:cNvPr id="0" name="lang_0_1"/>
          <p:cNvSpPr txBox="1">
            <a:spLocks noGrp="1"/>
          </p:cNvSpPr>
          <p:nvPr/>
        </p:nvSpPr>
        <p:spPr>
          <a:xfrm>
            <a:off x="3300000" y="1700000"/>
            <a:ext cx="2600000" cy="320000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600">
                <a:solidFill>
                  <a:srgbClr val="3A3A3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0" name="code_0_1"/>
          <p:cNvSpPr txBox="1">
            <a:spLocks noGrp="1"/>
          </p:cNvSpPr>
          <p:nvPr/>
        </p:nvSpPr>
        <p:spPr>
          <a:xfrm>
            <a:off x="3300000" y="2100000"/>
            <a:ext cx="2600000" cy="2800000"/>
          </a:xfrm>
          <a:prstGeom prst="rect">
            <a:avLst/>
          </a:prstGeom>
          <a:noFill/>
        </p:spPr>
        <p:txBody>
          <a:bodyPr lIns="30000" tIns="30000" rIns="30000" bIns="30000">
            <a:normAutofit fontScale="100000" lnSpcReduction="0"/>
          </a:bodyPr>
          <a:lstStyle/>
          <a:p>
            <a:pPr>
              <a:lnSpc>
                <a:spcPct val="60000"/>
              </a:lnSpc>
              <a:defRPr sz="1400">
                <a:solidFill>
                  <a:srgbClr val="3A3A3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600"/>
              </a:spcBef>
              <a:defRPr sz="1400">
                <a:solidFill>
                  <a:srgbClr val="3A3A3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600"/>
              </a:spcBef>
              <a:defRPr sz="1400">
                <a:solidFill>
                  <a:srgbClr val="3A3A3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600"/>
              </a:spcBef>
              <a:defRPr sz="1400">
                <a:solidFill>
                  <a:srgbClr val="3A3A3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600"/>
              </a:spcBef>
              <a:defRPr sz="1400">
                <a:solidFill>
                  <a:srgbClr val="3A3A3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0" name="lang_0_2"/>
          <p:cNvSpPr txBox="1">
            <a:spLocks noGrp="1"/>
          </p:cNvSpPr>
          <p:nvPr/>
        </p:nvSpPr>
        <p:spPr>
          <a:xfrm>
            <a:off x="6150000" y="1700000"/>
            <a:ext cx="2850000" cy="320000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600">
                <a:solidFill>
                  <a:srgbClr val="3A3A3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0" name="code_0_2"/>
          <p:cNvSpPr txBox="1">
            <a:spLocks noGrp="1"/>
          </p:cNvSpPr>
          <p:nvPr/>
        </p:nvSpPr>
        <p:spPr>
          <a:xfrm>
            <a:off x="6150000" y="2100000"/>
            <a:ext cx="2850000" cy="2800000"/>
          </a:xfrm>
          <a:prstGeom prst="rect">
            <a:avLst/>
          </a:prstGeom>
          <a:noFill/>
        </p:spPr>
        <p:txBody>
          <a:bodyPr lIns="30000" tIns="30000" rIns="30000" bIns="30000">
            <a:normAutofit fontScale="100000" lnSpcReduction="0"/>
          </a:bodyPr>
          <a:lstStyle/>
          <a:p>
            <a:pPr>
              <a:lnSpc>
                <a:spcPct val="60000"/>
              </a:lnSpc>
              <a:defRPr sz="1400">
                <a:solidFill>
                  <a:srgbClr val="3A3A3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600"/>
              </a:spcBef>
              <a:defRPr sz="1400">
                <a:solidFill>
                  <a:srgbClr val="3A3A3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600"/>
              </a:spcBef>
              <a:defRPr sz="1400">
                <a:solidFill>
                  <a:srgbClr val="3A3A3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600"/>
              </a:spcBef>
              <a:defRPr sz="1400">
                <a:solidFill>
                  <a:srgbClr val="3A3A3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600"/>
              </a:spcBef>
              <a:defRPr sz="1400">
                <a:solidFill>
                  <a:srgbClr val="3A3A3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600"/>
              </a:spcBef>
              <a:defRPr sz="1400">
                <a:solidFill>
                  <a:srgbClr val="3A3A3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0" name="lang_0_3"/>
          <p:cNvSpPr txBox="1">
            <a:spLocks noGrp="1"/>
          </p:cNvSpPr>
          <p:nvPr/>
        </p:nvSpPr>
        <p:spPr>
          <a:xfrm>
            <a:off x="1500000" y="3500000"/>
            <a:ext cx="2900000" cy="320000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600">
                <a:solidFill>
                  <a:srgbClr val="3A3A3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0" name="code_0_3"/>
          <p:cNvSpPr txBox="1">
            <a:spLocks noGrp="1"/>
          </p:cNvSpPr>
          <p:nvPr/>
        </p:nvSpPr>
        <p:spPr>
          <a:xfrm>
            <a:off x="1500000" y="3900000"/>
            <a:ext cx="2900000" cy="1000000"/>
          </a:xfrm>
          <a:prstGeom prst="rect">
            <a:avLst/>
          </a:prstGeom>
          <a:noFill/>
        </p:spPr>
        <p:txBody>
          <a:bodyPr lIns="30000" tIns="30000" rIns="30000" bIns="30000">
            <a:normAutofit fontScale="100000" lnSpcReduction="0"/>
          </a:bodyPr>
          <a:lstStyle/>
          <a:p>
            <a:pPr>
              <a:lnSpc>
                <a:spcPct val="60000"/>
              </a:lnSpc>
              <a:defRPr sz="1400">
                <a:solidFill>
                  <a:srgbClr val="3A3A3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600"/>
              </a:spcBef>
              <a:defRPr sz="1400">
                <a:solidFill>
                  <a:srgbClr val="3A3A3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600"/>
              </a:spcBef>
              <a:defRPr sz="1400">
                <a:solidFill>
                  <a:srgbClr val="3A3A3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600"/>
              </a:spcBef>
              <a:defRPr sz="1400">
                <a:solidFill>
                  <a:srgbClr val="3A3A3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600"/>
              </a:spcBef>
              <a:defRPr sz="1400">
                <a:solidFill>
                  <a:srgbClr val="3A3A3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100.0)</a:t>
            </a:r>
          </a:p>
        </p:txBody>
      </p:sp>
      <p:sp>
        <p:nvSpPr>
          <p:cNvPr id="0" name="lang_0_4"/>
          <p:cNvSpPr txBox="1">
            <a:spLocks noGrp="1"/>
          </p:cNvSpPr>
          <p:nvPr/>
        </p:nvSpPr>
        <p:spPr>
          <a:xfrm>
            <a:off x="5100000" y="3500000"/>
            <a:ext cx="2900000" cy="320000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600">
                <a:solidFill>
                  <a:srgbClr val="3A3A3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0" name="code_0_4"/>
          <p:cNvSpPr txBox="1">
            <a:spLocks noGrp="1"/>
          </p:cNvSpPr>
          <p:nvPr/>
        </p:nvSpPr>
        <p:spPr>
          <a:xfrm>
            <a:off x="5100000" y="3900000"/>
            <a:ext cx="2900000" cy="1000000"/>
          </a:xfrm>
          <a:prstGeom prst="rect">
            <a:avLst/>
          </a:prstGeom>
          <a:noFill/>
        </p:spPr>
        <p:txBody>
          <a:bodyPr lIns="30000" tIns="30000" rIns="30000" bIns="30000">
            <a:normAutofit fontScale="100000" lnSpcReduction="0"/>
          </a:bodyPr>
          <a:lstStyle/>
          <a:p>
            <a:pPr>
              <a:lnSpc>
                <a:spcPct val="60000"/>
              </a:lnSpc>
              <a:defRPr sz="1400">
                <a:solidFill>
                  <a:srgbClr val="3A3A3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600"/>
              </a:spcBef>
              <a:defRPr sz="1400">
                <a:solidFill>
                  <a:srgbClr val="3A3A3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600"/>
              </a:spcBef>
              <a:defRPr sz="1400">
                <a:solidFill>
                  <a:srgbClr val="3A3A3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600"/>
              </a:spcBef>
              <a:defRPr sz="1400">
                <a:solidFill>
                  <a:srgbClr val="3A3A3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600"/>
              </a:spcBef>
              <a:defRPr sz="1400">
                <a:solidFill>
                  <a:srgbClr val="3A3A3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1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Google Shape;61;p6"/>
          <p:cNvSpPr/>
          <p:nvPr/>
        </p:nvSpPr>
        <p:spPr>
          <a:xfrm>
            <a:off x="2114550" y="442912"/>
            <a:ext cx="1101629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" name="Google Shape;62;p6"/>
          <p:cNvSpPr txBox="1"/>
          <p:nvPr/>
        </p:nvSpPr>
        <p:spPr>
          <a:xfrm>
            <a:off x="2286746" y="493098"/>
            <a:ext cx="75723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9" name="Google Shape;63;p6"/>
          <p:cNvSpPr/>
          <p:nvPr/>
        </p:nvSpPr>
        <p:spPr>
          <a:xfrm>
            <a:off x="3319462" y="442912"/>
            <a:ext cx="1149254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" name="Google Shape;64;p6"/>
          <p:cNvSpPr txBox="1"/>
          <p:nvPr/>
        </p:nvSpPr>
        <p:spPr>
          <a:xfrm>
            <a:off x="3491658" y="493098"/>
            <a:ext cx="80486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0" name="title"/>
          <p:cNvSpPr txBox="1">
            <a:spLocks noGrp="1"/>
          </p:cNvSpPr>
          <p:nvPr/>
        </p:nvSpPr>
        <p:spPr>
          <a:xfrm>
            <a:off x="404977" y="938038"/>
            <a:ext cx="5824540" cy="342901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0" name="sub"/>
          <p:cNvSpPr txBox="1">
            <a:spLocks noGrp="1"/>
          </p:cNvSpPr>
          <p:nvPr/>
        </p:nvSpPr>
        <p:spPr>
          <a:xfrm>
            <a:off x="381661" y="1330000"/>
            <a:ext cx="8200000" cy="280000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 sz="14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Задача:</a:t>
            </a:r>
            <a:r>
              <a:t> </a:t>
            </a:r>
            <a:r>
              <a:rPr>
                <a:solidFill>
                  <a:srgbClr val="A7A7A7"/>
                </a:solidFill>
              </a:rPr>
              <a:t>сумма скидок для заказов дороже 100, скидка 10%</a:t>
            </a:r>
          </a:p>
        </p:txBody>
      </p:sp>
      <p:sp>
        <p:nvSpPr>
          <p:cNvPr id="0" name="lbl_0"/>
          <p:cNvSpPr txBox="1">
            <a:spLocks noGrp="1"/>
          </p:cNvSpPr>
          <p:nvPr/>
        </p:nvSpPr>
        <p:spPr>
          <a:xfrm>
            <a:off x="655718" y="1680000"/>
            <a:ext cx="713737" cy="370837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4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0" name="code_0"/>
          <p:cNvSpPr txBox="1">
            <a:spLocks noGrp="1"/>
          </p:cNvSpPr>
          <p:nvPr/>
        </p:nvSpPr>
        <p:spPr>
          <a:xfrm>
            <a:off x="655720" y="2090837"/>
            <a:ext cx="3540757" cy="1549163"/>
          </a:xfrm>
          <a:prstGeom prst="rect">
            <a:avLst/>
          </a:prstGeom>
          <a:noFill/>
        </p:spPr>
        <p:txBody>
          <a:bodyPr lIns="20000" tIns="20000" rIns="20000" bIns="20000">
            <a:normAutofit fontScale="100000" lnSpcReduction="0"/>
          </a:bodyPr>
          <a:lstStyle/>
          <a:p>
            <a:pPr>
              <a:lnSpc>
                <a:spcPct val="60000"/>
              </a:lnSpc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o -&gt;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List.map (fun o -&gt; o.price *.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+. ) 0.0</a:t>
            </a:r>
          </a:p>
        </p:txBody>
      </p:sp>
      <p:sp>
        <p:nvSpPr>
          <p:cNvPr id="0" name="lbl_1"/>
          <p:cNvSpPr txBox="1">
            <a:spLocks noGrp="1"/>
          </p:cNvSpPr>
          <p:nvPr/>
        </p:nvSpPr>
        <p:spPr>
          <a:xfrm>
            <a:off x="4155718" y="1680000"/>
            <a:ext cx="713737" cy="370837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400">
                <a:solidFill>
                  <a:srgbClr val="2A2A2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0" name="code_1"/>
          <p:cNvSpPr txBox="1">
            <a:spLocks noGrp="1"/>
          </p:cNvSpPr>
          <p:nvPr/>
        </p:nvSpPr>
        <p:spPr>
          <a:xfrm>
            <a:off x="4155716" y="2090837"/>
            <a:ext cx="2702557" cy="1549163"/>
          </a:xfrm>
          <a:prstGeom prst="rect">
            <a:avLst/>
          </a:prstGeom>
          <a:noFill/>
        </p:spPr>
        <p:txBody>
          <a:bodyPr lIns="20000" tIns="20000" rIns="20000" bIns="20000">
            <a:normAutofit fontScale="100000" lnSpcReduction="0"/>
          </a:bodyPr>
          <a:lstStyle/>
          <a:p>
            <a:pPr>
              <a:lnSpc>
                <a:spcPct val="60000"/>
              </a:lnSpc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0" name="lbl_2"/>
          <p:cNvSpPr txBox="1">
            <a:spLocks noGrp="1"/>
          </p:cNvSpPr>
          <p:nvPr/>
        </p:nvSpPr>
        <p:spPr>
          <a:xfrm>
            <a:off x="7015718" y="1680000"/>
            <a:ext cx="591817" cy="370837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400">
                <a:solidFill>
                  <a:srgbClr val="2A2A2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0" name="code_2"/>
          <p:cNvSpPr txBox="1">
            <a:spLocks noGrp="1"/>
          </p:cNvSpPr>
          <p:nvPr/>
        </p:nvSpPr>
        <p:spPr>
          <a:xfrm>
            <a:off x="7015718" y="2090837"/>
            <a:ext cx="2128282" cy="1549163"/>
          </a:xfrm>
          <a:prstGeom prst="rect">
            <a:avLst/>
          </a:prstGeom>
          <a:noFill/>
        </p:spPr>
        <p:txBody>
          <a:bodyPr lIns="20000" tIns="20000" rIns="20000" bIns="20000">
            <a:normAutofit fontScale="100000" lnSpcReduction="0"/>
          </a:bodyPr>
          <a:lstStyle/>
          <a:p>
            <a:pPr>
              <a:lnSpc>
                <a:spcPct val="60000"/>
              </a:lnSpc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0" name="lbl_3"/>
          <p:cNvSpPr txBox="1">
            <a:spLocks noGrp="1"/>
          </p:cNvSpPr>
          <p:nvPr/>
        </p:nvSpPr>
        <p:spPr>
          <a:xfrm>
            <a:off x="3015719" y="3700000"/>
            <a:ext cx="835657" cy="370837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400">
                <a:solidFill>
                  <a:srgbClr val="2A2A2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0" name="code_3"/>
          <p:cNvSpPr txBox="1">
            <a:spLocks noGrp="1"/>
          </p:cNvSpPr>
          <p:nvPr/>
        </p:nvSpPr>
        <p:spPr>
          <a:xfrm>
            <a:off x="3015718" y="4110837"/>
            <a:ext cx="2031997" cy="979163"/>
          </a:xfrm>
          <a:prstGeom prst="rect">
            <a:avLst/>
          </a:prstGeom>
          <a:noFill/>
        </p:spPr>
        <p:txBody>
          <a:bodyPr lIns="20000" tIns="20000" rIns="20000" bIns="20000">
            <a:normAutofit fontScale="100000" lnSpcReduction="0"/>
          </a:bodyPr>
          <a:lstStyle/>
          <a:p>
            <a:pPr>
              <a:lnSpc>
                <a:spcPct val="60000"/>
              </a:lnSpc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100.0)</a:t>
            </a:r>
          </a:p>
        </p:txBody>
      </p:sp>
      <p:sp>
        <p:nvSpPr>
          <p:cNvPr id="0" name="lbl_4"/>
          <p:cNvSpPr txBox="1">
            <a:spLocks noGrp="1"/>
          </p:cNvSpPr>
          <p:nvPr/>
        </p:nvSpPr>
        <p:spPr>
          <a:xfrm>
            <a:off x="6875719" y="3700000"/>
            <a:ext cx="347977" cy="370837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400">
                <a:solidFill>
                  <a:srgbClr val="2A2A2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0" name="code_4"/>
          <p:cNvSpPr txBox="1">
            <a:spLocks noGrp="1"/>
          </p:cNvSpPr>
          <p:nvPr/>
        </p:nvSpPr>
        <p:spPr>
          <a:xfrm>
            <a:off x="6875719" y="4110837"/>
            <a:ext cx="2268281" cy="979163"/>
          </a:xfrm>
          <a:prstGeom prst="rect">
            <a:avLst/>
          </a:prstGeom>
          <a:noFill/>
        </p:spPr>
        <p:txBody>
          <a:bodyPr lIns="20000" tIns="20000" rIns="20000" bIns="20000">
            <a:normAutofit fontScale="100000" lnSpcReduction="0"/>
          </a:bodyPr>
          <a:lstStyle/>
          <a:p>
            <a:pPr>
              <a:lnSpc>
                <a:spcPct val="60000"/>
              </a:lnSpc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1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Google Shape;61;p6"/>
          <p:cNvSpPr/>
          <p:nvPr/>
        </p:nvSpPr>
        <p:spPr>
          <a:xfrm>
            <a:off x="2114550" y="442912"/>
            <a:ext cx="1101629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" name="Google Shape;62;p6"/>
          <p:cNvSpPr txBox="1"/>
          <p:nvPr/>
        </p:nvSpPr>
        <p:spPr>
          <a:xfrm>
            <a:off x="2286746" y="493098"/>
            <a:ext cx="75723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9" name="Google Shape;63;p6"/>
          <p:cNvSpPr/>
          <p:nvPr/>
        </p:nvSpPr>
        <p:spPr>
          <a:xfrm>
            <a:off x="3319462" y="442912"/>
            <a:ext cx="1149254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" name="Google Shape;64;p6"/>
          <p:cNvSpPr txBox="1"/>
          <p:nvPr/>
        </p:nvSpPr>
        <p:spPr>
          <a:xfrm>
            <a:off x="3491658" y="493098"/>
            <a:ext cx="80486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0" name="title"/>
          <p:cNvSpPr txBox="1">
            <a:spLocks noGrp="1"/>
          </p:cNvSpPr>
          <p:nvPr/>
        </p:nvSpPr>
        <p:spPr>
          <a:xfrm>
            <a:off x="404977" y="938038"/>
            <a:ext cx="5824540" cy="342901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0" name="sub"/>
          <p:cNvSpPr txBox="1">
            <a:spLocks noGrp="1"/>
          </p:cNvSpPr>
          <p:nvPr/>
        </p:nvSpPr>
        <p:spPr>
          <a:xfrm>
            <a:off x="381661" y="1330000"/>
            <a:ext cx="8200000" cy="280000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 sz="14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Задача:</a:t>
            </a:r>
            <a:r>
              <a:t> </a:t>
            </a:r>
            <a:r>
              <a:rPr>
                <a:solidFill>
                  <a:srgbClr val="A7A7A7"/>
                </a:solidFill>
              </a:rPr>
              <a:t>сумма скидок для заказов дороже 100, скидка 10%</a:t>
            </a:r>
          </a:p>
        </p:txBody>
      </p:sp>
      <p:sp>
        <p:nvSpPr>
          <p:cNvPr id="0" name="lbl_0"/>
          <p:cNvSpPr txBox="1">
            <a:spLocks noGrp="1"/>
          </p:cNvSpPr>
          <p:nvPr/>
        </p:nvSpPr>
        <p:spPr>
          <a:xfrm>
            <a:off x="655718" y="1680000"/>
            <a:ext cx="713737" cy="370837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400">
                <a:solidFill>
                  <a:srgbClr val="2A2A2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0" name="code_0"/>
          <p:cNvSpPr txBox="1">
            <a:spLocks noGrp="1"/>
          </p:cNvSpPr>
          <p:nvPr/>
        </p:nvSpPr>
        <p:spPr>
          <a:xfrm>
            <a:off x="655720" y="2090837"/>
            <a:ext cx="3540757" cy="1549163"/>
          </a:xfrm>
          <a:prstGeom prst="rect">
            <a:avLst/>
          </a:prstGeom>
          <a:noFill/>
        </p:spPr>
        <p:txBody>
          <a:bodyPr lIns="20000" tIns="20000" rIns="20000" bIns="20000">
            <a:normAutofit fontScale="100000" lnSpcReduction="0"/>
          </a:bodyPr>
          <a:lstStyle/>
          <a:p>
            <a:pPr>
              <a:lnSpc>
                <a:spcPct val="60000"/>
              </a:lnSpc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o -&gt;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List.map (fun o -&gt; o.price *.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+. ) 0.0</a:t>
            </a:r>
          </a:p>
        </p:txBody>
      </p:sp>
      <p:sp>
        <p:nvSpPr>
          <p:cNvPr id="0" name="lbl_1"/>
          <p:cNvSpPr txBox="1">
            <a:spLocks noGrp="1"/>
          </p:cNvSpPr>
          <p:nvPr/>
        </p:nvSpPr>
        <p:spPr>
          <a:xfrm>
            <a:off x="4155718" y="1680000"/>
            <a:ext cx="713737" cy="370837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4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0" name="code_1"/>
          <p:cNvSpPr txBox="1">
            <a:spLocks noGrp="1"/>
          </p:cNvSpPr>
          <p:nvPr/>
        </p:nvSpPr>
        <p:spPr>
          <a:xfrm>
            <a:off x="4155716" y="2090837"/>
            <a:ext cx="2702557" cy="1549163"/>
          </a:xfrm>
          <a:prstGeom prst="rect">
            <a:avLst/>
          </a:prstGeom>
          <a:noFill/>
        </p:spPr>
        <p:txBody>
          <a:bodyPr lIns="20000" tIns="20000" rIns="20000" bIns="20000">
            <a:normAutofit fontScale="100000" lnSpcReduction="0"/>
          </a:bodyPr>
          <a:lstStyle/>
          <a:p>
            <a:pPr>
              <a:lnSpc>
                <a:spcPct val="60000"/>
              </a:lnSpc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0" name="lbl_2"/>
          <p:cNvSpPr txBox="1">
            <a:spLocks noGrp="1"/>
          </p:cNvSpPr>
          <p:nvPr/>
        </p:nvSpPr>
        <p:spPr>
          <a:xfrm>
            <a:off x="7015718" y="1680000"/>
            <a:ext cx="591817" cy="370837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400">
                <a:solidFill>
                  <a:srgbClr val="2A2A2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0" name="code_2"/>
          <p:cNvSpPr txBox="1">
            <a:spLocks noGrp="1"/>
          </p:cNvSpPr>
          <p:nvPr/>
        </p:nvSpPr>
        <p:spPr>
          <a:xfrm>
            <a:off x="7015718" y="2090837"/>
            <a:ext cx="2128282" cy="1549163"/>
          </a:xfrm>
          <a:prstGeom prst="rect">
            <a:avLst/>
          </a:prstGeom>
          <a:noFill/>
        </p:spPr>
        <p:txBody>
          <a:bodyPr lIns="20000" tIns="20000" rIns="20000" bIns="20000">
            <a:normAutofit fontScale="100000" lnSpcReduction="0"/>
          </a:bodyPr>
          <a:lstStyle/>
          <a:p>
            <a:pPr>
              <a:lnSpc>
                <a:spcPct val="60000"/>
              </a:lnSpc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0" name="lbl_3"/>
          <p:cNvSpPr txBox="1">
            <a:spLocks noGrp="1"/>
          </p:cNvSpPr>
          <p:nvPr/>
        </p:nvSpPr>
        <p:spPr>
          <a:xfrm>
            <a:off x="3015719" y="3700000"/>
            <a:ext cx="835657" cy="370837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400">
                <a:solidFill>
                  <a:srgbClr val="2A2A2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0" name="code_3"/>
          <p:cNvSpPr txBox="1">
            <a:spLocks noGrp="1"/>
          </p:cNvSpPr>
          <p:nvPr/>
        </p:nvSpPr>
        <p:spPr>
          <a:xfrm>
            <a:off x="3015718" y="4110837"/>
            <a:ext cx="2031997" cy="979163"/>
          </a:xfrm>
          <a:prstGeom prst="rect">
            <a:avLst/>
          </a:prstGeom>
          <a:noFill/>
        </p:spPr>
        <p:txBody>
          <a:bodyPr lIns="20000" tIns="20000" rIns="20000" bIns="20000">
            <a:normAutofit fontScale="100000" lnSpcReduction="0"/>
          </a:bodyPr>
          <a:lstStyle/>
          <a:p>
            <a:pPr>
              <a:lnSpc>
                <a:spcPct val="60000"/>
              </a:lnSpc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100.0)</a:t>
            </a:r>
          </a:p>
        </p:txBody>
      </p:sp>
      <p:sp>
        <p:nvSpPr>
          <p:cNvPr id="0" name="lbl_4"/>
          <p:cNvSpPr txBox="1">
            <a:spLocks noGrp="1"/>
          </p:cNvSpPr>
          <p:nvPr/>
        </p:nvSpPr>
        <p:spPr>
          <a:xfrm>
            <a:off x="6875719" y="3700000"/>
            <a:ext cx="347977" cy="370837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400">
                <a:solidFill>
                  <a:srgbClr val="2A2A2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0" name="code_4"/>
          <p:cNvSpPr txBox="1">
            <a:spLocks noGrp="1"/>
          </p:cNvSpPr>
          <p:nvPr/>
        </p:nvSpPr>
        <p:spPr>
          <a:xfrm>
            <a:off x="6875719" y="4110837"/>
            <a:ext cx="2268281" cy="979163"/>
          </a:xfrm>
          <a:prstGeom prst="rect">
            <a:avLst/>
          </a:prstGeom>
          <a:noFill/>
        </p:spPr>
        <p:txBody>
          <a:bodyPr lIns="20000" tIns="20000" rIns="20000" bIns="20000">
            <a:normAutofit fontScale="100000" lnSpcReduction="0"/>
          </a:bodyPr>
          <a:lstStyle/>
          <a:p>
            <a:pPr>
              <a:lnSpc>
                <a:spcPct val="60000"/>
              </a:lnSpc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1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Google Shape;61;p6"/>
          <p:cNvSpPr/>
          <p:nvPr/>
        </p:nvSpPr>
        <p:spPr>
          <a:xfrm>
            <a:off x="2114550" y="442912"/>
            <a:ext cx="1101629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" name="Google Shape;62;p6"/>
          <p:cNvSpPr txBox="1"/>
          <p:nvPr/>
        </p:nvSpPr>
        <p:spPr>
          <a:xfrm>
            <a:off x="2286746" y="493098"/>
            <a:ext cx="75723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9" name="Google Shape;63;p6"/>
          <p:cNvSpPr/>
          <p:nvPr/>
        </p:nvSpPr>
        <p:spPr>
          <a:xfrm>
            <a:off x="3319462" y="442912"/>
            <a:ext cx="1149254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" name="Google Shape;64;p6"/>
          <p:cNvSpPr txBox="1"/>
          <p:nvPr/>
        </p:nvSpPr>
        <p:spPr>
          <a:xfrm>
            <a:off x="3491658" y="493098"/>
            <a:ext cx="80486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0" name="title"/>
          <p:cNvSpPr txBox="1">
            <a:spLocks noGrp="1"/>
          </p:cNvSpPr>
          <p:nvPr/>
        </p:nvSpPr>
        <p:spPr>
          <a:xfrm>
            <a:off x="404977" y="938038"/>
            <a:ext cx="5824540" cy="342901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0" name="sub"/>
          <p:cNvSpPr txBox="1">
            <a:spLocks noGrp="1"/>
          </p:cNvSpPr>
          <p:nvPr/>
        </p:nvSpPr>
        <p:spPr>
          <a:xfrm>
            <a:off x="381661" y="1330000"/>
            <a:ext cx="8200000" cy="280000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 sz="14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Задача:</a:t>
            </a:r>
            <a:r>
              <a:t> </a:t>
            </a:r>
            <a:r>
              <a:rPr>
                <a:solidFill>
                  <a:srgbClr val="A7A7A7"/>
                </a:solidFill>
              </a:rPr>
              <a:t>сумма скидок для заказов дороже 100, скидка 10%</a:t>
            </a:r>
          </a:p>
        </p:txBody>
      </p:sp>
      <p:sp>
        <p:nvSpPr>
          <p:cNvPr id="0" name="lbl_0"/>
          <p:cNvSpPr txBox="1">
            <a:spLocks noGrp="1"/>
          </p:cNvSpPr>
          <p:nvPr/>
        </p:nvSpPr>
        <p:spPr>
          <a:xfrm>
            <a:off x="655718" y="1680000"/>
            <a:ext cx="713737" cy="370837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400">
                <a:solidFill>
                  <a:srgbClr val="2A2A2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0" name="code_0"/>
          <p:cNvSpPr txBox="1">
            <a:spLocks noGrp="1"/>
          </p:cNvSpPr>
          <p:nvPr/>
        </p:nvSpPr>
        <p:spPr>
          <a:xfrm>
            <a:off x="655720" y="2090837"/>
            <a:ext cx="3540757" cy="1549163"/>
          </a:xfrm>
          <a:prstGeom prst="rect">
            <a:avLst/>
          </a:prstGeom>
          <a:noFill/>
        </p:spPr>
        <p:txBody>
          <a:bodyPr lIns="20000" tIns="20000" rIns="20000" bIns="20000">
            <a:normAutofit fontScale="100000" lnSpcReduction="0"/>
          </a:bodyPr>
          <a:lstStyle/>
          <a:p>
            <a:pPr>
              <a:lnSpc>
                <a:spcPct val="60000"/>
              </a:lnSpc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o -&gt;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List.map (fun o -&gt; o.price *.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+. ) 0.0</a:t>
            </a:r>
          </a:p>
        </p:txBody>
      </p:sp>
      <p:sp>
        <p:nvSpPr>
          <p:cNvPr id="0" name="lbl_1"/>
          <p:cNvSpPr txBox="1">
            <a:spLocks noGrp="1"/>
          </p:cNvSpPr>
          <p:nvPr/>
        </p:nvSpPr>
        <p:spPr>
          <a:xfrm>
            <a:off x="4155718" y="1680000"/>
            <a:ext cx="713737" cy="370837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400">
                <a:solidFill>
                  <a:srgbClr val="2A2A2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0" name="code_1"/>
          <p:cNvSpPr txBox="1">
            <a:spLocks noGrp="1"/>
          </p:cNvSpPr>
          <p:nvPr/>
        </p:nvSpPr>
        <p:spPr>
          <a:xfrm>
            <a:off x="4155716" y="2090837"/>
            <a:ext cx="2702557" cy="1549163"/>
          </a:xfrm>
          <a:prstGeom prst="rect">
            <a:avLst/>
          </a:prstGeom>
          <a:noFill/>
        </p:spPr>
        <p:txBody>
          <a:bodyPr lIns="20000" tIns="20000" rIns="20000" bIns="20000">
            <a:normAutofit fontScale="100000" lnSpcReduction="0"/>
          </a:bodyPr>
          <a:lstStyle/>
          <a:p>
            <a:pPr>
              <a:lnSpc>
                <a:spcPct val="60000"/>
              </a:lnSpc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0" name="lbl_2"/>
          <p:cNvSpPr txBox="1">
            <a:spLocks noGrp="1"/>
          </p:cNvSpPr>
          <p:nvPr/>
        </p:nvSpPr>
        <p:spPr>
          <a:xfrm>
            <a:off x="7015718" y="1680000"/>
            <a:ext cx="591817" cy="370837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4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0" name="code_2"/>
          <p:cNvSpPr txBox="1">
            <a:spLocks noGrp="1"/>
          </p:cNvSpPr>
          <p:nvPr/>
        </p:nvSpPr>
        <p:spPr>
          <a:xfrm>
            <a:off x="7015718" y="2090837"/>
            <a:ext cx="2128282" cy="1549163"/>
          </a:xfrm>
          <a:prstGeom prst="rect">
            <a:avLst/>
          </a:prstGeom>
          <a:noFill/>
        </p:spPr>
        <p:txBody>
          <a:bodyPr lIns="20000" tIns="20000" rIns="20000" bIns="20000">
            <a:normAutofit fontScale="100000" lnSpcReduction="0"/>
          </a:bodyPr>
          <a:lstStyle/>
          <a:p>
            <a:pPr>
              <a:lnSpc>
                <a:spcPct val="60000"/>
              </a:lnSpc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0" name="lbl_3"/>
          <p:cNvSpPr txBox="1">
            <a:spLocks noGrp="1"/>
          </p:cNvSpPr>
          <p:nvPr/>
        </p:nvSpPr>
        <p:spPr>
          <a:xfrm>
            <a:off x="3015719" y="3700000"/>
            <a:ext cx="835657" cy="370837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400">
                <a:solidFill>
                  <a:srgbClr val="2A2A2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0" name="code_3"/>
          <p:cNvSpPr txBox="1">
            <a:spLocks noGrp="1"/>
          </p:cNvSpPr>
          <p:nvPr/>
        </p:nvSpPr>
        <p:spPr>
          <a:xfrm>
            <a:off x="3015718" y="4110837"/>
            <a:ext cx="2031997" cy="979163"/>
          </a:xfrm>
          <a:prstGeom prst="rect">
            <a:avLst/>
          </a:prstGeom>
          <a:noFill/>
        </p:spPr>
        <p:txBody>
          <a:bodyPr lIns="20000" tIns="20000" rIns="20000" bIns="20000">
            <a:normAutofit fontScale="100000" lnSpcReduction="0"/>
          </a:bodyPr>
          <a:lstStyle/>
          <a:p>
            <a:pPr>
              <a:lnSpc>
                <a:spcPct val="60000"/>
              </a:lnSpc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100.0)</a:t>
            </a:r>
          </a:p>
        </p:txBody>
      </p:sp>
      <p:sp>
        <p:nvSpPr>
          <p:cNvPr id="0" name="lbl_4"/>
          <p:cNvSpPr txBox="1">
            <a:spLocks noGrp="1"/>
          </p:cNvSpPr>
          <p:nvPr/>
        </p:nvSpPr>
        <p:spPr>
          <a:xfrm>
            <a:off x="6875719" y="3700000"/>
            <a:ext cx="347977" cy="370837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400">
                <a:solidFill>
                  <a:srgbClr val="2A2A2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0" name="code_4"/>
          <p:cNvSpPr txBox="1">
            <a:spLocks noGrp="1"/>
          </p:cNvSpPr>
          <p:nvPr/>
        </p:nvSpPr>
        <p:spPr>
          <a:xfrm>
            <a:off x="6875719" y="4110837"/>
            <a:ext cx="2268281" cy="979163"/>
          </a:xfrm>
          <a:prstGeom prst="rect">
            <a:avLst/>
          </a:prstGeom>
          <a:noFill/>
        </p:spPr>
        <p:txBody>
          <a:bodyPr lIns="20000" tIns="20000" rIns="20000" bIns="20000">
            <a:normAutofit fontScale="100000" lnSpcReduction="0"/>
          </a:bodyPr>
          <a:lstStyle/>
          <a:p>
            <a:pPr>
              <a:lnSpc>
                <a:spcPct val="60000"/>
              </a:lnSpc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1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Google Shape;61;p6"/>
          <p:cNvSpPr/>
          <p:nvPr/>
        </p:nvSpPr>
        <p:spPr>
          <a:xfrm>
            <a:off x="2114550" y="442912"/>
            <a:ext cx="1101629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" name="Google Shape;62;p6"/>
          <p:cNvSpPr txBox="1"/>
          <p:nvPr/>
        </p:nvSpPr>
        <p:spPr>
          <a:xfrm>
            <a:off x="2286746" y="493098"/>
            <a:ext cx="75723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9" name="Google Shape;63;p6"/>
          <p:cNvSpPr/>
          <p:nvPr/>
        </p:nvSpPr>
        <p:spPr>
          <a:xfrm>
            <a:off x="3319462" y="442912"/>
            <a:ext cx="1149254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" name="Google Shape;64;p6"/>
          <p:cNvSpPr txBox="1"/>
          <p:nvPr/>
        </p:nvSpPr>
        <p:spPr>
          <a:xfrm>
            <a:off x="3491658" y="493098"/>
            <a:ext cx="80486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0" name="title"/>
          <p:cNvSpPr txBox="1">
            <a:spLocks noGrp="1"/>
          </p:cNvSpPr>
          <p:nvPr/>
        </p:nvSpPr>
        <p:spPr>
          <a:xfrm>
            <a:off x="404977" y="938038"/>
            <a:ext cx="5824540" cy="342901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0" name="sub"/>
          <p:cNvSpPr txBox="1">
            <a:spLocks noGrp="1"/>
          </p:cNvSpPr>
          <p:nvPr/>
        </p:nvSpPr>
        <p:spPr>
          <a:xfrm>
            <a:off x="381661" y="1330000"/>
            <a:ext cx="8200000" cy="280000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 sz="14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Задача:</a:t>
            </a:r>
            <a:r>
              <a:t> </a:t>
            </a:r>
            <a:r>
              <a:rPr>
                <a:solidFill>
                  <a:srgbClr val="A7A7A7"/>
                </a:solidFill>
              </a:rPr>
              <a:t>сумма скидок для заказов дороже 100, скидка 10%</a:t>
            </a:r>
          </a:p>
        </p:txBody>
      </p:sp>
      <p:sp>
        <p:nvSpPr>
          <p:cNvPr id="0" name="lbl_0"/>
          <p:cNvSpPr txBox="1">
            <a:spLocks noGrp="1"/>
          </p:cNvSpPr>
          <p:nvPr/>
        </p:nvSpPr>
        <p:spPr>
          <a:xfrm>
            <a:off x="655718" y="1680000"/>
            <a:ext cx="713737" cy="370837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400">
                <a:solidFill>
                  <a:srgbClr val="2A2A2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0" name="code_0"/>
          <p:cNvSpPr txBox="1">
            <a:spLocks noGrp="1"/>
          </p:cNvSpPr>
          <p:nvPr/>
        </p:nvSpPr>
        <p:spPr>
          <a:xfrm>
            <a:off x="655720" y="2090837"/>
            <a:ext cx="3540757" cy="1549163"/>
          </a:xfrm>
          <a:prstGeom prst="rect">
            <a:avLst/>
          </a:prstGeom>
          <a:noFill/>
        </p:spPr>
        <p:txBody>
          <a:bodyPr lIns="20000" tIns="20000" rIns="20000" bIns="20000">
            <a:normAutofit fontScale="100000" lnSpcReduction="0"/>
          </a:bodyPr>
          <a:lstStyle/>
          <a:p>
            <a:pPr>
              <a:lnSpc>
                <a:spcPct val="60000"/>
              </a:lnSpc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o -&gt;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List.map (fun o -&gt; o.price *.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+. ) 0.0</a:t>
            </a:r>
          </a:p>
        </p:txBody>
      </p:sp>
      <p:sp>
        <p:nvSpPr>
          <p:cNvPr id="0" name="lbl_1"/>
          <p:cNvSpPr txBox="1">
            <a:spLocks noGrp="1"/>
          </p:cNvSpPr>
          <p:nvPr/>
        </p:nvSpPr>
        <p:spPr>
          <a:xfrm>
            <a:off x="4155718" y="1680000"/>
            <a:ext cx="713737" cy="370837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400">
                <a:solidFill>
                  <a:srgbClr val="2A2A2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0" name="code_1"/>
          <p:cNvSpPr txBox="1">
            <a:spLocks noGrp="1"/>
          </p:cNvSpPr>
          <p:nvPr/>
        </p:nvSpPr>
        <p:spPr>
          <a:xfrm>
            <a:off x="4155716" y="2090837"/>
            <a:ext cx="2702557" cy="1549163"/>
          </a:xfrm>
          <a:prstGeom prst="rect">
            <a:avLst/>
          </a:prstGeom>
          <a:noFill/>
        </p:spPr>
        <p:txBody>
          <a:bodyPr lIns="20000" tIns="20000" rIns="20000" bIns="20000">
            <a:normAutofit fontScale="100000" lnSpcReduction="0"/>
          </a:bodyPr>
          <a:lstStyle/>
          <a:p>
            <a:pPr>
              <a:lnSpc>
                <a:spcPct val="60000"/>
              </a:lnSpc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0" name="lbl_2"/>
          <p:cNvSpPr txBox="1">
            <a:spLocks noGrp="1"/>
          </p:cNvSpPr>
          <p:nvPr/>
        </p:nvSpPr>
        <p:spPr>
          <a:xfrm>
            <a:off x="7015718" y="1680000"/>
            <a:ext cx="591817" cy="370837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400">
                <a:solidFill>
                  <a:srgbClr val="2A2A2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0" name="code_2"/>
          <p:cNvSpPr txBox="1">
            <a:spLocks noGrp="1"/>
          </p:cNvSpPr>
          <p:nvPr/>
        </p:nvSpPr>
        <p:spPr>
          <a:xfrm>
            <a:off x="7015718" y="2090837"/>
            <a:ext cx="2128282" cy="1549163"/>
          </a:xfrm>
          <a:prstGeom prst="rect">
            <a:avLst/>
          </a:prstGeom>
          <a:noFill/>
        </p:spPr>
        <p:txBody>
          <a:bodyPr lIns="20000" tIns="20000" rIns="20000" bIns="20000">
            <a:normAutofit fontScale="100000" lnSpcReduction="0"/>
          </a:bodyPr>
          <a:lstStyle/>
          <a:p>
            <a:pPr>
              <a:lnSpc>
                <a:spcPct val="60000"/>
              </a:lnSpc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0" name="lbl_3"/>
          <p:cNvSpPr txBox="1">
            <a:spLocks noGrp="1"/>
          </p:cNvSpPr>
          <p:nvPr/>
        </p:nvSpPr>
        <p:spPr>
          <a:xfrm>
            <a:off x="3015719" y="3700000"/>
            <a:ext cx="835657" cy="370837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4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0" name="code_3"/>
          <p:cNvSpPr txBox="1">
            <a:spLocks noGrp="1"/>
          </p:cNvSpPr>
          <p:nvPr/>
        </p:nvSpPr>
        <p:spPr>
          <a:xfrm>
            <a:off x="3015718" y="4110837"/>
            <a:ext cx="2031997" cy="979163"/>
          </a:xfrm>
          <a:prstGeom prst="rect">
            <a:avLst/>
          </a:prstGeom>
          <a:noFill/>
        </p:spPr>
        <p:txBody>
          <a:bodyPr lIns="20000" tIns="20000" rIns="20000" bIns="20000">
            <a:normAutofit fontScale="100000" lnSpcReduction="0"/>
          </a:bodyPr>
          <a:lstStyle/>
          <a:p>
            <a:pPr>
              <a:lnSpc>
                <a:spcPct val="60000"/>
              </a:lnSpc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100.0)</a:t>
            </a:r>
          </a:p>
        </p:txBody>
      </p:sp>
      <p:sp>
        <p:nvSpPr>
          <p:cNvPr id="0" name="lbl_4"/>
          <p:cNvSpPr txBox="1">
            <a:spLocks noGrp="1"/>
          </p:cNvSpPr>
          <p:nvPr/>
        </p:nvSpPr>
        <p:spPr>
          <a:xfrm>
            <a:off x="6875719" y="3700000"/>
            <a:ext cx="347977" cy="370837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400">
                <a:solidFill>
                  <a:srgbClr val="2A2A2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0" name="code_4"/>
          <p:cNvSpPr txBox="1">
            <a:spLocks noGrp="1"/>
          </p:cNvSpPr>
          <p:nvPr/>
        </p:nvSpPr>
        <p:spPr>
          <a:xfrm>
            <a:off x="6875719" y="4110837"/>
            <a:ext cx="2268281" cy="979163"/>
          </a:xfrm>
          <a:prstGeom prst="rect">
            <a:avLst/>
          </a:prstGeom>
          <a:noFill/>
        </p:spPr>
        <p:txBody>
          <a:bodyPr lIns="20000" tIns="20000" rIns="20000" bIns="20000">
            <a:normAutofit fontScale="100000" lnSpcReduction="0"/>
          </a:bodyPr>
          <a:lstStyle/>
          <a:p>
            <a:pPr>
              <a:lnSpc>
                <a:spcPct val="60000"/>
              </a:lnSpc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1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Google Shape;61;p6"/>
          <p:cNvSpPr/>
          <p:nvPr/>
        </p:nvSpPr>
        <p:spPr>
          <a:xfrm>
            <a:off x="2114550" y="442912"/>
            <a:ext cx="1101629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" name="Google Shape;62;p6"/>
          <p:cNvSpPr txBox="1"/>
          <p:nvPr/>
        </p:nvSpPr>
        <p:spPr>
          <a:xfrm>
            <a:off x="2286746" y="493098"/>
            <a:ext cx="75723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9" name="Google Shape;63;p6"/>
          <p:cNvSpPr/>
          <p:nvPr/>
        </p:nvSpPr>
        <p:spPr>
          <a:xfrm>
            <a:off x="3319462" y="442912"/>
            <a:ext cx="1149254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" name="Google Shape;64;p6"/>
          <p:cNvSpPr txBox="1"/>
          <p:nvPr/>
        </p:nvSpPr>
        <p:spPr>
          <a:xfrm>
            <a:off x="3491658" y="493098"/>
            <a:ext cx="80486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0" name="title"/>
          <p:cNvSpPr txBox="1">
            <a:spLocks noGrp="1"/>
          </p:cNvSpPr>
          <p:nvPr/>
        </p:nvSpPr>
        <p:spPr>
          <a:xfrm>
            <a:off x="404977" y="938038"/>
            <a:ext cx="5824540" cy="342901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0" name="sub"/>
          <p:cNvSpPr txBox="1">
            <a:spLocks noGrp="1"/>
          </p:cNvSpPr>
          <p:nvPr/>
        </p:nvSpPr>
        <p:spPr>
          <a:xfrm>
            <a:off x="381661" y="1330000"/>
            <a:ext cx="8200000" cy="280000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 sz="14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Задача:</a:t>
            </a:r>
            <a:r>
              <a:t> </a:t>
            </a:r>
            <a:r>
              <a:rPr>
                <a:solidFill>
                  <a:srgbClr val="A7A7A7"/>
                </a:solidFill>
              </a:rPr>
              <a:t>сумма скидок для заказов дороже 100, скидка 10%</a:t>
            </a:r>
          </a:p>
        </p:txBody>
      </p:sp>
      <p:sp>
        <p:nvSpPr>
          <p:cNvPr id="0" name="lbl_0"/>
          <p:cNvSpPr txBox="1">
            <a:spLocks noGrp="1"/>
          </p:cNvSpPr>
          <p:nvPr/>
        </p:nvSpPr>
        <p:spPr>
          <a:xfrm>
            <a:off x="655718" y="1680000"/>
            <a:ext cx="713737" cy="370837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400">
                <a:solidFill>
                  <a:srgbClr val="2A2A2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OCaml</a:t>
            </a:r>
          </a:p>
        </p:txBody>
      </p:sp>
      <p:sp>
        <p:nvSpPr>
          <p:cNvPr id="0" name="code_0"/>
          <p:cNvSpPr txBox="1">
            <a:spLocks noGrp="1"/>
          </p:cNvSpPr>
          <p:nvPr/>
        </p:nvSpPr>
        <p:spPr>
          <a:xfrm>
            <a:off x="655720" y="2090837"/>
            <a:ext cx="3540757" cy="1549163"/>
          </a:xfrm>
          <a:prstGeom prst="rect">
            <a:avLst/>
          </a:prstGeom>
          <a:noFill/>
        </p:spPr>
        <p:txBody>
          <a:bodyPr lIns="20000" tIns="20000" rIns="20000" bIns="20000">
            <a:normAutofit fontScale="100000" lnSpcReduction="0"/>
          </a:bodyPr>
          <a:lstStyle/>
          <a:p>
            <a:pPr>
              <a:lnSpc>
                <a:spcPct val="60000"/>
              </a:lnSpc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let discount orders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List.filter (fun o -&gt;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List.map (fun o -&gt; o.price *.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|&gt; List.fold_left ( +. ) 0.0</a:t>
            </a:r>
          </a:p>
        </p:txBody>
      </p:sp>
      <p:sp>
        <p:nvSpPr>
          <p:cNvPr id="0" name="lbl_1"/>
          <p:cNvSpPr txBox="1">
            <a:spLocks noGrp="1"/>
          </p:cNvSpPr>
          <p:nvPr/>
        </p:nvSpPr>
        <p:spPr>
          <a:xfrm>
            <a:off x="4155718" y="1680000"/>
            <a:ext cx="713737" cy="370837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400">
                <a:solidFill>
                  <a:srgbClr val="2A2A2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Scala</a:t>
            </a:r>
          </a:p>
        </p:txBody>
      </p:sp>
      <p:sp>
        <p:nvSpPr>
          <p:cNvPr id="0" name="code_1"/>
          <p:cNvSpPr txBox="1">
            <a:spLocks noGrp="1"/>
          </p:cNvSpPr>
          <p:nvPr/>
        </p:nvSpPr>
        <p:spPr>
          <a:xfrm>
            <a:off x="4155716" y="2090837"/>
            <a:ext cx="2702557" cy="1549163"/>
          </a:xfrm>
          <a:prstGeom prst="rect">
            <a:avLst/>
          </a:prstGeom>
          <a:noFill/>
        </p:spPr>
        <p:txBody>
          <a:bodyPr lIns="20000" tIns="20000" rIns="20000" bIns="20000">
            <a:normAutofit fontScale="100000" lnSpcReduction="0"/>
          </a:bodyPr>
          <a:lstStyle/>
          <a:p>
            <a:pPr>
              <a:lnSpc>
                <a:spcPct val="60000"/>
              </a:lnSpc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discount(xs: List[Order]) =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.filter(_.price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.map(_.price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</a:t>
            </a:r>
          </a:p>
        </p:txBody>
      </p:sp>
      <p:sp>
        <p:nvSpPr>
          <p:cNvPr id="0" name="lbl_2"/>
          <p:cNvSpPr txBox="1">
            <a:spLocks noGrp="1"/>
          </p:cNvSpPr>
          <p:nvPr/>
        </p:nvSpPr>
        <p:spPr>
          <a:xfrm>
            <a:off x="7015718" y="1680000"/>
            <a:ext cx="591817" cy="370837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400">
                <a:solidFill>
                  <a:srgbClr val="2A2A2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Rust</a:t>
            </a:r>
          </a:p>
        </p:txBody>
      </p:sp>
      <p:sp>
        <p:nvSpPr>
          <p:cNvPr id="0" name="code_2"/>
          <p:cNvSpPr txBox="1">
            <a:spLocks noGrp="1"/>
          </p:cNvSpPr>
          <p:nvPr/>
        </p:nvSpPr>
        <p:spPr>
          <a:xfrm>
            <a:off x="7015718" y="2090837"/>
            <a:ext cx="2128282" cy="1549163"/>
          </a:xfrm>
          <a:prstGeom prst="rect">
            <a:avLst/>
          </a:prstGeom>
          <a:noFill/>
        </p:spPr>
        <p:txBody>
          <a:bodyPr lIns="20000" tIns="20000" rIns="20000" bIns="20000">
            <a:normAutofit fontScale="100000" lnSpcReduction="0"/>
          </a:bodyPr>
          <a:lstStyle/>
          <a:p>
            <a:pPr>
              <a:lnSpc>
                <a:spcPct val="60000"/>
              </a:lnSpc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fn discount(xs: &amp;[Order]) -&gt; f64 {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xs.iter()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.filter(|o| o.price &gt; 100.)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.map(|o|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.sum()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}</a:t>
            </a:r>
          </a:p>
        </p:txBody>
      </p:sp>
      <p:sp>
        <p:nvSpPr>
          <p:cNvPr id="0" name="lbl_3"/>
          <p:cNvSpPr txBox="1">
            <a:spLocks noGrp="1"/>
          </p:cNvSpPr>
          <p:nvPr/>
        </p:nvSpPr>
        <p:spPr>
          <a:xfrm>
            <a:off x="3015719" y="3700000"/>
            <a:ext cx="835657" cy="370837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400">
                <a:solidFill>
                  <a:srgbClr val="2A2A2A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Python</a:t>
            </a:r>
          </a:p>
        </p:txBody>
      </p:sp>
      <p:sp>
        <p:nvSpPr>
          <p:cNvPr id="0" name="code_3"/>
          <p:cNvSpPr txBox="1">
            <a:spLocks noGrp="1"/>
          </p:cNvSpPr>
          <p:nvPr/>
        </p:nvSpPr>
        <p:spPr>
          <a:xfrm>
            <a:off x="3015718" y="4110837"/>
            <a:ext cx="2031997" cy="979163"/>
          </a:xfrm>
          <a:prstGeom prst="rect">
            <a:avLst/>
          </a:prstGeom>
          <a:noFill/>
        </p:spPr>
        <p:txBody>
          <a:bodyPr lIns="20000" tIns="20000" rIns="20000" bIns="20000">
            <a:normAutofit fontScale="100000" lnSpcReduction="0"/>
          </a:bodyPr>
          <a:lstStyle/>
          <a:p>
            <a:pPr>
              <a:lnSpc>
                <a:spcPct val="60000"/>
              </a:lnSpc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def discount(orders):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return sum(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o.price * 0.1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for o in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2A2A2A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if o.price &gt; 100.0)</a:t>
            </a:r>
          </a:p>
        </p:txBody>
      </p:sp>
      <p:sp>
        <p:nvSpPr>
          <p:cNvPr id="0" name="lbl_4"/>
          <p:cNvSpPr txBox="1">
            <a:spLocks noGrp="1"/>
          </p:cNvSpPr>
          <p:nvPr/>
        </p:nvSpPr>
        <p:spPr>
          <a:xfrm>
            <a:off x="6875719" y="3700000"/>
            <a:ext cx="347977" cy="370837"/>
          </a:xfrm>
          <a:prstGeom prst="rect">
            <a:avLst/>
          </a:prstGeom>
          <a:noFill/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14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JS</a:t>
            </a:r>
          </a:p>
        </p:txBody>
      </p:sp>
      <p:sp>
        <p:nvSpPr>
          <p:cNvPr id="0" name="code_4"/>
          <p:cNvSpPr txBox="1">
            <a:spLocks noGrp="1"/>
          </p:cNvSpPr>
          <p:nvPr/>
        </p:nvSpPr>
        <p:spPr>
          <a:xfrm>
            <a:off x="6875719" y="4110837"/>
            <a:ext cx="2268281" cy="979163"/>
          </a:xfrm>
          <a:prstGeom prst="rect">
            <a:avLst/>
          </a:prstGeom>
          <a:noFill/>
        </p:spPr>
        <p:txBody>
          <a:bodyPr lIns="20000" tIns="20000" rIns="20000" bIns="20000">
            <a:normAutofit fontScale="100000" lnSpcReduction="0"/>
          </a:bodyPr>
          <a:lstStyle/>
          <a:p>
            <a:pPr>
              <a:lnSpc>
                <a:spcPct val="60000"/>
              </a:lnSpc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discount = orders =&gt;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orders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.filter(o =&gt; o.price &gt; 100)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.map(o =&gt; o.price * 0.1)</a:t>
            </a:r>
          </a:p>
          <a:p>
            <a:pPr>
              <a:lnSpc>
                <a:spcPct val="60000"/>
              </a:lnSpc>
              <a:spcBef>
                <a:spcPts val="400"/>
              </a:spcBef>
              <a:defRPr sz="1100">
                <a:solidFill>
                  <a:srgbClr val="D0D0D0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    .reduce((s,d) =&gt; s+d, 0)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
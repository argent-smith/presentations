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2"/>
            <a:ext cx="75725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2"/>
            <a:ext cx="75725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9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1" y="3679196"/>
            <a:ext cx="5139637" cy="1250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 sz="13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 sz="13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407" cy="1232111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8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89" y="1735932"/>
            <a:ext cx="582456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1" y="2524746"/>
            <a:ext cx="4104964" cy="15279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Clr>
                <a:srgbClr val="A7A7A7"/>
              </a:buClr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Clr>
                <a:srgbClr val="A7A7A7"/>
              </a:buClr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64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47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3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11" cy="13656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9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2"/>
            <a:ext cx="7165165" cy="15279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46" y="1791579"/>
            <a:ext cx="80002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7" y="2097644"/>
            <a:ext cx="3249576" cy="1519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46" y="1791579"/>
            <a:ext cx="80002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7" y="2097644"/>
            <a:ext cx="3249576" cy="1519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46" y="1791579"/>
            <a:ext cx="80002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7" y="2097644"/>
            <a:ext cx="3249576" cy="1519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46" y="1791579"/>
            <a:ext cx="80002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7" y="2097644"/>
            <a:ext cx="3249576" cy="1519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46" y="1791579"/>
            <a:ext cx="80002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7" y="2097644"/>
            <a:ext cx="3249576" cy="1519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46" y="1791579"/>
            <a:ext cx="80002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7" y="2097644"/>
            <a:ext cx="3249576" cy="1519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3"/>
            <a:ext cx="7165165" cy="1849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2"/>
            <a:ext cx="3350005" cy="1500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4" y="2037506"/>
            <a:ext cx="2740010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5"/>
            <a:ext cx="2416601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2"/>
            <a:ext cx="3350005" cy="1500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4" y="2037506"/>
            <a:ext cx="2740010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5"/>
            <a:ext cx="2416601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2"/>
            <a:ext cx="3350005" cy="1500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4" y="2037506"/>
            <a:ext cx="2740010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5"/>
            <a:ext cx="2416601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2"/>
            <a:ext cx="3350005" cy="1500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4" y="2037506"/>
            <a:ext cx="2740010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5"/>
            <a:ext cx="2416601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2"/>
            <a:ext cx="3350005" cy="1500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4" y="2037506"/>
            <a:ext cx="2740010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5"/>
            <a:ext cx="2416601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2"/>
            <a:ext cx="3350005" cy="1500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4" y="2037506"/>
            <a:ext cx="2740010" cy="15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5"/>
            <a:ext cx="2416601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71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72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73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7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76" name="bullets"/>
          <p:cNvSpPr txBox="1"/>
          <p:nvPr/>
        </p:nvSpPr>
        <p:spPr>
          <a:xfrm>
            <a:off x="381660" y="1562943"/>
            <a:ext cx="7165165" cy="1849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80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81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82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8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8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586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87" name="code_0"/>
          <p:cNvSpPr txBox="1"/>
          <p:nvPr/>
        </p:nvSpPr>
        <p:spPr>
          <a:xfrm>
            <a:off x="355342" y="2116975"/>
            <a:ext cx="2344137" cy="77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user = { name: string; age: int }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{ name = "Alice"; age = 30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{ user with age = 31 }</a:t>
            </a:r>
          </a:p>
        </p:txBody>
      </p:sp>
      <p:sp>
        <p:nvSpPr>
          <p:cNvPr id="588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89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90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91" name="code_2"/>
          <p:cNvSpPr txBox="1"/>
          <p:nvPr/>
        </p:nvSpPr>
        <p:spPr>
          <a:xfrm>
            <a:off x="5985764" y="2037506"/>
            <a:ext cx="3071325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92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93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94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95" name="code_4"/>
          <p:cNvSpPr txBox="1"/>
          <p:nvPr/>
        </p:nvSpPr>
        <p:spPr>
          <a:xfrm>
            <a:off x="4849612" y="3710635"/>
            <a:ext cx="3072316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98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99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0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01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0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0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05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6" name="code_0"/>
          <p:cNvSpPr txBox="1"/>
          <p:nvPr/>
        </p:nvSpPr>
        <p:spPr>
          <a:xfrm>
            <a:off x="355342" y="2116975"/>
            <a:ext cx="2344137" cy="77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07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8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609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10" name="code_2"/>
          <p:cNvSpPr txBox="1"/>
          <p:nvPr/>
        </p:nvSpPr>
        <p:spPr>
          <a:xfrm>
            <a:off x="5985764" y="2037506"/>
            <a:ext cx="3071325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11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12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13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14" name="code_4"/>
          <p:cNvSpPr txBox="1"/>
          <p:nvPr/>
        </p:nvSpPr>
        <p:spPr>
          <a:xfrm>
            <a:off x="4849612" y="3710635"/>
            <a:ext cx="3072316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18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19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20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2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24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5" name="code_0"/>
          <p:cNvSpPr txBox="1"/>
          <p:nvPr/>
        </p:nvSpPr>
        <p:spPr>
          <a:xfrm>
            <a:off x="355342" y="2116975"/>
            <a:ext cx="2344137" cy="77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26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27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28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29" name="code_2"/>
          <p:cNvSpPr txBox="1"/>
          <p:nvPr/>
        </p:nvSpPr>
        <p:spPr>
          <a:xfrm>
            <a:off x="5985764" y="2037506"/>
            <a:ext cx="3071325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30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31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32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33" name="code_4"/>
          <p:cNvSpPr txBox="1"/>
          <p:nvPr/>
        </p:nvSpPr>
        <p:spPr>
          <a:xfrm>
            <a:off x="4849612" y="3710635"/>
            <a:ext cx="3072316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37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38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39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4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4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4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43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44" name="code_0"/>
          <p:cNvSpPr txBox="1"/>
          <p:nvPr/>
        </p:nvSpPr>
        <p:spPr>
          <a:xfrm>
            <a:off x="355342" y="2116975"/>
            <a:ext cx="2344137" cy="77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45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46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47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8" name="code_2"/>
          <p:cNvSpPr txBox="1"/>
          <p:nvPr/>
        </p:nvSpPr>
        <p:spPr>
          <a:xfrm>
            <a:off x="5985764" y="2037506"/>
            <a:ext cx="3071325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49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50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51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52" name="code_4"/>
          <p:cNvSpPr txBox="1"/>
          <p:nvPr/>
        </p:nvSpPr>
        <p:spPr>
          <a:xfrm>
            <a:off x="4849612" y="3710635"/>
            <a:ext cx="3072316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55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56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57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58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5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6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6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62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63" name="code_0"/>
          <p:cNvSpPr txBox="1"/>
          <p:nvPr/>
        </p:nvSpPr>
        <p:spPr>
          <a:xfrm>
            <a:off x="355342" y="2116975"/>
            <a:ext cx="2344137" cy="77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64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65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66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67" name="code_2"/>
          <p:cNvSpPr txBox="1"/>
          <p:nvPr/>
        </p:nvSpPr>
        <p:spPr>
          <a:xfrm>
            <a:off x="5985764" y="2037506"/>
            <a:ext cx="3071325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68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69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70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71" name="code_4"/>
          <p:cNvSpPr txBox="1"/>
          <p:nvPr/>
        </p:nvSpPr>
        <p:spPr>
          <a:xfrm>
            <a:off x="4849612" y="3710635"/>
            <a:ext cx="3072316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75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76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77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7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8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1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4" y="2037506"/>
            <a:ext cx="3071325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7" y="3420677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16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93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94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95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696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9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98" name="title"/>
          <p:cNvSpPr txBox="1"/>
          <p:nvPr/>
        </p:nvSpPr>
        <p:spPr>
          <a:xfrm>
            <a:off x="508459" y="907437"/>
            <a:ext cx="828242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Итог: пять свойств × пять языков</a:t>
            </a:r>
          </a:p>
        </p:txBody>
      </p:sp>
      <p:graphicFrame>
        <p:nvGraphicFramePr>
          <p:cNvPr id="699" name="summary_table"/>
          <p:cNvGraphicFramePr/>
          <p:nvPr/>
        </p:nvGraphicFramePr>
        <p:xfrm>
          <a:off x="534870" y="1504949"/>
          <a:ext cx="8229604" cy="30000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00000"/>
                <a:gridCol w="1105920"/>
                <a:gridCol w="1105920"/>
                <a:gridCol w="1105920"/>
                <a:gridCol w="1105920"/>
                <a:gridCol w="1105920"/>
              </a:tblGrid>
              <a:tr h="439999">
                <a:tc>
                  <a:txBody>
                    <a:bodyPr/>
                    <a:lstStyle/>
                    <a:p>
                      <a:pPr/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Декларативность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Выражения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Функции как значения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Чистота функций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</a:tbl>
          </a:graphicData>
        </a:graphic>
      </p:graphicFrame>
      <p:sp>
        <p:nvSpPr>
          <p:cNvPr id="700" name="legend"/>
          <p:cNvSpPr txBox="1"/>
          <p:nvPr/>
        </p:nvSpPr>
        <p:spPr>
          <a:xfrm>
            <a:off x="534870" y="4616787"/>
            <a:ext cx="8229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900">
                <a:solidFill>
                  <a:srgbClr val="E06C75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+++</a:t>
            </a:r>
            <a:r>
              <a:rPr>
                <a:solidFill>
                  <a:srgbClr val="606060"/>
                </a:solidFill>
              </a:rPr>
              <a:t> — в дизайне языка, идиоматично    </a:t>
            </a:r>
            <a:r>
              <a:rPr>
                <a:solidFill>
                  <a:srgbClr val="D0D0D0"/>
                </a:solidFill>
              </a:rPr>
              <a:t>++</a:t>
            </a:r>
            <a:r>
              <a:rPr>
                <a:solidFill>
                  <a:srgbClr val="606060"/>
                </a:solidFill>
              </a:rPr>
              <a:t> — поддерживается, требует дисциплины    + — возможно, но нетипично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03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04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5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06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0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08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ЗАДАНИЕ НА ДОМ</a:t>
            </a:r>
          </a:p>
        </p:txBody>
      </p:sp>
      <p:sp>
        <p:nvSpPr>
          <p:cNvPr id="709" name="bullets"/>
          <p:cNvSpPr txBox="1"/>
          <p:nvPr/>
        </p:nvSpPr>
        <p:spPr>
          <a:xfrm>
            <a:off x="402843" y="1586179"/>
            <a:ext cx="7165165" cy="21543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457200" indent="-457200">
              <a:lnSpc>
                <a:spcPct val="133302"/>
              </a:lnSpc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пяти свойств присутствуют в вашем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текущем проекте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них язык гарантирует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by design</a:t>
            </a:r>
            <a:r>
              <a:t>, а какие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конвенцией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Где явная иммутабельность или декларативный стиль снизили бы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когнитивную нагрузку</a:t>
            </a:r>
            <a:r>
              <a:t> в последнем PR?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12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13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14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15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1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17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БОНУС-ТРЕК: ФП В PRODUCTION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20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21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22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23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2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PRODUCTION: RUBY-СТЕК</a:t>
            </a:r>
          </a:p>
        </p:txBody>
      </p:sp>
      <p:sp>
        <p:nvSpPr>
          <p:cNvPr id="726" name="bullets"/>
          <p:cNvSpPr txBox="1"/>
          <p:nvPr/>
        </p:nvSpPr>
        <p:spPr>
          <a:xfrm>
            <a:off x="381660" y="1308943"/>
            <a:ext cx="7165165" cy="2357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Фреймворк: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Rails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dry-types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Type constructors, Value Objects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dry-validation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Contract DSL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dry-monads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Result, Do-нотация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dry-matcher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Pattern matching на Result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Архитектура: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CQRS + DDD, EventStore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29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30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31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32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EVENT FLOW: ТИПОВОЙ СЦЕНАРИЙ</a:t>
            </a:r>
          </a:p>
        </p:txBody>
      </p:sp>
      <p:pic>
        <p:nvPicPr>
          <p:cNvPr id="735" name="Picture 452" descr="Picture 45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00000" y="1402473"/>
            <a:ext cx="8544001" cy="367505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38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39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40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41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4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4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ФП → DDD: МАППИНГ</a:t>
            </a:r>
          </a:p>
        </p:txBody>
      </p:sp>
      <p:graphicFrame>
        <p:nvGraphicFramePr>
          <p:cNvPr id="744" name="Table 452"/>
          <p:cNvGraphicFramePr/>
          <p:nvPr/>
        </p:nvGraphicFramePr>
        <p:xfrm>
          <a:off x="381658" y="1449998"/>
          <a:ext cx="8380684" cy="340000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000000"/>
                <a:gridCol w="5380680"/>
              </a:tblGrid>
              <a:tr h="4000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Принципы ФП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DDD implementation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solidFill>
                      <a:srgbClr val="222222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Функции как значения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функциональный объект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Чистота функций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изолированная операция БЛ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Иммутабельность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иммутабельные DTO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Декларативность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монадный DSL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Выражения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ROP → Result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47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48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49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50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АРХИТЕКТУРА КОМАНДЫ</a:t>
            </a:r>
          </a:p>
        </p:txBody>
      </p:sp>
      <p:pic>
        <p:nvPicPr>
          <p:cNvPr id="753" name="Picture 452" descr="Picture 45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00000" y="1530000"/>
            <a:ext cx="8544001" cy="260182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56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57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58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59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ROP В КОМАНДЕ</a:t>
            </a:r>
          </a:p>
        </p:txBody>
      </p:sp>
      <p:sp>
        <p:nvSpPr>
          <p:cNvPr id="7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Railway-Oriented Programming через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.bind</a:t>
            </a:r>
          </a:p>
        </p:txBody>
      </p:sp>
      <p:sp>
        <p:nvSpPr>
          <p:cNvPr id="763" name="lbl_0"/>
          <p:cNvSpPr txBox="1"/>
          <p:nvPr/>
        </p:nvSpPr>
        <p:spPr>
          <a:xfrm>
            <a:off x="386755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64" name="code_0"/>
          <p:cNvSpPr txBox="1"/>
          <p:nvPr/>
        </p:nvSpPr>
        <p:spPr>
          <a:xfrm>
            <a:off x="386759" y="2097650"/>
            <a:ext cx="8373999" cy="30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call</a:t>
            </a:r>
            <a:r>
              <a:rPr>
                <a:solidFill>
                  <a:srgbClr val="D0D0D0"/>
                </a:solidFill>
              </a:rPr>
              <a:t>(raw_input = {})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56B6C2"/>
                </a:solidFill>
              </a:rPr>
              <a:t>@context_result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do_validate(raw_input)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|input| do_prepare(**input)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|input| do_persist!(**input)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|result| publish_events!(result) }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67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68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69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70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7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DO-НОТАЦИЯ</a:t>
            </a:r>
          </a:p>
        </p:txBody>
      </p:sp>
      <p:sp>
        <p:nvSpPr>
          <p:cNvPr id="7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yield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разворачивает Result внутри монады</a:t>
            </a:r>
          </a:p>
        </p:txBody>
      </p:sp>
      <p:sp>
        <p:nvSpPr>
          <p:cNvPr id="774" name="lbl_0"/>
          <p:cNvSpPr txBox="1"/>
          <p:nvPr/>
        </p:nvSpPr>
        <p:spPr>
          <a:xfrm>
            <a:off x="386755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75" name="code_0"/>
          <p:cNvSpPr txBox="1"/>
          <p:nvPr/>
        </p:nvSpPr>
        <p:spPr>
          <a:xfrm>
            <a:off x="386759" y="2097650"/>
            <a:ext cx="8373999" cy="30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include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Dry</a:t>
            </a:r>
            <a:r>
              <a:rPr>
                <a:solidFill>
                  <a:srgbClr val="D0D0D0"/>
                </a:solidFill>
              </a:rPr>
              <a:t>::</a:t>
            </a:r>
            <a:r>
              <a:rPr>
                <a:solidFill>
                  <a:srgbClr val="61AFEF"/>
                </a:solidFill>
              </a:rPr>
              <a:t>Monads</a:t>
            </a:r>
            <a:r>
              <a:rPr>
                <a:solidFill>
                  <a:srgbClr val="D0D0D0"/>
                </a:solidFill>
              </a:rPr>
              <a:t>::</a:t>
            </a:r>
            <a:r>
              <a:rPr>
                <a:solidFill>
                  <a:srgbClr val="61AFEF"/>
                </a:solidFill>
              </a:rPr>
              <a:t>Do</a:t>
            </a:r>
            <a:r>
              <a:rPr>
                <a:solidFill>
                  <a:srgbClr val="D0D0D0"/>
                </a:solidFill>
              </a:rPr>
              <a:t>.for(</a:t>
            </a:r>
            <a:r>
              <a:rPr>
                <a:solidFill>
                  <a:srgbClr val="56B6C2"/>
                </a:solidFill>
              </a:rPr>
              <a:t>:load_entity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load_entity</a:t>
            </a:r>
            <a:r>
              <a:rPr>
                <a:solidFill>
                  <a:srgbClr val="D0D0D0"/>
                </a:solidFill>
              </a:rPr>
              <a:t>(id:)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owner  = </a:t>
            </a:r>
            <a:r>
              <a:rPr>
                <a:solidFill>
                  <a:srgbClr val="E06C75"/>
                </a:solidFill>
              </a:rPr>
              <a:t>yield</a:t>
            </a:r>
            <a:r>
              <a:t> find_owner(id)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config = </a:t>
            </a:r>
            <a:r>
              <a:rPr>
                <a:solidFill>
                  <a:srgbClr val="E06C75"/>
                </a:solidFill>
              </a:rPr>
              <a:t>yield</a:t>
            </a:r>
            <a:r>
              <a:t> load_config(owner)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state  = </a:t>
            </a:r>
            <a:r>
              <a:rPr>
                <a:solidFill>
                  <a:srgbClr val="E06C75"/>
                </a:solidFill>
              </a:rPr>
              <a:t>yield</a:t>
            </a:r>
            <a:r>
              <a:t> resolve_state(config)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Success</a:t>
            </a:r>
            <a:r>
              <a:t>(</a:t>
            </a:r>
            <a:r>
              <a:rPr>
                <a:solidFill>
                  <a:srgbClr val="56B6C2"/>
                </a:solidFill>
              </a:rPr>
              <a:t>owner</a:t>
            </a:r>
            <a:r>
              <a:t>:, </a:t>
            </a:r>
            <a:r>
              <a:rPr>
                <a:solidFill>
                  <a:srgbClr val="56B6C2"/>
                </a:solidFill>
              </a:rPr>
              <a:t>config</a:t>
            </a:r>
            <a:r>
              <a:t>:, </a:t>
            </a:r>
            <a:r>
              <a:rPr>
                <a:solidFill>
                  <a:srgbClr val="56B6C2"/>
                </a:solidFill>
              </a:rPr>
              <a:t>state</a:t>
            </a:r>
            <a:r>
              <a:t>:)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8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79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80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81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8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8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ТИПОВЫЕ КОНТРАКТЫ</a:t>
            </a:r>
          </a:p>
        </p:txBody>
      </p:sp>
      <p:sp>
        <p:nvSpPr>
          <p:cNvPr id="78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dry-types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конструкторы типов как значения</a:t>
            </a:r>
          </a:p>
        </p:txBody>
      </p:sp>
      <p:sp>
        <p:nvSpPr>
          <p:cNvPr id="785" name="lbl_0"/>
          <p:cNvSpPr txBox="1"/>
          <p:nvPr/>
        </p:nvSpPr>
        <p:spPr>
          <a:xfrm>
            <a:off x="386755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86" name="code_0"/>
          <p:cNvSpPr txBox="1"/>
          <p:nvPr/>
        </p:nvSpPr>
        <p:spPr>
          <a:xfrm>
            <a:off x="386759" y="2097650"/>
            <a:ext cx="8373999" cy="30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module</a:t>
            </a:r>
            <a:r>
              <a:rPr>
                <a:solidFill>
                  <a:srgbClr val="D0D0D0"/>
                </a:solidFill>
              </a:rPr>
              <a:t> DomainTypes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DownCasedString</a:t>
            </a:r>
            <a:r>
              <a:t> = </a:t>
            </a:r>
            <a:r>
              <a:rPr>
                <a:solidFill>
                  <a:srgbClr val="61AFEF"/>
                </a:solidFill>
              </a:rPr>
              <a:t>Types</a:t>
            </a:r>
            <a:r>
              <a:t>::String.constructor { |v| v&amp;.downcase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Email</a:t>
            </a:r>
            <a:r>
              <a:t> = </a:t>
            </a:r>
            <a:r>
              <a:rPr>
                <a:solidFill>
                  <a:srgbClr val="61AFEF"/>
                </a:solidFill>
              </a:rPr>
              <a:t>DownCasedString</a:t>
            </a:r>
            <a:r>
              <a:t>.constrained(format: </a:t>
            </a:r>
            <a:r>
              <a:rPr>
                <a:solidFill>
                  <a:srgbClr val="61AFEF"/>
                </a:solidFill>
              </a:rPr>
              <a:t>EMAIL_REGEXP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Uuid</a:t>
            </a:r>
            <a:r>
              <a:t>  = </a:t>
            </a:r>
            <a:r>
              <a:rPr>
                <a:solidFill>
                  <a:srgbClr val="61AFEF"/>
                </a:solidFill>
              </a:rPr>
              <a:t>StrippedString</a:t>
            </a:r>
            <a:r>
              <a:t>.constrained(format: </a:t>
            </a:r>
            <a:r>
              <a:rPr>
                <a:solidFill>
                  <a:srgbClr val="61AFEF"/>
                </a:solidFill>
              </a:rPr>
              <a:t>UUID_REGEXP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module</a:t>
            </a:r>
            <a:r>
              <a:t> HttpTypes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61AFEF"/>
                </a:solidFill>
              </a:rPr>
              <a:t>Method</a:t>
            </a:r>
            <a:r>
              <a:t>     = </a:t>
            </a:r>
            <a:r>
              <a:rPr>
                <a:solidFill>
                  <a:srgbClr val="61AFEF"/>
                </a:solidFill>
              </a:rPr>
              <a:t>Types</a:t>
            </a:r>
            <a:r>
              <a:t>::String.enum(*</a:t>
            </a:r>
            <a:r>
              <a:rPr>
                <a:solidFill>
                  <a:srgbClr val="98C379"/>
                </a:solidFill>
              </a:rPr>
              <a:t>%w[GET POST PUT PATCH DELETE]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61AFEF"/>
                </a:solidFill>
              </a:rPr>
              <a:t>SafeMethod</a:t>
            </a:r>
            <a:r>
              <a:t> = </a:t>
            </a:r>
            <a:r>
              <a:rPr>
                <a:solidFill>
                  <a:srgbClr val="61AFEF"/>
                </a:solidFill>
              </a:rPr>
              <a:t>Types</a:t>
            </a:r>
            <a:r>
              <a:t>::String.enum(*</a:t>
            </a:r>
            <a:r>
              <a:rPr>
                <a:solidFill>
                  <a:srgbClr val="98C379"/>
                </a:solidFill>
              </a:rPr>
              <a:t>%w[GET HEAD OPTIONS]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end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89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90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1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92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9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9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ДОМЕННЫЕ ОШИБКИ КАК ЗНАЧЕНИЯ</a:t>
            </a:r>
          </a:p>
        </p:txBody>
      </p:sp>
      <p:sp>
        <p:nvSpPr>
          <p:cNvPr id="79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DomainError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иммутабельный</a:t>
            </a:r>
            <a:r>
              <a:t> value object</a:t>
            </a:r>
          </a:p>
        </p:txBody>
      </p:sp>
      <p:sp>
        <p:nvSpPr>
          <p:cNvPr id="796" name="lbl_0"/>
          <p:cNvSpPr txBox="1"/>
          <p:nvPr/>
        </p:nvSpPr>
        <p:spPr>
          <a:xfrm>
            <a:off x="386755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97" name="code_0"/>
          <p:cNvSpPr txBox="1"/>
          <p:nvPr/>
        </p:nvSpPr>
        <p:spPr>
          <a:xfrm>
            <a:off x="386759" y="2097650"/>
            <a:ext cx="8373999" cy="30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DomainError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extend</a:t>
            </a:r>
            <a:r>
              <a:t> </a:t>
            </a:r>
            <a:r>
              <a:rPr>
                <a:solidFill>
                  <a:srgbClr val="61AFEF"/>
                </a:solidFill>
              </a:rPr>
              <a:t>Dry</a:t>
            </a:r>
            <a:r>
              <a:t>::</a:t>
            </a:r>
            <a:r>
              <a:rPr>
                <a:solidFill>
                  <a:srgbClr val="61AFEF"/>
                </a:solidFill>
              </a:rPr>
              <a:t>Initializer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:field</a:t>
            </a:r>
            <a:r>
              <a:t>, </a:t>
            </a:r>
            <a:r>
              <a:rPr>
                <a:solidFill>
                  <a:srgbClr val="56B6C2"/>
                </a:solidFill>
              </a:rPr>
              <a:t>optional</a:t>
            </a:r>
            <a:r>
              <a:t>: </a:t>
            </a:r>
            <a:r>
              <a:rPr>
                <a:solidFill>
                  <a:srgbClr val="E06C75"/>
                </a:solidFill>
              </a:rPr>
              <a:t>true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:meta</a:t>
            </a:r>
            <a:r>
              <a:t>,  </a:t>
            </a:r>
            <a:r>
              <a:rPr>
                <a:solidFill>
                  <a:srgbClr val="56B6C2"/>
                </a:solidFill>
              </a:rPr>
              <a:t>optional</a:t>
            </a:r>
            <a:r>
              <a:t>: </a:t>
            </a:r>
            <a:r>
              <a:rPr>
                <a:solidFill>
                  <a:srgbClr val="E06C75"/>
                </a:solidFill>
              </a:rPr>
              <a:t>true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def</a:t>
            </a:r>
            <a:r>
              <a:t> </a:t>
            </a:r>
            <a:r>
              <a:rPr>
                <a:solidFill>
                  <a:srgbClr val="61AFEF"/>
                </a:solidFill>
              </a:rPr>
              <a:t>to_monad</a:t>
            </a:r>
            <a:r>
              <a:t> = </a:t>
            </a:r>
            <a:r>
              <a:rPr>
                <a:solidFill>
                  <a:srgbClr val="61AFEF"/>
                </a:solidFill>
              </a:rPr>
              <a:t>Dry</a:t>
            </a:r>
            <a:r>
              <a:t>::</a:t>
            </a:r>
            <a:r>
              <a:rPr>
                <a:solidFill>
                  <a:srgbClr val="61AFEF"/>
                </a:solidFill>
              </a:rPr>
              <a:t>Monads</a:t>
            </a:r>
            <a:r>
              <a:t>::</a:t>
            </a:r>
            <a:r>
              <a:rPr>
                <a:solidFill>
                  <a:srgbClr val="61AFEF"/>
                </a:solidFill>
              </a:rPr>
              <a:t>Failure</a:t>
            </a:r>
            <a:r>
              <a:t>(self)</a:t>
            </a:r>
          </a:p>
          <a:p>
            <a:pPr>
              <a:lnSpc>
                <a:spcPct val="12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000">
                <a:solidFill>
                  <a:srgbClr val="61AFE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ExternalApiError</a:t>
            </a:r>
            <a:r>
              <a:rPr>
                <a:solidFill>
                  <a:srgbClr val="D0D0D0"/>
                </a:solidFill>
              </a:rPr>
              <a:t> = </a:t>
            </a:r>
            <a:r>
              <a:t>Class</a:t>
            </a:r>
            <a:r>
              <a:rPr>
                <a:solidFill>
                  <a:srgbClr val="D0D0D0"/>
                </a:solidFill>
              </a:rPr>
              <a:t>.new(</a:t>
            </a:r>
            <a:r>
              <a:t>DomainError</a:t>
            </a:r>
            <a:r>
              <a:rPr>
                <a:solidFill>
                  <a:srgbClr val="D0D0D0"/>
                </a:solidFill>
              </a:rPr>
              <a:t>) </a:t>
            </a:r>
            <a:r>
              <a:rPr>
                <a:solidFill>
                  <a:srgbClr val="E06C75"/>
                </a:solidFill>
              </a:rPr>
              <a:t>do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:path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:error_type</a:t>
            </a:r>
            <a:r>
              <a:t>  </a:t>
            </a:r>
            <a:r>
              <a:rPr>
                <a:solidFill>
                  <a:srgbClr val="95A5A6"/>
                </a:solidFill>
              </a:rPr>
              <a:t># :timeout | :connection_failed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:http_status</a:t>
            </a:r>
            <a:r>
              <a:t> </a:t>
            </a:r>
            <a:r>
              <a:rPr>
                <a:solidFill>
                  <a:srgbClr val="95A5A6"/>
                </a:solidFill>
              </a:rPr>
              <a:t># 502 | 504</a:t>
            </a:r>
          </a:p>
          <a:p>
            <a:pPr>
              <a:lnSpc>
                <a:spcPct val="12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00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801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02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803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0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0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БИЗНЕС-DSL</a:t>
            </a:r>
          </a:p>
        </p:txBody>
      </p:sp>
      <p:sp>
        <p:nvSpPr>
          <p:cNvPr id="80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DomainFailureMatcher: декларативный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pattern matching</a:t>
            </a:r>
          </a:p>
        </p:txBody>
      </p:sp>
      <p:sp>
        <p:nvSpPr>
          <p:cNvPr id="807" name="lbl_0"/>
          <p:cNvSpPr txBox="1"/>
          <p:nvPr/>
        </p:nvSpPr>
        <p:spPr>
          <a:xfrm>
            <a:off x="386755" y="1791579"/>
            <a:ext cx="71376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808" name="code_0"/>
          <p:cNvSpPr txBox="1"/>
          <p:nvPr/>
        </p:nvSpPr>
        <p:spPr>
          <a:xfrm>
            <a:off x="386759" y="2097650"/>
            <a:ext cx="8373999" cy="30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61AFE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MATCHER</a:t>
            </a:r>
            <a:r>
              <a:rPr>
                <a:solidFill>
                  <a:srgbClr val="D0D0D0"/>
                </a:solidFill>
              </a:rPr>
              <a:t> = </a:t>
            </a:r>
            <a:r>
              <a:t>DomainFailureMatcher</a:t>
            </a:r>
            <a:r>
              <a:rPr>
                <a:solidFill>
                  <a:srgbClr val="D0D0D0"/>
                </a:solidFill>
              </a:rPr>
              <a:t>.define_matcher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61AFE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MATCHER</a:t>
            </a:r>
            <a:r>
              <a:rPr>
                <a:solidFill>
                  <a:srgbClr val="D0D0D0"/>
                </a:solidFill>
              </a:rPr>
              <a:t>.call(command.call(params)) </a:t>
            </a:r>
            <a:r>
              <a:rPr>
                <a:solidFill>
                  <a:srgbClr val="E06C75"/>
                </a:solidFill>
              </a:rPr>
              <a:t>do</a:t>
            </a:r>
            <a:r>
              <a:rPr>
                <a:solidFill>
                  <a:srgbClr val="D0D0D0"/>
                </a:solidFill>
              </a:rPr>
              <a:t> |m|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m.success                   { |result| render_ok(result)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m.failure(</a:t>
            </a:r>
            <a:r>
              <a:rPr>
                <a:solidFill>
                  <a:srgbClr val="61AFEF"/>
                </a:solidFill>
              </a:rPr>
              <a:t>ExternalApiError</a:t>
            </a:r>
            <a:r>
              <a:t>) { |e| render_proxy_error(e)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m.failure(</a:t>
            </a:r>
            <a:r>
              <a:rPr>
                <a:solidFill>
                  <a:srgbClr val="61AFEF"/>
                </a:solidFill>
              </a:rPr>
              <a:t>ContractError</a:t>
            </a:r>
            <a:r>
              <a:t>)    { |e| render_validation(e)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m.failure                   { |e| render_unexpected(e) }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11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812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13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814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1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СИНТЕЗ: ПЯТЬ ПРИНЦИПОВ В PRODUCTION</a:t>
            </a:r>
          </a:p>
        </p:txBody>
      </p:sp>
      <p:sp>
        <p:nvSpPr>
          <p:cNvPr id="817" name="bullets"/>
          <p:cNvSpPr txBox="1"/>
          <p:nvPr/>
        </p:nvSpPr>
        <p:spPr>
          <a:xfrm>
            <a:off x="381660" y="1711219"/>
            <a:ext cx="7546634" cy="1934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Декларативность → 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Contract </a:t>
            </a:r>
            <a:r>
              <a:t>DSL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, </a:t>
            </a:r>
            <a:r>
              <a:t>Result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pipeline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Выражения → 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Каждый </a:t>
            </a:r>
            <a:r>
              <a:t>.bind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возвращает </a:t>
            </a:r>
            <a:r>
              <a:t>Result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Функции как значения → .bind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, лямбды в </a:t>
            </a:r>
            <a:r>
              <a:t>DSL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Чистота функций → Command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без глобального состояния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Иммутабельность → Type constructors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, </a:t>
            </a:r>
            <a:r>
              <a:t>DomainError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как value object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20" name="Google Shape;61;p6"/>
          <p:cNvSpPr/>
          <p:nvPr/>
        </p:nvSpPr>
        <p:spPr>
          <a:xfrm>
            <a:off x="2114550" y="442912"/>
            <a:ext cx="1101629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821" name="Google Shape;62;p6"/>
          <p:cNvSpPr txBox="1"/>
          <p:nvPr/>
        </p:nvSpPr>
        <p:spPr>
          <a:xfrm>
            <a:off x="2286746" y="493092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22" name="Google Shape;63;p6"/>
          <p:cNvSpPr/>
          <p:nvPr/>
        </p:nvSpPr>
        <p:spPr>
          <a:xfrm>
            <a:off x="3319462" y="442912"/>
            <a:ext cx="1149271" cy="240089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823" name="Google Shape;64;p6"/>
          <p:cNvSpPr txBox="1"/>
          <p:nvPr/>
        </p:nvSpPr>
        <p:spPr>
          <a:xfrm>
            <a:off x="3491658" y="493092"/>
            <a:ext cx="80488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2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5" name="TextBox 716"/>
          <p:cNvSpPr txBox="1"/>
          <p:nvPr/>
        </p:nvSpPr>
        <p:spPr>
          <a:xfrm>
            <a:off x="600000" y="1557099"/>
            <a:ext cx="5045253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44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826" name="TextBox 717"/>
          <p:cNvSpPr txBox="1"/>
          <p:nvPr/>
        </p:nvSpPr>
        <p:spPr>
          <a:xfrm>
            <a:off x="599998" y="2365848"/>
            <a:ext cx="3086243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defRPr sz="24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Tg: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@argent_smith</a:t>
            </a:r>
          </a:p>
        </p:txBody>
      </p:sp>
      <p:sp>
        <p:nvSpPr>
          <p:cNvPr id="827" name="TextBox 718"/>
          <p:cNvSpPr txBox="1"/>
          <p:nvPr/>
        </p:nvSpPr>
        <p:spPr>
          <a:xfrm>
            <a:off x="599998" y="4490849"/>
            <a:ext cx="772268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24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2026</a:t>
            </a:r>
          </a:p>
        </p:txBody>
      </p:sp>
      <p:pic>
        <p:nvPicPr>
          <p:cNvPr id="828" name="Picture 719" descr="Picture 71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44000" y="1471749"/>
            <a:ext cx="2200003" cy="22000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
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n-lt"/>
        <a:ea typeface="+mn-ea"/>
        <a:cs typeface="+mn-cs"/>
        <a:sym typeface="Arial"/>
      </a:defRPr>
    </a:lvl1pPr>
    <a:lvl2pPr indent="228600" latinLnBrk="0">
      <a:defRPr sz="1400">
        <a:latin typeface="+mn-lt"/>
        <a:ea typeface="+mn-ea"/>
        <a:cs typeface="+mn-cs"/>
        <a:sym typeface="Arial"/>
      </a:defRPr>
    </a:lvl2pPr>
    <a:lvl3pPr indent="457200" latinLnBrk="0">
      <a:defRPr sz="1400">
        <a:latin typeface="+mn-lt"/>
        <a:ea typeface="+mn-ea"/>
        <a:cs typeface="+mn-cs"/>
        <a:sym typeface="Arial"/>
      </a:defRPr>
    </a:lvl3pPr>
    <a:lvl4pPr indent="685800" latinLnBrk="0">
      <a:defRPr sz="1400">
        <a:latin typeface="+mn-lt"/>
        <a:ea typeface="+mn-ea"/>
        <a:cs typeface="+mn-cs"/>
        <a:sym typeface="Arial"/>
      </a:defRPr>
    </a:lvl4pPr>
    <a:lvl5pPr indent="914400" latinLnBrk="0">
      <a:defRPr sz="1400">
        <a:latin typeface="+mn-lt"/>
        <a:ea typeface="+mn-ea"/>
        <a:cs typeface="+mn-cs"/>
        <a:sym typeface="Arial"/>
      </a:defRPr>
    </a:lvl5pPr>
    <a:lvl6pPr indent="1143000" latinLnBrk="0">
      <a:defRPr sz="1400">
        <a:latin typeface="+mn-lt"/>
        <a:ea typeface="+mn-ea"/>
        <a:cs typeface="+mn-cs"/>
        <a:sym typeface="Arial"/>
      </a:defRPr>
    </a:lvl6pPr>
    <a:lvl7pPr indent="1371600" latinLnBrk="0">
      <a:defRPr sz="1400">
        <a:latin typeface="+mn-lt"/>
        <a:ea typeface="+mn-ea"/>
        <a:cs typeface="+mn-cs"/>
        <a:sym typeface="Arial"/>
      </a:defRPr>
    </a:lvl7pPr>
    <a:lvl8pPr indent="1600200" latinLnBrk="0">
      <a:defRPr sz="1400">
        <a:latin typeface="+mn-lt"/>
        <a:ea typeface="+mn-ea"/>
        <a:cs typeface="+mn-cs"/>
        <a:sym typeface="Arial"/>
      </a:defRPr>
    </a:lvl8pPr>
    <a:lvl9pPr indent="1828800" latinLnBrk="0">
      <a:defRPr sz="1400">
        <a:latin typeface="+mn-lt"/>
        <a:ea typeface="+mn-ea"/>
        <a:cs typeface="+mn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заголовка"/>
          <p:cNvSpPr txBox="1"/>
          <p:nvPr>
            <p:ph type="title"/>
          </p:nvPr>
        </p:nvSpPr>
        <p:spPr>
          <a:xfrm>
            <a:off x="685800" y="1383506"/>
            <a:ext cx="7772400" cy="15311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Текст заголовка</a:t>
            </a:r>
          </a:p>
        </p:txBody>
      </p:sp>
      <p:sp>
        <p:nvSpPr>
          <p:cNvPr id="3" name="Уровень текста 1…"/>
          <p:cNvSpPr txBox="1"/>
          <p:nvPr>
            <p:ph type="body" idx="1"/>
          </p:nvPr>
        </p:nvSpPr>
        <p:spPr>
          <a:xfrm>
            <a:off x="1371600" y="2914650"/>
            <a:ext cx="6400800" cy="2228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" name="Номер слайда"/>
          <p:cNvSpPr txBox="1"/>
          <p:nvPr>
            <p:ph type="sldNum" sz="quarter" idx="2"/>
          </p:nvPr>
        </p:nvSpPr>
        <p:spPr>
          <a:xfrm>
            <a:off x="6279552" y="4635137"/>
            <a:ext cx="273652" cy="264251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hyperlink" Target="http://evrone.ru" TargetMode="External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.jpe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1.jpe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16;p3" descr="Google Shape;16;p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pic>
        <p:nvPicPr>
          <p:cNvPr id="21" name="Google Shape;17;p3" descr="Google Shape;17;p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686425" y="0"/>
            <a:ext cx="3457575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Google Shape;18;p3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" name="Google Shape;19;p3"/>
          <p:cNvSpPr txBox="1"/>
          <p:nvPr/>
        </p:nvSpPr>
        <p:spPr>
          <a:xfrm>
            <a:off x="2286741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4" name="Google Shape;20;p3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5" name="Google Shape;21;p3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sp>
        <p:nvSpPr>
          <p:cNvPr id="26" name="Google Shape;22;p3"/>
          <p:cNvSpPr txBox="1"/>
          <p:nvPr/>
        </p:nvSpPr>
        <p:spPr>
          <a:xfrm>
            <a:off x="466725" y="2302679"/>
            <a:ext cx="4929188" cy="11477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05392"/>
              </a:lnSpc>
              <a:defRPr sz="36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IT-КОНФЕРЕНЦИЯ MERGE</a:t>
            </a:r>
          </a:p>
        </p:txBody>
      </p:sp>
      <p:sp>
        <p:nvSpPr>
          <p:cNvPr id="27" name="Google Shape;23;p3"/>
          <p:cNvSpPr txBox="1"/>
          <p:nvPr/>
        </p:nvSpPr>
        <p:spPr>
          <a:xfrm>
            <a:off x="466718" y="2143917"/>
            <a:ext cx="3833824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5"/>
              </a:lnSpc>
              <a:defRPr sz="13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Профессиональная межрегиональная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4" descr="Google Shape;29;p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0" name="Google Shape;30;p4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1" name="Google Shape;31;p4"/>
          <p:cNvSpPr txBox="1"/>
          <p:nvPr/>
        </p:nvSpPr>
        <p:spPr>
          <a:xfrm>
            <a:off x="2286741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2" name="Google Shape;32;p4"/>
          <p:cNvSpPr/>
          <p:nvPr/>
        </p:nvSpPr>
        <p:spPr>
          <a:xfrm>
            <a:off x="2624138" y="2767013"/>
            <a:ext cx="1696950" cy="240083"/>
          </a:xfrm>
          <a:prstGeom prst="roundRect">
            <a:avLst>
              <a:gd name="adj" fmla="val 50000"/>
            </a:avLst>
          </a:prstGeom>
          <a:solidFill>
            <a:srgbClr val="242424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" name="Google Shape;33;p4"/>
          <p:cNvSpPr txBox="1"/>
          <p:nvPr/>
        </p:nvSpPr>
        <p:spPr>
          <a:xfrm>
            <a:off x="2796332" y="2817197"/>
            <a:ext cx="135256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ontserrat Thin Bold"/>
                <a:ea typeface="Montserrat Thin Bold"/>
                <a:cs typeface="Montserrat Thin Bold"/>
                <a:sym typeface="Montserrat Thin Bold"/>
                <a:hlinkClick r:id="rId3" invalidUrl="" action="" tgtFrame="" tooltip="" history="1" highlightClick="0" endSnd="0"/>
              </a:defRPr>
            </a:lvl1pPr>
          </a:lstStyle>
          <a:p>
            <a:pPr/>
            <a:r>
              <a:rPr>
                <a:hlinkClick r:id="rId3" invalidUrl="" action="" tgtFrame="" tooltip="" history="1" highlightClick="0" endSnd="0"/>
              </a:rPr>
              <a:t>evrone.ru</a:t>
            </a:r>
          </a:p>
        </p:txBody>
      </p:sp>
      <p:sp>
        <p:nvSpPr>
          <p:cNvPr id="34" name="Google Shape;34;p4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5" name="Google Shape;35;p4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sp>
        <p:nvSpPr>
          <p:cNvPr id="36" name="Google Shape;36;p4"/>
          <p:cNvSpPr txBox="1"/>
          <p:nvPr/>
        </p:nvSpPr>
        <p:spPr>
          <a:xfrm>
            <a:off x="466725" y="1525587"/>
            <a:ext cx="8153400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lvl="1">
              <a:lnSpc>
                <a:spcPct val="110015"/>
              </a:lnSpc>
              <a:defRPr sz="26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ДРЕВНЯЯ МАГИЯ НА КАЖДЫЙ ДЕНЬ</a:t>
            </a:r>
          </a:p>
        </p:txBody>
      </p:sp>
      <p:sp>
        <p:nvSpPr>
          <p:cNvPr id="37" name="Google Shape;37;p4"/>
          <p:cNvSpPr txBox="1"/>
          <p:nvPr/>
        </p:nvSpPr>
        <p:spPr>
          <a:xfrm>
            <a:off x="2624138" y="3075781"/>
            <a:ext cx="398145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0015"/>
              </a:lnSpc>
              <a:defRPr sz="26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Павел Аргентов</a:t>
            </a:r>
          </a:p>
        </p:txBody>
      </p:sp>
      <p:sp>
        <p:nvSpPr>
          <p:cNvPr id="38" name="Google Shape;38;p4"/>
          <p:cNvSpPr txBox="1"/>
          <p:nvPr/>
        </p:nvSpPr>
        <p:spPr>
          <a:xfrm>
            <a:off x="441109" y="1277621"/>
            <a:ext cx="2628958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82887"/>
              </a:lnSpc>
              <a:defRPr sz="1000">
                <a:solidFill>
                  <a:srgbClr val="B7B7B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Пять принципов FP в пяти языках</a:t>
            </a:r>
          </a:p>
        </p:txBody>
      </p:sp>
      <p:sp>
        <p:nvSpPr>
          <p:cNvPr id="39" name="Google Shape;39;p4"/>
          <p:cNvSpPr txBox="1"/>
          <p:nvPr/>
        </p:nvSpPr>
        <p:spPr>
          <a:xfrm>
            <a:off x="4467225" y="2813842"/>
            <a:ext cx="133350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93628"/>
              </a:lnSpc>
              <a:defRPr sz="900">
                <a:solidFill>
                  <a:srgbClr val="B7B7B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FP guru</a:t>
            </a:r>
          </a:p>
        </p:txBody>
      </p:sp>
      <p:sp>
        <p:nvSpPr>
          <p:cNvPr id="40" name="Google Shape;40;p4"/>
          <p:cNvSpPr txBox="1"/>
          <p:nvPr/>
        </p:nvSpPr>
        <p:spPr>
          <a:xfrm>
            <a:off x="2796325" y="3601063"/>
            <a:ext cx="5139631" cy="1406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28810"/>
              </a:lnSpc>
              <a:defRPr i="1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Значительная часть недостатков в разработке ПО связана с тем, что программисты не полностью понимают все возможные состояния, в которых может выполняться их код</a:t>
            </a:r>
          </a:p>
          <a:p>
            <a:pPr algn="r">
              <a:lnSpc>
                <a:spcPct val="128810"/>
              </a:lnSpc>
              <a:defRPr i="1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Джон Кармак</a:t>
            </a:r>
          </a:p>
        </p:txBody>
      </p:sp>
      <p:pic>
        <p:nvPicPr>
          <p:cNvPr id="41" name="Google Shape;41;p4" descr="Google Shape;41;p4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623751" y="3649202"/>
            <a:ext cx="47401" cy="1232105"/>
          </a:xfrm>
          <a:prstGeom prst="rect">
            <a:avLst/>
          </a:prstGeom>
          <a:ln w="12700">
            <a:miter lim="400000"/>
          </a:ln>
        </p:spPr>
      </p:pic>
      <p:pic>
        <p:nvPicPr>
          <p:cNvPr id="42" name="Google Shape;43;p4" descr="Google Shape;43;p4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100137" y="3405187"/>
            <a:ext cx="590557" cy="590562"/>
          </a:xfrm>
          <a:prstGeom prst="rect">
            <a:avLst/>
          </a:prstGeom>
          <a:ln w="12700">
            <a:miter lim="400000"/>
          </a:ln>
        </p:spPr>
      </p:pic>
      <p:pic>
        <p:nvPicPr>
          <p:cNvPr id="43" name="Google Shape;98;p2" descr="Google Shape;98;p2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404810" y="2288380"/>
            <a:ext cx="1981207" cy="198120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6" name="Google Shape;61;p6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" name="Google Shape;62;p6"/>
          <p:cNvSpPr txBox="1"/>
          <p:nvPr/>
        </p:nvSpPr>
        <p:spPr>
          <a:xfrm>
            <a:off x="2286746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8" name="Google Shape;63;p6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" name="Google Shape;64;p6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1" name="Google Shape;66;p6"/>
          <p:cNvSpPr txBox="1"/>
          <p:nvPr/>
        </p:nvSpPr>
        <p:spPr>
          <a:xfrm>
            <a:off x="419089" y="1735932"/>
            <a:ext cx="5824560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ПАВЕЛ АРГЕНТОВ</a:t>
            </a:r>
          </a:p>
        </p:txBody>
      </p:sp>
      <p:sp>
        <p:nvSpPr>
          <p:cNvPr id="52" name="Google Shape;67;p6"/>
          <p:cNvSpPr txBox="1"/>
          <p:nvPr/>
        </p:nvSpPr>
        <p:spPr>
          <a:xfrm>
            <a:off x="409895" y="2524747"/>
            <a:ext cx="4104954" cy="15279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много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опыта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разрабатывал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всё</a:t>
            </a:r>
            <a:endParaRPr>
              <a:solidFill>
                <a:srgbClr val="FFFFFF"/>
              </a:solidFill>
            </a:endParaRPr>
          </a:p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FP с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2002</a:t>
            </a:r>
            <a:r>
              <a:rPr>
                <a:solidFill>
                  <a:srgbClr val="FFFFFF"/>
                </a:solidFill>
              </a:rPr>
              <a:t> </a:t>
            </a:r>
            <a:r>
              <a:t>г.</a:t>
            </a:r>
            <a:endParaRPr>
              <a:solidFill>
                <a:srgbClr val="FFFFFF"/>
              </a:solidFill>
            </a:endParaR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Evrone.ru: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разработка разработчиков</a:t>
            </a:r>
          </a:p>
        </p:txBody>
      </p:sp>
      <p:sp>
        <p:nvSpPr>
          <p:cNvPr id="53" name="Google Shape;68;p6"/>
          <p:cNvSpPr/>
          <p:nvPr/>
        </p:nvSpPr>
        <p:spPr>
          <a:xfrm>
            <a:off x="5338762" y="862012"/>
            <a:ext cx="3328990" cy="3419477"/>
          </a:xfrm>
          <a:prstGeom prst="roundRect">
            <a:avLst>
              <a:gd name="adj" fmla="val 16667"/>
            </a:avLst>
          </a:prstGeom>
          <a:solidFill>
            <a:srgbClr val="242424"/>
          </a:solidFill>
          <a:ln w="22600">
            <a:solidFill>
              <a:srgbClr val="333333"/>
            </a:solidFill>
          </a:ln>
        </p:spPr>
        <p:txBody>
          <a:bodyPr lIns="0" tIns="0" rIns="0" bIns="0" anchor="ctr"/>
          <a:lstStyle/>
          <a:p>
            <a:pPr/>
          </a:p>
        </p:txBody>
      </p:sp>
      <p:pic>
        <p:nvPicPr>
          <p:cNvPr id="54" name="Google Shape;69;p6" descr="Google Shape;69;p6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591300" y="2162175"/>
            <a:ext cx="823913" cy="823913"/>
          </a:xfrm>
          <a:prstGeom prst="rect">
            <a:avLst/>
          </a:prstGeom>
          <a:ln w="12700">
            <a:miter lim="400000"/>
          </a:ln>
        </p:spPr>
      </p:pic>
      <p:pic>
        <p:nvPicPr>
          <p:cNvPr id="55" name="Google Shape;98;p2" descr="Google Shape;98;p2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293433" y="861928"/>
            <a:ext cx="3419648" cy="341964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8" name="Google Shape;61;p6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9" name="Google Shape;62;p6"/>
          <p:cNvSpPr txBox="1"/>
          <p:nvPr/>
        </p:nvSpPr>
        <p:spPr>
          <a:xfrm>
            <a:off x="2286746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0" name="Google Shape;63;p6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1" name="Google Shape;64;p6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3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(λx.M)N →β M[x := N]</a:t>
            </a:r>
          </a:p>
        </p:txBody>
      </p:sp>
      <p:sp>
        <p:nvSpPr>
          <p:cNvPr id="64" name="Google Shape;67;p6"/>
          <p:cNvSpPr txBox="1"/>
          <p:nvPr/>
        </p:nvSpPr>
        <p:spPr>
          <a:xfrm>
            <a:off x="381659" y="1745432"/>
            <a:ext cx="4104939" cy="8846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ФП: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пять ĸонĸретных свойств ĸода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Смысл: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описание результата, а не миĸроменеджмент процесса.</a:t>
            </a:r>
          </a:p>
        </p:txBody>
      </p:sp>
      <p:sp>
        <p:nvSpPr>
          <p:cNvPr id="65" name="Google Shape;108;p3"/>
          <p:cNvSpPr txBox="1"/>
          <p:nvPr/>
        </p:nvSpPr>
        <p:spPr>
          <a:xfrm>
            <a:off x="3990940" y="3094543"/>
            <a:ext cx="4878190" cy="13262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>
              <a:lnSpc>
                <a:spcPct val="60000"/>
              </a:lnSpc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[1,2,3].map(x =&gt; x * 2)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add = x =&gt; y =&gt; x + y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x = 1; x = 2 // TypeError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8" name="Google Shape;61;p6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9" name="Google Shape;62;p6"/>
          <p:cNvSpPr txBox="1"/>
          <p:nvPr/>
        </p:nvSpPr>
        <p:spPr>
          <a:xfrm>
            <a:off x="2286746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0" name="Google Shape;63;p6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1" name="Google Shape;64;p6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3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ПЯТЬ ЯЗЫКОВ</a:t>
            </a:r>
          </a:p>
        </p:txBody>
      </p:sp>
      <p:graphicFrame>
        <p:nvGraphicFramePr>
          <p:cNvPr id="74" name="Tаблица 1"/>
          <p:cNvGraphicFramePr/>
          <p:nvPr/>
        </p:nvGraphicFramePr>
        <p:xfrm>
          <a:off x="2585435" y="1760765"/>
          <a:ext cx="4699237" cy="2475490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349618"/>
                <a:gridCol w="2349618"/>
              </a:tblGrid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OCaml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язык богов (тм)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Scala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почти OCaml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Python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язык МНС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JS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вездесущ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Rust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всемогущ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7" name="Google Shape;61;p6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8" name="Google Shape;62;p6"/>
          <p:cNvSpPr txBox="1"/>
          <p:nvPr/>
        </p:nvSpPr>
        <p:spPr>
          <a:xfrm>
            <a:off x="2286746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9" name="Google Shape;63;p6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0" name="Google Shape;64;p6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8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82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83" name="Google Shape;67;p6"/>
          <p:cNvSpPr txBox="1"/>
          <p:nvPr/>
        </p:nvSpPr>
        <p:spPr>
          <a:xfrm>
            <a:off x="381660" y="1584598"/>
            <a:ext cx="7165165" cy="1206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Императивный код —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микроменеджмент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Декларативный код —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 спецификация</a:t>
            </a:r>
            <a:endParaRPr>
              <a:solidFill>
                <a:srgbClr val="FFFFFF"/>
              </a:solidFill>
              <a:latin typeface="Montserrat Thin Black"/>
              <a:ea typeface="Montserrat Thin Black"/>
              <a:cs typeface="Montserrat Thin Black"/>
              <a:sym typeface="Montserrat Thin Black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Людям —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 понятность</a:t>
            </a:r>
            <a:endParaRPr>
              <a:solidFill>
                <a:srgbClr val="FFFFFF"/>
              </a:solidFill>
              <a:latin typeface="Montserrat Thin Black"/>
              <a:ea typeface="Montserrat Thin Black"/>
              <a:cs typeface="Montserrat Thin Black"/>
              <a:sym typeface="Montserrat Thin Black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Машинам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законы оптимизации</a:t>
            </a:r>
          </a:p>
        </p:txBody>
      </p:sp>
      <p:sp>
        <p:nvSpPr>
          <p:cNvPr id="84" name="Google Shape;108;p3"/>
          <p:cNvSpPr txBox="1"/>
          <p:nvPr/>
        </p:nvSpPr>
        <p:spPr>
          <a:xfrm>
            <a:off x="3420131" y="3384043"/>
            <a:ext cx="5557458" cy="13262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SELECT … WHERE vs for … in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for … end vs list.map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87" name="Google Shape;61;p6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8" name="Google Shape;62;p6"/>
          <p:cNvSpPr txBox="1"/>
          <p:nvPr/>
        </p:nvSpPr>
        <p:spPr>
          <a:xfrm>
            <a:off x="2286746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89" name="Google Shape;63;p6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90" name="Google Shape;64;p6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9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92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9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94" name="lbl_0"/>
          <p:cNvSpPr txBox="1"/>
          <p:nvPr/>
        </p:nvSpPr>
        <p:spPr>
          <a:xfrm>
            <a:off x="386751" y="1791579"/>
            <a:ext cx="71375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95" name="code_0"/>
          <p:cNvSpPr txBox="1"/>
          <p:nvPr/>
        </p:nvSpPr>
        <p:spPr>
          <a:xfrm>
            <a:off x="386759" y="2097651"/>
            <a:ext cx="3540758" cy="13358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List.filter (fun o -&gt;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List.map (fun o -&gt; o.price *.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List.fold_left ( +. ) 0.0</a:t>
            </a:r>
          </a:p>
        </p:txBody>
      </p:sp>
      <p:sp>
        <p:nvSpPr>
          <p:cNvPr id="96" name="lbl_1"/>
          <p:cNvSpPr txBox="1"/>
          <p:nvPr/>
        </p:nvSpPr>
        <p:spPr>
          <a:xfrm>
            <a:off x="3710061" y="1774624"/>
            <a:ext cx="71374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97" name="code_1"/>
          <p:cNvSpPr txBox="1"/>
          <p:nvPr/>
        </p:nvSpPr>
        <p:spPr>
          <a:xfrm>
            <a:off x="3710058" y="2080690"/>
            <a:ext cx="2430387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discount(xs: List[Order])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.map(_.price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98" name="lbl_2"/>
          <p:cNvSpPr txBox="1"/>
          <p:nvPr/>
        </p:nvSpPr>
        <p:spPr>
          <a:xfrm>
            <a:off x="6260843" y="1774624"/>
            <a:ext cx="59182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99" name="code_2"/>
          <p:cNvSpPr txBox="1"/>
          <p:nvPr/>
        </p:nvSpPr>
        <p:spPr>
          <a:xfrm>
            <a:off x="6260841" y="2080690"/>
            <a:ext cx="2760605" cy="13656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00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01" name="code_3"/>
          <p:cNvSpPr txBox="1"/>
          <p:nvPr/>
        </p:nvSpPr>
        <p:spPr>
          <a:xfrm>
            <a:off x="1981075" y="3819223"/>
            <a:ext cx="2032001" cy="110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02" name="lbl_4"/>
          <p:cNvSpPr txBox="1"/>
          <p:nvPr/>
        </p:nvSpPr>
        <p:spPr>
          <a:xfrm>
            <a:off x="5296265" y="3513154"/>
            <a:ext cx="34798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03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06" name="Google Shape;61;p6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07" name="Google Shape;62;p6"/>
          <p:cNvSpPr txBox="1"/>
          <p:nvPr/>
        </p:nvSpPr>
        <p:spPr>
          <a:xfrm>
            <a:off x="2286746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08" name="Google Shape;63;p6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09" name="Google Shape;64;p6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1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1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1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13" name="lbl_0"/>
          <p:cNvSpPr txBox="1"/>
          <p:nvPr/>
        </p:nvSpPr>
        <p:spPr>
          <a:xfrm>
            <a:off x="386751" y="1791579"/>
            <a:ext cx="71375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14" name="code_0"/>
          <p:cNvSpPr txBox="1"/>
          <p:nvPr/>
        </p:nvSpPr>
        <p:spPr>
          <a:xfrm>
            <a:off x="386759" y="2097651"/>
            <a:ext cx="3540758" cy="13358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15" name="lbl_1"/>
          <p:cNvSpPr txBox="1"/>
          <p:nvPr/>
        </p:nvSpPr>
        <p:spPr>
          <a:xfrm>
            <a:off x="3710061" y="1774624"/>
            <a:ext cx="71374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16" name="code_1"/>
          <p:cNvSpPr txBox="1"/>
          <p:nvPr/>
        </p:nvSpPr>
        <p:spPr>
          <a:xfrm>
            <a:off x="3710058" y="2080690"/>
            <a:ext cx="2430387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discount(xs: List[Order])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.map(_.price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117" name="lbl_2"/>
          <p:cNvSpPr txBox="1"/>
          <p:nvPr/>
        </p:nvSpPr>
        <p:spPr>
          <a:xfrm>
            <a:off x="6260843" y="1774624"/>
            <a:ext cx="59182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18" name="code_2"/>
          <p:cNvSpPr txBox="1"/>
          <p:nvPr/>
        </p:nvSpPr>
        <p:spPr>
          <a:xfrm>
            <a:off x="6260841" y="2080690"/>
            <a:ext cx="2760605" cy="13656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19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20" name="code_3"/>
          <p:cNvSpPr txBox="1"/>
          <p:nvPr/>
        </p:nvSpPr>
        <p:spPr>
          <a:xfrm>
            <a:off x="1981075" y="3819223"/>
            <a:ext cx="2032001" cy="110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21" name="lbl_4"/>
          <p:cNvSpPr txBox="1"/>
          <p:nvPr/>
        </p:nvSpPr>
        <p:spPr>
          <a:xfrm>
            <a:off x="5296265" y="3513154"/>
            <a:ext cx="34798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22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25" name="Google Shape;61;p6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26" name="Google Shape;62;p6"/>
          <p:cNvSpPr txBox="1"/>
          <p:nvPr/>
        </p:nvSpPr>
        <p:spPr>
          <a:xfrm>
            <a:off x="2286746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27" name="Google Shape;63;p6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28" name="Google Shape;64;p6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2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30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3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32" name="lbl_0"/>
          <p:cNvSpPr txBox="1"/>
          <p:nvPr/>
        </p:nvSpPr>
        <p:spPr>
          <a:xfrm>
            <a:off x="386751" y="1791579"/>
            <a:ext cx="71375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33" name="code_0"/>
          <p:cNvSpPr txBox="1"/>
          <p:nvPr/>
        </p:nvSpPr>
        <p:spPr>
          <a:xfrm>
            <a:off x="386759" y="2097651"/>
            <a:ext cx="3540758" cy="13358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34" name="lbl_1"/>
          <p:cNvSpPr txBox="1"/>
          <p:nvPr/>
        </p:nvSpPr>
        <p:spPr>
          <a:xfrm>
            <a:off x="3710061" y="1774624"/>
            <a:ext cx="71374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35" name="code_1"/>
          <p:cNvSpPr txBox="1"/>
          <p:nvPr/>
        </p:nvSpPr>
        <p:spPr>
          <a:xfrm>
            <a:off x="3710058" y="2080690"/>
            <a:ext cx="2430387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36" name="lbl_2"/>
          <p:cNvSpPr txBox="1"/>
          <p:nvPr/>
        </p:nvSpPr>
        <p:spPr>
          <a:xfrm>
            <a:off x="6260843" y="1774624"/>
            <a:ext cx="59182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37" name="code_2"/>
          <p:cNvSpPr txBox="1"/>
          <p:nvPr/>
        </p:nvSpPr>
        <p:spPr>
          <a:xfrm>
            <a:off x="6260841" y="2080690"/>
            <a:ext cx="2760605" cy="13656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38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39" name="code_3"/>
          <p:cNvSpPr txBox="1"/>
          <p:nvPr/>
        </p:nvSpPr>
        <p:spPr>
          <a:xfrm>
            <a:off x="1981075" y="3819223"/>
            <a:ext cx="2032001" cy="110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40" name="lbl_4"/>
          <p:cNvSpPr txBox="1"/>
          <p:nvPr/>
        </p:nvSpPr>
        <p:spPr>
          <a:xfrm>
            <a:off x="5296265" y="3513154"/>
            <a:ext cx="34798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41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44" name="Google Shape;61;p6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45" name="Google Shape;62;p6"/>
          <p:cNvSpPr txBox="1"/>
          <p:nvPr/>
        </p:nvSpPr>
        <p:spPr>
          <a:xfrm>
            <a:off x="2286746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46" name="Google Shape;63;p6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47" name="Google Shape;64;p6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4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49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50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51" name="lbl_0"/>
          <p:cNvSpPr txBox="1"/>
          <p:nvPr/>
        </p:nvSpPr>
        <p:spPr>
          <a:xfrm>
            <a:off x="386751" y="1791579"/>
            <a:ext cx="71375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52" name="code_0"/>
          <p:cNvSpPr txBox="1"/>
          <p:nvPr/>
        </p:nvSpPr>
        <p:spPr>
          <a:xfrm>
            <a:off x="386759" y="2097651"/>
            <a:ext cx="3540758" cy="13358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53" name="lbl_1"/>
          <p:cNvSpPr txBox="1"/>
          <p:nvPr/>
        </p:nvSpPr>
        <p:spPr>
          <a:xfrm>
            <a:off x="3710061" y="1774624"/>
            <a:ext cx="71374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54" name="code_1"/>
          <p:cNvSpPr txBox="1"/>
          <p:nvPr/>
        </p:nvSpPr>
        <p:spPr>
          <a:xfrm>
            <a:off x="3710058" y="2080690"/>
            <a:ext cx="2430387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55" name="lbl_2"/>
          <p:cNvSpPr txBox="1"/>
          <p:nvPr/>
        </p:nvSpPr>
        <p:spPr>
          <a:xfrm>
            <a:off x="6260843" y="1774624"/>
            <a:ext cx="59182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56" name="code_2"/>
          <p:cNvSpPr txBox="1"/>
          <p:nvPr/>
        </p:nvSpPr>
        <p:spPr>
          <a:xfrm>
            <a:off x="6260841" y="2080690"/>
            <a:ext cx="2760605" cy="13656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57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58" name="code_3"/>
          <p:cNvSpPr txBox="1"/>
          <p:nvPr/>
        </p:nvSpPr>
        <p:spPr>
          <a:xfrm>
            <a:off x="1981075" y="3819223"/>
            <a:ext cx="2032001" cy="110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59" name="lbl_4"/>
          <p:cNvSpPr txBox="1"/>
          <p:nvPr/>
        </p:nvSpPr>
        <p:spPr>
          <a:xfrm>
            <a:off x="5296265" y="3513154"/>
            <a:ext cx="34798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60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63" name="Google Shape;61;p6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4" name="Google Shape;62;p6"/>
          <p:cNvSpPr txBox="1"/>
          <p:nvPr/>
        </p:nvSpPr>
        <p:spPr>
          <a:xfrm>
            <a:off x="2286746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65" name="Google Shape;63;p6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6" name="Google Shape;64;p6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6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6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6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70" name="lbl_0"/>
          <p:cNvSpPr txBox="1"/>
          <p:nvPr/>
        </p:nvSpPr>
        <p:spPr>
          <a:xfrm>
            <a:off x="386751" y="1791579"/>
            <a:ext cx="71375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71" name="code_0"/>
          <p:cNvSpPr txBox="1"/>
          <p:nvPr/>
        </p:nvSpPr>
        <p:spPr>
          <a:xfrm>
            <a:off x="386759" y="2097651"/>
            <a:ext cx="3540758" cy="13358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72" name="lbl_1"/>
          <p:cNvSpPr txBox="1"/>
          <p:nvPr/>
        </p:nvSpPr>
        <p:spPr>
          <a:xfrm>
            <a:off x="3710061" y="1774624"/>
            <a:ext cx="71374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73" name="code_1"/>
          <p:cNvSpPr txBox="1"/>
          <p:nvPr/>
        </p:nvSpPr>
        <p:spPr>
          <a:xfrm>
            <a:off x="3710058" y="2080690"/>
            <a:ext cx="2430387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74" name="lbl_2"/>
          <p:cNvSpPr txBox="1"/>
          <p:nvPr/>
        </p:nvSpPr>
        <p:spPr>
          <a:xfrm>
            <a:off x="6260843" y="1774624"/>
            <a:ext cx="59182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75" name="code_2"/>
          <p:cNvSpPr txBox="1"/>
          <p:nvPr/>
        </p:nvSpPr>
        <p:spPr>
          <a:xfrm>
            <a:off x="6260841" y="2080690"/>
            <a:ext cx="2760605" cy="13656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76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77" name="code_3"/>
          <p:cNvSpPr txBox="1"/>
          <p:nvPr/>
        </p:nvSpPr>
        <p:spPr>
          <a:xfrm>
            <a:off x="1981075" y="3819223"/>
            <a:ext cx="2032001" cy="110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o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o.price &gt; </a:t>
            </a:r>
            <a:r>
              <a:rPr>
                <a:solidFill>
                  <a:srgbClr val="E5C07B"/>
                </a:solidFill>
              </a:rPr>
              <a:t>100.0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178" name="lbl_4"/>
          <p:cNvSpPr txBox="1"/>
          <p:nvPr/>
        </p:nvSpPr>
        <p:spPr>
          <a:xfrm>
            <a:off x="5296265" y="3513154"/>
            <a:ext cx="34798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79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82" name="Google Shape;61;p6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83" name="Google Shape;62;p6"/>
          <p:cNvSpPr txBox="1"/>
          <p:nvPr/>
        </p:nvSpPr>
        <p:spPr>
          <a:xfrm>
            <a:off x="2286746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84" name="Google Shape;63;p6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85" name="Google Shape;64;p6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8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8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8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89" name="lbl_OCaml"/>
          <p:cNvSpPr txBox="1"/>
          <p:nvPr/>
        </p:nvSpPr>
        <p:spPr>
          <a:xfrm>
            <a:off x="386751" y="1791579"/>
            <a:ext cx="71375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90" name="code_OCaml"/>
          <p:cNvSpPr txBox="1"/>
          <p:nvPr/>
        </p:nvSpPr>
        <p:spPr>
          <a:xfrm>
            <a:off x="386759" y="2097651"/>
            <a:ext cx="3540758" cy="13358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91" name="lbl_Scala"/>
          <p:cNvSpPr txBox="1"/>
          <p:nvPr/>
        </p:nvSpPr>
        <p:spPr>
          <a:xfrm>
            <a:off x="3710061" y="1774624"/>
            <a:ext cx="71374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92" name="code_Scala"/>
          <p:cNvSpPr txBox="1"/>
          <p:nvPr/>
        </p:nvSpPr>
        <p:spPr>
          <a:xfrm>
            <a:off x="3710058" y="2080690"/>
            <a:ext cx="2430387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93" name="lbl_Rust"/>
          <p:cNvSpPr txBox="1"/>
          <p:nvPr/>
        </p:nvSpPr>
        <p:spPr>
          <a:xfrm>
            <a:off x="6260843" y="1774624"/>
            <a:ext cx="59182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94" name="code_Rust"/>
          <p:cNvSpPr txBox="1"/>
          <p:nvPr/>
        </p:nvSpPr>
        <p:spPr>
          <a:xfrm>
            <a:off x="6260841" y="2080690"/>
            <a:ext cx="2760605" cy="13656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95" name="lbl_Python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96" name="code_Python"/>
          <p:cNvSpPr txBox="1"/>
          <p:nvPr/>
        </p:nvSpPr>
        <p:spPr>
          <a:xfrm>
            <a:off x="1981075" y="3819223"/>
            <a:ext cx="2032001" cy="110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o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o.price &gt; </a:t>
            </a:r>
            <a:r>
              <a:rPr>
                <a:solidFill>
                  <a:srgbClr val="E5C07B"/>
                </a:solidFill>
              </a:rPr>
              <a:t>100.0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197" name="lbl_JS"/>
          <p:cNvSpPr txBox="1"/>
          <p:nvPr/>
        </p:nvSpPr>
        <p:spPr>
          <a:xfrm>
            <a:off x="5296265" y="3513154"/>
            <a:ext cx="34798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98" name="code_JS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(o =&gt;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(o =&gt;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reduce</a:t>
            </a:r>
            <a:r>
              <a:t>((s,d) =&gt; s+d,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01" name="Google Shape;61;p6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02" name="Google Shape;62;p6"/>
          <p:cNvSpPr txBox="1"/>
          <p:nvPr/>
        </p:nvSpPr>
        <p:spPr>
          <a:xfrm>
            <a:off x="2286746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03" name="Google Shape;63;p6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04" name="Google Shape;64;p6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0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06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07" name="bullets"/>
          <p:cNvSpPr txBox="1"/>
          <p:nvPr/>
        </p:nvSpPr>
        <p:spPr>
          <a:xfrm>
            <a:off x="381660" y="1745432"/>
            <a:ext cx="7165165" cy="8846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Инструкции производят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эффект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Выражения вычисляются в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значения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Значения можно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компоновать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10" name="Google Shape;61;p6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11" name="Google Shape;62;p6"/>
          <p:cNvSpPr txBox="1"/>
          <p:nvPr/>
        </p:nvSpPr>
        <p:spPr>
          <a:xfrm>
            <a:off x="2286746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12" name="Google Shape;63;p6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13" name="Google Shape;64;p6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1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15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16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17" name="lbl_0"/>
          <p:cNvSpPr txBox="1"/>
          <p:nvPr/>
        </p:nvSpPr>
        <p:spPr>
          <a:xfrm>
            <a:off x="386751" y="1791579"/>
            <a:ext cx="71375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18" name="code_0"/>
          <p:cNvSpPr txBox="1"/>
          <p:nvPr/>
        </p:nvSpPr>
        <p:spPr>
          <a:xfrm>
            <a:off x="386759" y="2097651"/>
            <a:ext cx="3540758" cy="13358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List.filter (fun x -&gt; x mod 2 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List.fold_left ( + ) 0</a:t>
            </a:r>
          </a:p>
        </p:txBody>
      </p:sp>
      <p:sp>
        <p:nvSpPr>
          <p:cNvPr id="219" name="lbl_1"/>
          <p:cNvSpPr txBox="1"/>
          <p:nvPr/>
        </p:nvSpPr>
        <p:spPr>
          <a:xfrm>
            <a:off x="3710061" y="1774624"/>
            <a:ext cx="71374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20" name="code_1"/>
          <p:cNvSpPr txBox="1"/>
          <p:nvPr/>
        </p:nvSpPr>
        <p:spPr>
          <a:xfrm>
            <a:off x="3710058" y="2080690"/>
            <a:ext cx="2430387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sumEven(xs: List[Int])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221" name="lbl_2"/>
          <p:cNvSpPr txBox="1"/>
          <p:nvPr/>
        </p:nvSpPr>
        <p:spPr>
          <a:xfrm>
            <a:off x="6260843" y="1774624"/>
            <a:ext cx="59182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22" name="code_2"/>
          <p:cNvSpPr txBox="1"/>
          <p:nvPr/>
        </p:nvSpPr>
        <p:spPr>
          <a:xfrm>
            <a:off x="6260841" y="2080690"/>
            <a:ext cx="2760605" cy="13656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23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24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25" name="lbl_4"/>
          <p:cNvSpPr txBox="1"/>
          <p:nvPr/>
        </p:nvSpPr>
        <p:spPr>
          <a:xfrm>
            <a:off x="5296265" y="3513154"/>
            <a:ext cx="34798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26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29" name="Google Shape;61;p6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0" name="Google Shape;62;p6"/>
          <p:cNvSpPr txBox="1"/>
          <p:nvPr/>
        </p:nvSpPr>
        <p:spPr>
          <a:xfrm>
            <a:off x="2286746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31" name="Google Shape;63;p6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2" name="Google Shape;64;p6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3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34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3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36" name="lbl_0"/>
          <p:cNvSpPr txBox="1"/>
          <p:nvPr/>
        </p:nvSpPr>
        <p:spPr>
          <a:xfrm>
            <a:off x="386751" y="1791579"/>
            <a:ext cx="71375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37" name="code_0"/>
          <p:cNvSpPr txBox="1"/>
          <p:nvPr/>
        </p:nvSpPr>
        <p:spPr>
          <a:xfrm>
            <a:off x="386759" y="2097651"/>
            <a:ext cx="3540758" cy="13358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38" name="lbl_1"/>
          <p:cNvSpPr txBox="1"/>
          <p:nvPr/>
        </p:nvSpPr>
        <p:spPr>
          <a:xfrm>
            <a:off x="3710061" y="1774624"/>
            <a:ext cx="71374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39" name="code_1"/>
          <p:cNvSpPr txBox="1"/>
          <p:nvPr/>
        </p:nvSpPr>
        <p:spPr>
          <a:xfrm>
            <a:off x="3710058" y="2080690"/>
            <a:ext cx="2430387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sumEven(xs: List[Int])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240" name="lbl_2"/>
          <p:cNvSpPr txBox="1"/>
          <p:nvPr/>
        </p:nvSpPr>
        <p:spPr>
          <a:xfrm>
            <a:off x="6260843" y="1774624"/>
            <a:ext cx="59182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41" name="code_2"/>
          <p:cNvSpPr txBox="1"/>
          <p:nvPr/>
        </p:nvSpPr>
        <p:spPr>
          <a:xfrm>
            <a:off x="6260841" y="2080690"/>
            <a:ext cx="2760605" cy="13656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42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43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44" name="lbl_4"/>
          <p:cNvSpPr txBox="1"/>
          <p:nvPr/>
        </p:nvSpPr>
        <p:spPr>
          <a:xfrm>
            <a:off x="5296265" y="3513154"/>
            <a:ext cx="34798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45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48" name="Google Shape;61;p6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49" name="Google Shape;62;p6"/>
          <p:cNvSpPr txBox="1"/>
          <p:nvPr/>
        </p:nvSpPr>
        <p:spPr>
          <a:xfrm>
            <a:off x="2286746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50" name="Google Shape;63;p6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51" name="Google Shape;64;p6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5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53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5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55" name="lbl_0"/>
          <p:cNvSpPr txBox="1"/>
          <p:nvPr/>
        </p:nvSpPr>
        <p:spPr>
          <a:xfrm>
            <a:off x="386751" y="1791579"/>
            <a:ext cx="71375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56" name="code_0"/>
          <p:cNvSpPr txBox="1"/>
          <p:nvPr/>
        </p:nvSpPr>
        <p:spPr>
          <a:xfrm>
            <a:off x="386759" y="2097651"/>
            <a:ext cx="3540758" cy="13358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57" name="lbl_1"/>
          <p:cNvSpPr txBox="1"/>
          <p:nvPr/>
        </p:nvSpPr>
        <p:spPr>
          <a:xfrm>
            <a:off x="3710061" y="1774624"/>
            <a:ext cx="71374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58" name="code_1"/>
          <p:cNvSpPr txBox="1"/>
          <p:nvPr/>
        </p:nvSpPr>
        <p:spPr>
          <a:xfrm>
            <a:off x="3710058" y="2080690"/>
            <a:ext cx="2430387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59" name="lbl_2"/>
          <p:cNvSpPr txBox="1"/>
          <p:nvPr/>
        </p:nvSpPr>
        <p:spPr>
          <a:xfrm>
            <a:off x="6260843" y="1774624"/>
            <a:ext cx="59182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60" name="code_2"/>
          <p:cNvSpPr txBox="1"/>
          <p:nvPr/>
        </p:nvSpPr>
        <p:spPr>
          <a:xfrm>
            <a:off x="6260841" y="2080690"/>
            <a:ext cx="2760605" cy="13656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61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62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63" name="lbl_4"/>
          <p:cNvSpPr txBox="1"/>
          <p:nvPr/>
        </p:nvSpPr>
        <p:spPr>
          <a:xfrm>
            <a:off x="5296265" y="3513154"/>
            <a:ext cx="34798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64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67" name="Google Shape;61;p6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68" name="Google Shape;62;p6"/>
          <p:cNvSpPr txBox="1"/>
          <p:nvPr/>
        </p:nvSpPr>
        <p:spPr>
          <a:xfrm>
            <a:off x="2286746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69" name="Google Shape;63;p6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70" name="Google Shape;64;p6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7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7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7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74" name="lbl_0"/>
          <p:cNvSpPr txBox="1"/>
          <p:nvPr/>
        </p:nvSpPr>
        <p:spPr>
          <a:xfrm>
            <a:off x="386751" y="1791579"/>
            <a:ext cx="71375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75" name="code_0"/>
          <p:cNvSpPr txBox="1"/>
          <p:nvPr/>
        </p:nvSpPr>
        <p:spPr>
          <a:xfrm>
            <a:off x="386759" y="2097651"/>
            <a:ext cx="3540758" cy="13358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76" name="lbl_1"/>
          <p:cNvSpPr txBox="1"/>
          <p:nvPr/>
        </p:nvSpPr>
        <p:spPr>
          <a:xfrm>
            <a:off x="3710061" y="1774624"/>
            <a:ext cx="71374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77" name="code_1"/>
          <p:cNvSpPr txBox="1"/>
          <p:nvPr/>
        </p:nvSpPr>
        <p:spPr>
          <a:xfrm>
            <a:off x="3710058" y="2080690"/>
            <a:ext cx="2430387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78" name="lbl_2"/>
          <p:cNvSpPr txBox="1"/>
          <p:nvPr/>
        </p:nvSpPr>
        <p:spPr>
          <a:xfrm>
            <a:off x="6260843" y="1774624"/>
            <a:ext cx="59182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79" name="code_2"/>
          <p:cNvSpPr txBox="1"/>
          <p:nvPr/>
        </p:nvSpPr>
        <p:spPr>
          <a:xfrm>
            <a:off x="6260841" y="2080690"/>
            <a:ext cx="2760605" cy="13656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80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81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82" name="lbl_4"/>
          <p:cNvSpPr txBox="1"/>
          <p:nvPr/>
        </p:nvSpPr>
        <p:spPr>
          <a:xfrm>
            <a:off x="5296265" y="3513154"/>
            <a:ext cx="34798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83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86" name="Google Shape;61;p6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87" name="Google Shape;62;p6"/>
          <p:cNvSpPr txBox="1"/>
          <p:nvPr/>
        </p:nvSpPr>
        <p:spPr>
          <a:xfrm>
            <a:off x="2286746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88" name="Google Shape;63;p6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89" name="Google Shape;64;p6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9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91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9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93" name="lbl_0"/>
          <p:cNvSpPr txBox="1"/>
          <p:nvPr/>
        </p:nvSpPr>
        <p:spPr>
          <a:xfrm>
            <a:off x="386751" y="1791579"/>
            <a:ext cx="71375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94" name="code_0"/>
          <p:cNvSpPr txBox="1"/>
          <p:nvPr/>
        </p:nvSpPr>
        <p:spPr>
          <a:xfrm>
            <a:off x="386759" y="2097651"/>
            <a:ext cx="3540758" cy="13358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95" name="lbl_1"/>
          <p:cNvSpPr txBox="1"/>
          <p:nvPr/>
        </p:nvSpPr>
        <p:spPr>
          <a:xfrm>
            <a:off x="3710061" y="1774624"/>
            <a:ext cx="71374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96" name="code_1"/>
          <p:cNvSpPr txBox="1"/>
          <p:nvPr/>
        </p:nvSpPr>
        <p:spPr>
          <a:xfrm>
            <a:off x="3710058" y="2080690"/>
            <a:ext cx="2430387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97" name="lbl_2"/>
          <p:cNvSpPr txBox="1"/>
          <p:nvPr/>
        </p:nvSpPr>
        <p:spPr>
          <a:xfrm>
            <a:off x="6260843" y="1774624"/>
            <a:ext cx="59182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98" name="code_2"/>
          <p:cNvSpPr txBox="1"/>
          <p:nvPr/>
        </p:nvSpPr>
        <p:spPr>
          <a:xfrm>
            <a:off x="6260841" y="2080690"/>
            <a:ext cx="2760605" cy="13656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99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00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x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301" name="lbl_4"/>
          <p:cNvSpPr txBox="1"/>
          <p:nvPr/>
        </p:nvSpPr>
        <p:spPr>
          <a:xfrm>
            <a:off x="5296265" y="3513154"/>
            <a:ext cx="34798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02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05" name="Google Shape;61;p6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06" name="Google Shape;62;p6"/>
          <p:cNvSpPr txBox="1"/>
          <p:nvPr/>
        </p:nvSpPr>
        <p:spPr>
          <a:xfrm>
            <a:off x="2286746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07" name="Google Shape;63;p6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08" name="Google Shape;64;p6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0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10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31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312" name="lbl_0"/>
          <p:cNvSpPr txBox="1"/>
          <p:nvPr/>
        </p:nvSpPr>
        <p:spPr>
          <a:xfrm>
            <a:off x="386751" y="1791579"/>
            <a:ext cx="71375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13" name="code_0"/>
          <p:cNvSpPr txBox="1"/>
          <p:nvPr/>
        </p:nvSpPr>
        <p:spPr>
          <a:xfrm>
            <a:off x="386759" y="2097651"/>
            <a:ext cx="3540758" cy="13358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314" name="lbl_1"/>
          <p:cNvSpPr txBox="1"/>
          <p:nvPr/>
        </p:nvSpPr>
        <p:spPr>
          <a:xfrm>
            <a:off x="3710061" y="1774624"/>
            <a:ext cx="71374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15" name="code_1"/>
          <p:cNvSpPr txBox="1"/>
          <p:nvPr/>
        </p:nvSpPr>
        <p:spPr>
          <a:xfrm>
            <a:off x="3710058" y="2080690"/>
            <a:ext cx="2430387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316" name="lbl_2"/>
          <p:cNvSpPr txBox="1"/>
          <p:nvPr/>
        </p:nvSpPr>
        <p:spPr>
          <a:xfrm>
            <a:off x="6260843" y="1774624"/>
            <a:ext cx="59182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17" name="code_2"/>
          <p:cNvSpPr txBox="1"/>
          <p:nvPr/>
        </p:nvSpPr>
        <p:spPr>
          <a:xfrm>
            <a:off x="6260841" y="2080690"/>
            <a:ext cx="2760605" cy="13656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318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19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x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320" name="lbl_4"/>
          <p:cNvSpPr txBox="1"/>
          <p:nvPr/>
        </p:nvSpPr>
        <p:spPr>
          <a:xfrm>
            <a:off x="5296265" y="3513154"/>
            <a:ext cx="34798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21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(x =&gt;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reduce</a:t>
            </a:r>
            <a:r>
              <a:t>((s, x) =&gt; s + x,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24" name="Google Shape;61;p6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25" name="Google Shape;62;p6"/>
          <p:cNvSpPr txBox="1"/>
          <p:nvPr/>
        </p:nvSpPr>
        <p:spPr>
          <a:xfrm>
            <a:off x="2286746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26" name="Google Shape;63;p6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27" name="Google Shape;64;p6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2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29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30" name="bullets"/>
          <p:cNvSpPr txBox="1"/>
          <p:nvPr/>
        </p:nvSpPr>
        <p:spPr>
          <a:xfrm>
            <a:off x="381660" y="1503773"/>
            <a:ext cx="7165165" cy="15279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Функция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first-class value</a:t>
            </a:r>
            <a:r>
              <a:t>: передаётся аргументом, связывается с переменной, возвращается из функции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HOF — принимает или возвращает функцию: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map, filter, fold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Замыкание — захват лексического окружения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Каррирование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f(a, b) → f(a)(b)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33" name="Google Shape;61;p6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4" name="Google Shape;62;p6"/>
          <p:cNvSpPr txBox="1"/>
          <p:nvPr/>
        </p:nvSpPr>
        <p:spPr>
          <a:xfrm>
            <a:off x="2286746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35" name="Google Shape;63;p6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6" name="Google Shape;64;p6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3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3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3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40" name="lbl_0"/>
          <p:cNvSpPr txBox="1"/>
          <p:nvPr/>
        </p:nvSpPr>
        <p:spPr>
          <a:xfrm>
            <a:off x="386750" y="1791579"/>
            <a:ext cx="80001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41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 = multiply 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List.map triple [1; 2; 3; 4; 5]</a:t>
            </a:r>
          </a:p>
        </p:txBody>
      </p:sp>
      <p:sp>
        <p:nvSpPr>
          <p:cNvPr id="342" name="lbl_1"/>
          <p:cNvSpPr txBox="1"/>
          <p:nvPr/>
        </p:nvSpPr>
        <p:spPr>
          <a:xfrm>
            <a:off x="3018082" y="1791579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43" name="code_1"/>
          <p:cNvSpPr txBox="1"/>
          <p:nvPr/>
        </p:nvSpPr>
        <p:spPr>
          <a:xfrm>
            <a:off x="3018081" y="2097651"/>
            <a:ext cx="2700009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List(1, 2, 3, 4, 5).map(triple)</a:t>
            </a:r>
          </a:p>
        </p:txBody>
      </p:sp>
      <p:sp>
        <p:nvSpPr>
          <p:cNvPr id="344" name="lbl_2"/>
          <p:cNvSpPr txBox="1"/>
          <p:nvPr/>
        </p:nvSpPr>
        <p:spPr>
          <a:xfrm>
            <a:off x="5667540" y="1791579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45" name="code_2"/>
          <p:cNvSpPr txBox="1"/>
          <p:nvPr/>
        </p:nvSpPr>
        <p:spPr>
          <a:xfrm>
            <a:off x="5649408" y="2097644"/>
            <a:ext cx="3249570" cy="15195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46" name="lbl_3"/>
          <p:cNvSpPr txBox="1"/>
          <p:nvPr/>
        </p:nvSpPr>
        <p:spPr>
          <a:xfrm>
            <a:off x="1131565" y="3681936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47" name="code_3"/>
          <p:cNvSpPr txBox="1"/>
          <p:nvPr/>
        </p:nvSpPr>
        <p:spPr>
          <a:xfrm>
            <a:off x="1106723" y="3988003"/>
            <a:ext cx="3562558" cy="1100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48" name="lbl_4"/>
          <p:cNvSpPr txBox="1"/>
          <p:nvPr/>
        </p:nvSpPr>
        <p:spPr>
          <a:xfrm>
            <a:off x="4869274" y="3681936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49" name="code_4"/>
          <p:cNvSpPr txBox="1"/>
          <p:nvPr/>
        </p:nvSpPr>
        <p:spPr>
          <a:xfrm>
            <a:off x="4869274" y="3988003"/>
            <a:ext cx="3835735" cy="1100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52" name="Google Shape;61;p6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53" name="Google Shape;62;p6"/>
          <p:cNvSpPr txBox="1"/>
          <p:nvPr/>
        </p:nvSpPr>
        <p:spPr>
          <a:xfrm>
            <a:off x="2286746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54" name="Google Shape;63;p6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55" name="Google Shape;64;p6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5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5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5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59" name="lbl_0"/>
          <p:cNvSpPr txBox="1"/>
          <p:nvPr/>
        </p:nvSpPr>
        <p:spPr>
          <a:xfrm>
            <a:off x="386750" y="1791579"/>
            <a:ext cx="80001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60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61" name="lbl_1"/>
          <p:cNvSpPr txBox="1"/>
          <p:nvPr/>
        </p:nvSpPr>
        <p:spPr>
          <a:xfrm>
            <a:off x="3018082" y="1791579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62" name="code_1"/>
          <p:cNvSpPr txBox="1"/>
          <p:nvPr/>
        </p:nvSpPr>
        <p:spPr>
          <a:xfrm>
            <a:off x="3018081" y="2097651"/>
            <a:ext cx="2700009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List(1, 2, 3, 4, 5).map(triple)</a:t>
            </a:r>
          </a:p>
        </p:txBody>
      </p:sp>
      <p:sp>
        <p:nvSpPr>
          <p:cNvPr id="363" name="lbl_2"/>
          <p:cNvSpPr txBox="1"/>
          <p:nvPr/>
        </p:nvSpPr>
        <p:spPr>
          <a:xfrm>
            <a:off x="5667540" y="1791579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64" name="code_2"/>
          <p:cNvSpPr txBox="1"/>
          <p:nvPr/>
        </p:nvSpPr>
        <p:spPr>
          <a:xfrm>
            <a:off x="5649408" y="2097644"/>
            <a:ext cx="3249570" cy="15195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65" name="lbl_3"/>
          <p:cNvSpPr txBox="1"/>
          <p:nvPr/>
        </p:nvSpPr>
        <p:spPr>
          <a:xfrm>
            <a:off x="1131565" y="3681936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66" name="code_3"/>
          <p:cNvSpPr txBox="1"/>
          <p:nvPr/>
        </p:nvSpPr>
        <p:spPr>
          <a:xfrm>
            <a:off x="1106723" y="3988003"/>
            <a:ext cx="3562558" cy="1100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67" name="lbl_4"/>
          <p:cNvSpPr txBox="1"/>
          <p:nvPr/>
        </p:nvSpPr>
        <p:spPr>
          <a:xfrm>
            <a:off x="4869274" y="3681936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68" name="code_4"/>
          <p:cNvSpPr txBox="1"/>
          <p:nvPr/>
        </p:nvSpPr>
        <p:spPr>
          <a:xfrm>
            <a:off x="4869274" y="3988003"/>
            <a:ext cx="3835735" cy="1100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71" name="Google Shape;61;p6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72" name="Google Shape;62;p6"/>
          <p:cNvSpPr txBox="1"/>
          <p:nvPr/>
        </p:nvSpPr>
        <p:spPr>
          <a:xfrm>
            <a:off x="2286746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73" name="Google Shape;63;p6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74" name="Google Shape;64;p6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7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76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77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78" name="lbl_0"/>
          <p:cNvSpPr txBox="1"/>
          <p:nvPr/>
        </p:nvSpPr>
        <p:spPr>
          <a:xfrm>
            <a:off x="386750" y="1791579"/>
            <a:ext cx="80001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79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80" name="lbl_1"/>
          <p:cNvSpPr txBox="1"/>
          <p:nvPr/>
        </p:nvSpPr>
        <p:spPr>
          <a:xfrm>
            <a:off x="3018082" y="1791579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81" name="code_1"/>
          <p:cNvSpPr txBox="1"/>
          <p:nvPr/>
        </p:nvSpPr>
        <p:spPr>
          <a:xfrm>
            <a:off x="3018081" y="2097651"/>
            <a:ext cx="2700009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382" name="lbl_2"/>
          <p:cNvSpPr txBox="1"/>
          <p:nvPr/>
        </p:nvSpPr>
        <p:spPr>
          <a:xfrm>
            <a:off x="5667540" y="1791579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83" name="code_2"/>
          <p:cNvSpPr txBox="1"/>
          <p:nvPr/>
        </p:nvSpPr>
        <p:spPr>
          <a:xfrm>
            <a:off x="5649408" y="2097644"/>
            <a:ext cx="3249570" cy="15195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84" name="lbl_3"/>
          <p:cNvSpPr txBox="1"/>
          <p:nvPr/>
        </p:nvSpPr>
        <p:spPr>
          <a:xfrm>
            <a:off x="1131565" y="3681936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85" name="code_3"/>
          <p:cNvSpPr txBox="1"/>
          <p:nvPr/>
        </p:nvSpPr>
        <p:spPr>
          <a:xfrm>
            <a:off x="1106723" y="3988003"/>
            <a:ext cx="3562558" cy="1100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86" name="lbl_4"/>
          <p:cNvSpPr txBox="1"/>
          <p:nvPr/>
        </p:nvSpPr>
        <p:spPr>
          <a:xfrm>
            <a:off x="4869274" y="3681936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87" name="code_4"/>
          <p:cNvSpPr txBox="1"/>
          <p:nvPr/>
        </p:nvSpPr>
        <p:spPr>
          <a:xfrm>
            <a:off x="4869274" y="3988003"/>
            <a:ext cx="3835735" cy="1100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90" name="Google Shape;61;p6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91" name="Google Shape;62;p6"/>
          <p:cNvSpPr txBox="1"/>
          <p:nvPr/>
        </p:nvSpPr>
        <p:spPr>
          <a:xfrm>
            <a:off x="2286746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92" name="Google Shape;63;p6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93" name="Google Shape;64;p6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9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95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96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97" name="lbl_0"/>
          <p:cNvSpPr txBox="1"/>
          <p:nvPr/>
        </p:nvSpPr>
        <p:spPr>
          <a:xfrm>
            <a:off x="386750" y="1791579"/>
            <a:ext cx="80001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98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99" name="lbl_1"/>
          <p:cNvSpPr txBox="1"/>
          <p:nvPr/>
        </p:nvSpPr>
        <p:spPr>
          <a:xfrm>
            <a:off x="3018082" y="1791579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00" name="code_1"/>
          <p:cNvSpPr txBox="1"/>
          <p:nvPr/>
        </p:nvSpPr>
        <p:spPr>
          <a:xfrm>
            <a:off x="3018081" y="2097651"/>
            <a:ext cx="2700009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01" name="lbl_2"/>
          <p:cNvSpPr txBox="1"/>
          <p:nvPr/>
        </p:nvSpPr>
        <p:spPr>
          <a:xfrm>
            <a:off x="5667540" y="1791579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02" name="code_2"/>
          <p:cNvSpPr txBox="1"/>
          <p:nvPr/>
        </p:nvSpPr>
        <p:spPr>
          <a:xfrm>
            <a:off x="5649408" y="2097644"/>
            <a:ext cx="3249570" cy="15195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03" name="lbl_3"/>
          <p:cNvSpPr txBox="1"/>
          <p:nvPr/>
        </p:nvSpPr>
        <p:spPr>
          <a:xfrm>
            <a:off x="1131565" y="3681936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04" name="code_3"/>
          <p:cNvSpPr txBox="1"/>
          <p:nvPr/>
        </p:nvSpPr>
        <p:spPr>
          <a:xfrm>
            <a:off x="1106723" y="3988003"/>
            <a:ext cx="3562558" cy="1100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405" name="lbl_4"/>
          <p:cNvSpPr txBox="1"/>
          <p:nvPr/>
        </p:nvSpPr>
        <p:spPr>
          <a:xfrm>
            <a:off x="4869274" y="3681936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06" name="code_4"/>
          <p:cNvSpPr txBox="1"/>
          <p:nvPr/>
        </p:nvSpPr>
        <p:spPr>
          <a:xfrm>
            <a:off x="4869274" y="3988003"/>
            <a:ext cx="3835735" cy="1100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09" name="Google Shape;61;p6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10" name="Google Shape;62;p6"/>
          <p:cNvSpPr txBox="1"/>
          <p:nvPr/>
        </p:nvSpPr>
        <p:spPr>
          <a:xfrm>
            <a:off x="2286746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11" name="Google Shape;63;p6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12" name="Google Shape;64;p6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1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14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41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416" name="lbl_0"/>
          <p:cNvSpPr txBox="1"/>
          <p:nvPr/>
        </p:nvSpPr>
        <p:spPr>
          <a:xfrm>
            <a:off x="386750" y="1791579"/>
            <a:ext cx="80001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17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418" name="lbl_1"/>
          <p:cNvSpPr txBox="1"/>
          <p:nvPr/>
        </p:nvSpPr>
        <p:spPr>
          <a:xfrm>
            <a:off x="3018082" y="1791579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19" name="code_1"/>
          <p:cNvSpPr txBox="1"/>
          <p:nvPr/>
        </p:nvSpPr>
        <p:spPr>
          <a:xfrm>
            <a:off x="3018081" y="2097651"/>
            <a:ext cx="2700009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20" name="lbl_2"/>
          <p:cNvSpPr txBox="1"/>
          <p:nvPr/>
        </p:nvSpPr>
        <p:spPr>
          <a:xfrm>
            <a:off x="5667540" y="1791579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21" name="code_2"/>
          <p:cNvSpPr txBox="1"/>
          <p:nvPr/>
        </p:nvSpPr>
        <p:spPr>
          <a:xfrm>
            <a:off x="5649408" y="2097644"/>
            <a:ext cx="3249570" cy="15195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22" name="lbl_3"/>
          <p:cNvSpPr txBox="1"/>
          <p:nvPr/>
        </p:nvSpPr>
        <p:spPr>
          <a:xfrm>
            <a:off x="1131565" y="3681936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23" name="code_3"/>
          <p:cNvSpPr txBox="1"/>
          <p:nvPr/>
        </p:nvSpPr>
        <p:spPr>
          <a:xfrm>
            <a:off x="1106723" y="3988003"/>
            <a:ext cx="3562558" cy="1100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functools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</a:t>
            </a:r>
            <a:r>
              <a:rPr>
                <a:solidFill>
                  <a:srgbClr val="61AFEF"/>
                </a:solidFill>
              </a:rPr>
              <a:t>partial</a:t>
            </a:r>
            <a:r>
              <a:t>(multiply, 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]))</a:t>
            </a:r>
          </a:p>
        </p:txBody>
      </p:sp>
      <p:sp>
        <p:nvSpPr>
          <p:cNvPr id="424" name="lbl_4"/>
          <p:cNvSpPr txBox="1"/>
          <p:nvPr/>
        </p:nvSpPr>
        <p:spPr>
          <a:xfrm>
            <a:off x="4869274" y="3681936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25" name="code_4"/>
          <p:cNvSpPr txBox="1"/>
          <p:nvPr/>
        </p:nvSpPr>
        <p:spPr>
          <a:xfrm>
            <a:off x="4869274" y="3988003"/>
            <a:ext cx="3835735" cy="1100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28" name="Google Shape;61;p6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29" name="Google Shape;62;p6"/>
          <p:cNvSpPr txBox="1"/>
          <p:nvPr/>
        </p:nvSpPr>
        <p:spPr>
          <a:xfrm>
            <a:off x="2286746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30" name="Google Shape;63;p6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31" name="Google Shape;64;p6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3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33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43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435" name="lbl_OCaml"/>
          <p:cNvSpPr txBox="1"/>
          <p:nvPr/>
        </p:nvSpPr>
        <p:spPr>
          <a:xfrm>
            <a:off x="386750" y="1791579"/>
            <a:ext cx="80001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36" name="code_OCaml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437" name="lbl_Scala"/>
          <p:cNvSpPr txBox="1"/>
          <p:nvPr/>
        </p:nvSpPr>
        <p:spPr>
          <a:xfrm>
            <a:off x="3018082" y="1791579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38" name="code_Scala"/>
          <p:cNvSpPr txBox="1"/>
          <p:nvPr/>
        </p:nvSpPr>
        <p:spPr>
          <a:xfrm>
            <a:off x="3018081" y="2097651"/>
            <a:ext cx="2700009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39" name="lbl_Rust"/>
          <p:cNvSpPr txBox="1"/>
          <p:nvPr/>
        </p:nvSpPr>
        <p:spPr>
          <a:xfrm>
            <a:off x="5667540" y="1791579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40" name="code_Rust"/>
          <p:cNvSpPr txBox="1"/>
          <p:nvPr/>
        </p:nvSpPr>
        <p:spPr>
          <a:xfrm>
            <a:off x="5649408" y="2097644"/>
            <a:ext cx="3249570" cy="15195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41" name="lbl_Python"/>
          <p:cNvSpPr txBox="1"/>
          <p:nvPr/>
        </p:nvSpPr>
        <p:spPr>
          <a:xfrm>
            <a:off x="1131565" y="3681936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42" name="code_Python"/>
          <p:cNvSpPr txBox="1"/>
          <p:nvPr/>
        </p:nvSpPr>
        <p:spPr>
          <a:xfrm>
            <a:off x="1106723" y="3988003"/>
            <a:ext cx="3562558" cy="1100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functools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</a:t>
            </a:r>
            <a:r>
              <a:rPr>
                <a:solidFill>
                  <a:srgbClr val="61AFEF"/>
                </a:solidFill>
              </a:rPr>
              <a:t>partial</a:t>
            </a:r>
            <a:r>
              <a:t>(multiply, 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]))</a:t>
            </a:r>
          </a:p>
        </p:txBody>
      </p:sp>
      <p:sp>
        <p:nvSpPr>
          <p:cNvPr id="443" name="lbl_JS"/>
          <p:cNvSpPr txBox="1"/>
          <p:nvPr/>
        </p:nvSpPr>
        <p:spPr>
          <a:xfrm>
            <a:off x="4869274" y="3681936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44" name="code_JS"/>
          <p:cNvSpPr txBox="1"/>
          <p:nvPr/>
        </p:nvSpPr>
        <p:spPr>
          <a:xfrm>
            <a:off x="4869274" y="3988003"/>
            <a:ext cx="3835735" cy="1100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</a:t>
            </a:r>
            <a:r>
              <a:rPr>
                <a:solidFill>
                  <a:srgbClr val="D0D0D0"/>
                </a:solidFill>
              </a:rPr>
              <a:t>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multiply = R.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triple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result =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].</a:t>
            </a:r>
            <a:r>
              <a:rPr>
                <a:solidFill>
                  <a:srgbClr val="61AFEF"/>
                </a:solidFill>
              </a:rPr>
              <a:t>map</a:t>
            </a:r>
            <a:r>
              <a:rPr>
                <a:solidFill>
                  <a:srgbClr val="D0D0D0"/>
                </a:solidFill>
              </a:rPr>
              <a:t>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47" name="Google Shape;61;p6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48" name="Google Shape;62;p6"/>
          <p:cNvSpPr txBox="1"/>
          <p:nvPr/>
        </p:nvSpPr>
        <p:spPr>
          <a:xfrm>
            <a:off x="2286746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49" name="Google Shape;63;p6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0" name="Google Shape;64;p6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5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5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453" name="bullets"/>
          <p:cNvSpPr txBox="1"/>
          <p:nvPr/>
        </p:nvSpPr>
        <p:spPr>
          <a:xfrm>
            <a:off x="381660" y="1562944"/>
            <a:ext cx="7165165" cy="1849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Чистая функция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: возвращаемое значение зависит только от аргументов; </a:t>
            </a:r>
            <a:r>
              <a:t>нет побочных эффектов.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Следствия: мемоизация;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независимость порядка вычислений</a:t>
            </a:r>
            <a:r>
              <a:t>; data race-free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параллелизм.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Эффекты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 неизбежны (I/O, время, состояние). Стратегия — </a:t>
            </a:r>
            <a:r>
              <a:t>изоляция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 на границах системы.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56" name="Google Shape;61;p6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7" name="Google Shape;62;p6"/>
          <p:cNvSpPr txBox="1"/>
          <p:nvPr/>
        </p:nvSpPr>
        <p:spPr>
          <a:xfrm>
            <a:off x="2286746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58" name="Google Shape;63;p6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9" name="Google Shape;64;p6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6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6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46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463" name="lbl_0"/>
          <p:cNvSpPr txBox="1"/>
          <p:nvPr/>
        </p:nvSpPr>
        <p:spPr>
          <a:xfrm>
            <a:off x="355340" y="1810903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64" name="code_0"/>
          <p:cNvSpPr txBox="1"/>
          <p:nvPr/>
        </p:nvSpPr>
        <p:spPr>
          <a:xfrm>
            <a:off x="355342" y="2116975"/>
            <a:ext cx="2344137" cy="15000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(1.0 -.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ref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(1.0 -. !rate)</a:t>
            </a:r>
          </a:p>
        </p:txBody>
      </p:sp>
      <p:sp>
        <p:nvSpPr>
          <p:cNvPr id="465" name="lbl_1"/>
          <p:cNvSpPr txBox="1"/>
          <p:nvPr/>
        </p:nvSpPr>
        <p:spPr>
          <a:xfrm>
            <a:off x="2806660" y="1811091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66" name="code_1"/>
          <p:cNvSpPr txBox="1"/>
          <p:nvPr/>
        </p:nvSpPr>
        <p:spPr>
          <a:xfrm>
            <a:off x="2806660" y="2117163"/>
            <a:ext cx="3350004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discount(rate: Double, price: Double): Double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 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discountImpure(price: Double): Double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67" name="lbl_2"/>
          <p:cNvSpPr txBox="1"/>
          <p:nvPr/>
        </p:nvSpPr>
        <p:spPr>
          <a:xfrm>
            <a:off x="5985766" y="1731434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68" name="code_2"/>
          <p:cNvSpPr txBox="1"/>
          <p:nvPr/>
        </p:nvSpPr>
        <p:spPr>
          <a:xfrm>
            <a:off x="5985765" y="2037506"/>
            <a:ext cx="2740004" cy="15000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69" name="lbl_3"/>
          <p:cNvSpPr txBox="1"/>
          <p:nvPr/>
        </p:nvSpPr>
        <p:spPr>
          <a:xfrm>
            <a:off x="1863918" y="3420678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70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471" name="lbl_4"/>
          <p:cNvSpPr txBox="1"/>
          <p:nvPr/>
        </p:nvSpPr>
        <p:spPr>
          <a:xfrm>
            <a:off x="4849612" y="3404568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72" name="code_4"/>
          <p:cNvSpPr txBox="1"/>
          <p:nvPr/>
        </p:nvSpPr>
        <p:spPr>
          <a:xfrm>
            <a:off x="4849612" y="3710635"/>
            <a:ext cx="2416595" cy="11000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75" name="Google Shape;61;p6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6" name="Google Shape;62;p6"/>
          <p:cNvSpPr txBox="1"/>
          <p:nvPr/>
        </p:nvSpPr>
        <p:spPr>
          <a:xfrm>
            <a:off x="2286746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77" name="Google Shape;63;p6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8" name="Google Shape;64;p6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7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80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48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482" name="lbl_0"/>
          <p:cNvSpPr txBox="1"/>
          <p:nvPr/>
        </p:nvSpPr>
        <p:spPr>
          <a:xfrm>
            <a:off x="355340" y="1810903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83" name="code_0"/>
          <p:cNvSpPr txBox="1"/>
          <p:nvPr/>
        </p:nvSpPr>
        <p:spPr>
          <a:xfrm>
            <a:off x="355342" y="2116975"/>
            <a:ext cx="2344137" cy="15000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484" name="lbl_1"/>
          <p:cNvSpPr txBox="1"/>
          <p:nvPr/>
        </p:nvSpPr>
        <p:spPr>
          <a:xfrm>
            <a:off x="2806660" y="1811091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85" name="code_1"/>
          <p:cNvSpPr txBox="1"/>
          <p:nvPr/>
        </p:nvSpPr>
        <p:spPr>
          <a:xfrm>
            <a:off x="2806660" y="2117163"/>
            <a:ext cx="3350004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discount(rate: Double, price: Double): Double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 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discountImpure(price: Double): Double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86" name="lbl_2"/>
          <p:cNvSpPr txBox="1"/>
          <p:nvPr/>
        </p:nvSpPr>
        <p:spPr>
          <a:xfrm>
            <a:off x="5985766" y="1731434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87" name="code_2"/>
          <p:cNvSpPr txBox="1"/>
          <p:nvPr/>
        </p:nvSpPr>
        <p:spPr>
          <a:xfrm>
            <a:off x="5985765" y="2037506"/>
            <a:ext cx="2740004" cy="15000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88" name="lbl_3"/>
          <p:cNvSpPr txBox="1"/>
          <p:nvPr/>
        </p:nvSpPr>
        <p:spPr>
          <a:xfrm>
            <a:off x="1863918" y="3420678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89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490" name="lbl_4"/>
          <p:cNvSpPr txBox="1"/>
          <p:nvPr/>
        </p:nvSpPr>
        <p:spPr>
          <a:xfrm>
            <a:off x="4849612" y="3404568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91" name="code_4"/>
          <p:cNvSpPr txBox="1"/>
          <p:nvPr/>
        </p:nvSpPr>
        <p:spPr>
          <a:xfrm>
            <a:off x="4849612" y="3710635"/>
            <a:ext cx="2416595" cy="11000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94" name="Google Shape;61;p6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5" name="Google Shape;62;p6"/>
          <p:cNvSpPr txBox="1"/>
          <p:nvPr/>
        </p:nvSpPr>
        <p:spPr>
          <a:xfrm>
            <a:off x="2286746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96" name="Google Shape;63;p6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7" name="Google Shape;64;p6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9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99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00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01" name="lbl_0"/>
          <p:cNvSpPr txBox="1"/>
          <p:nvPr/>
        </p:nvSpPr>
        <p:spPr>
          <a:xfrm>
            <a:off x="355340" y="1810903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02" name="code_0"/>
          <p:cNvSpPr txBox="1"/>
          <p:nvPr/>
        </p:nvSpPr>
        <p:spPr>
          <a:xfrm>
            <a:off x="355342" y="2116975"/>
            <a:ext cx="2344137" cy="15000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03" name="lbl_1"/>
          <p:cNvSpPr txBox="1"/>
          <p:nvPr/>
        </p:nvSpPr>
        <p:spPr>
          <a:xfrm>
            <a:off x="2806660" y="1811091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04" name="code_1"/>
          <p:cNvSpPr txBox="1"/>
          <p:nvPr/>
        </p:nvSpPr>
        <p:spPr>
          <a:xfrm>
            <a:off x="2806660" y="2117163"/>
            <a:ext cx="3350004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05" name="lbl_2"/>
          <p:cNvSpPr txBox="1"/>
          <p:nvPr/>
        </p:nvSpPr>
        <p:spPr>
          <a:xfrm>
            <a:off x="5985766" y="1731434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06" name="code_2"/>
          <p:cNvSpPr txBox="1"/>
          <p:nvPr/>
        </p:nvSpPr>
        <p:spPr>
          <a:xfrm>
            <a:off x="5985765" y="2037506"/>
            <a:ext cx="2740004" cy="15000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07" name="lbl_3"/>
          <p:cNvSpPr txBox="1"/>
          <p:nvPr/>
        </p:nvSpPr>
        <p:spPr>
          <a:xfrm>
            <a:off x="1863918" y="3420678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08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509" name="lbl_4"/>
          <p:cNvSpPr txBox="1"/>
          <p:nvPr/>
        </p:nvSpPr>
        <p:spPr>
          <a:xfrm>
            <a:off x="4849612" y="3404568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10" name="code_4"/>
          <p:cNvSpPr txBox="1"/>
          <p:nvPr/>
        </p:nvSpPr>
        <p:spPr>
          <a:xfrm>
            <a:off x="4849612" y="3710635"/>
            <a:ext cx="2416595" cy="11000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13" name="Google Shape;61;p6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14" name="Google Shape;62;p6"/>
          <p:cNvSpPr txBox="1"/>
          <p:nvPr/>
        </p:nvSpPr>
        <p:spPr>
          <a:xfrm>
            <a:off x="2286746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15" name="Google Shape;63;p6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16" name="Google Shape;64;p6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1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1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1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20" name="lbl_0"/>
          <p:cNvSpPr txBox="1"/>
          <p:nvPr/>
        </p:nvSpPr>
        <p:spPr>
          <a:xfrm>
            <a:off x="355340" y="1810903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21" name="code_0"/>
          <p:cNvSpPr txBox="1"/>
          <p:nvPr/>
        </p:nvSpPr>
        <p:spPr>
          <a:xfrm>
            <a:off x="355342" y="2116975"/>
            <a:ext cx="2344137" cy="15000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22" name="lbl_1"/>
          <p:cNvSpPr txBox="1"/>
          <p:nvPr/>
        </p:nvSpPr>
        <p:spPr>
          <a:xfrm>
            <a:off x="2806660" y="1811091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23" name="code_1"/>
          <p:cNvSpPr txBox="1"/>
          <p:nvPr/>
        </p:nvSpPr>
        <p:spPr>
          <a:xfrm>
            <a:off x="2806660" y="2117163"/>
            <a:ext cx="3350004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24" name="lbl_2"/>
          <p:cNvSpPr txBox="1"/>
          <p:nvPr/>
        </p:nvSpPr>
        <p:spPr>
          <a:xfrm>
            <a:off x="5985766" y="1731434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25" name="code_2"/>
          <p:cNvSpPr txBox="1"/>
          <p:nvPr/>
        </p:nvSpPr>
        <p:spPr>
          <a:xfrm>
            <a:off x="5985765" y="2037506"/>
            <a:ext cx="2740004" cy="15000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discount_impure(price: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unsafe</a:t>
            </a:r>
            <a: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26" name="lbl_3"/>
          <p:cNvSpPr txBox="1"/>
          <p:nvPr/>
        </p:nvSpPr>
        <p:spPr>
          <a:xfrm>
            <a:off x="1863918" y="3420678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27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528" name="lbl_4"/>
          <p:cNvSpPr txBox="1"/>
          <p:nvPr/>
        </p:nvSpPr>
        <p:spPr>
          <a:xfrm>
            <a:off x="4849612" y="3404568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29" name="code_4"/>
          <p:cNvSpPr txBox="1"/>
          <p:nvPr/>
        </p:nvSpPr>
        <p:spPr>
          <a:xfrm>
            <a:off x="4849612" y="3710635"/>
            <a:ext cx="2416595" cy="11000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32" name="Google Shape;61;p6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33" name="Google Shape;62;p6"/>
          <p:cNvSpPr txBox="1"/>
          <p:nvPr/>
        </p:nvSpPr>
        <p:spPr>
          <a:xfrm>
            <a:off x="2286746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34" name="Google Shape;63;p6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35" name="Google Shape;64;p6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3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3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3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39" name="lbl_0"/>
          <p:cNvSpPr txBox="1"/>
          <p:nvPr/>
        </p:nvSpPr>
        <p:spPr>
          <a:xfrm>
            <a:off x="355340" y="1810903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40" name="code_0"/>
          <p:cNvSpPr txBox="1"/>
          <p:nvPr/>
        </p:nvSpPr>
        <p:spPr>
          <a:xfrm>
            <a:off x="355342" y="2116975"/>
            <a:ext cx="2344137" cy="15000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41" name="lbl_1"/>
          <p:cNvSpPr txBox="1"/>
          <p:nvPr/>
        </p:nvSpPr>
        <p:spPr>
          <a:xfrm>
            <a:off x="2806660" y="1811091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42" name="code_1"/>
          <p:cNvSpPr txBox="1"/>
          <p:nvPr/>
        </p:nvSpPr>
        <p:spPr>
          <a:xfrm>
            <a:off x="2806660" y="2117163"/>
            <a:ext cx="3350004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43" name="lbl_2"/>
          <p:cNvSpPr txBox="1"/>
          <p:nvPr/>
        </p:nvSpPr>
        <p:spPr>
          <a:xfrm>
            <a:off x="5985766" y="1731434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44" name="code_2"/>
          <p:cNvSpPr txBox="1"/>
          <p:nvPr/>
        </p:nvSpPr>
        <p:spPr>
          <a:xfrm>
            <a:off x="5985765" y="2037506"/>
            <a:ext cx="2740004" cy="15000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discount_impure(price: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unsafe</a:t>
            </a:r>
            <a: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45" name="lbl_3"/>
          <p:cNvSpPr txBox="1"/>
          <p:nvPr/>
        </p:nvSpPr>
        <p:spPr>
          <a:xfrm>
            <a:off x="1863918" y="3420678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46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global</a:t>
            </a:r>
            <a:r>
              <a:t> rate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</p:txBody>
      </p:sp>
      <p:sp>
        <p:nvSpPr>
          <p:cNvPr id="547" name="lbl_4"/>
          <p:cNvSpPr txBox="1"/>
          <p:nvPr/>
        </p:nvSpPr>
        <p:spPr>
          <a:xfrm>
            <a:off x="4849612" y="3404568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48" name="code_4"/>
          <p:cNvSpPr txBox="1"/>
          <p:nvPr/>
        </p:nvSpPr>
        <p:spPr>
          <a:xfrm>
            <a:off x="4849612" y="3710635"/>
            <a:ext cx="2416595" cy="11000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51" name="Google Shape;61;p6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52" name="Google Shape;62;p6"/>
          <p:cNvSpPr txBox="1"/>
          <p:nvPr/>
        </p:nvSpPr>
        <p:spPr>
          <a:xfrm>
            <a:off x="2286746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53" name="Google Shape;63;p6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54" name="Google Shape;64;p6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5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56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57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58" name="lbl_0"/>
          <p:cNvSpPr txBox="1"/>
          <p:nvPr/>
        </p:nvSpPr>
        <p:spPr>
          <a:xfrm>
            <a:off x="355340" y="1810903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59" name="code_0"/>
          <p:cNvSpPr txBox="1"/>
          <p:nvPr/>
        </p:nvSpPr>
        <p:spPr>
          <a:xfrm>
            <a:off x="355342" y="2116975"/>
            <a:ext cx="2344137" cy="15000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60" name="lbl_1"/>
          <p:cNvSpPr txBox="1"/>
          <p:nvPr/>
        </p:nvSpPr>
        <p:spPr>
          <a:xfrm>
            <a:off x="2806660" y="1811091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61" name="code_1"/>
          <p:cNvSpPr txBox="1"/>
          <p:nvPr/>
        </p:nvSpPr>
        <p:spPr>
          <a:xfrm>
            <a:off x="2806660" y="2117163"/>
            <a:ext cx="3350004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62" name="lbl_2"/>
          <p:cNvSpPr txBox="1"/>
          <p:nvPr/>
        </p:nvSpPr>
        <p:spPr>
          <a:xfrm>
            <a:off x="5985766" y="1731434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63" name="code_2"/>
          <p:cNvSpPr txBox="1"/>
          <p:nvPr/>
        </p:nvSpPr>
        <p:spPr>
          <a:xfrm>
            <a:off x="5985765" y="2037506"/>
            <a:ext cx="2740004" cy="15000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discount_impure(price: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unsafe</a:t>
            </a:r>
            <a: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64" name="lbl_3"/>
          <p:cNvSpPr txBox="1"/>
          <p:nvPr/>
        </p:nvSpPr>
        <p:spPr>
          <a:xfrm>
            <a:off x="1863918" y="3420678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65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global</a:t>
            </a:r>
            <a:r>
              <a:t> rate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</p:txBody>
      </p:sp>
      <p:sp>
        <p:nvSpPr>
          <p:cNvPr id="566" name="lbl_4"/>
          <p:cNvSpPr txBox="1"/>
          <p:nvPr/>
        </p:nvSpPr>
        <p:spPr>
          <a:xfrm>
            <a:off x="4849612" y="3404568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67" name="code_4"/>
          <p:cNvSpPr txBox="1"/>
          <p:nvPr/>
        </p:nvSpPr>
        <p:spPr>
          <a:xfrm>
            <a:off x="4849612" y="3710635"/>
            <a:ext cx="2416595" cy="11000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</a:t>
            </a:r>
            <a:r>
              <a:rPr>
                <a:solidFill>
                  <a:srgbClr val="D0D0D0"/>
                </a:solidFill>
              </a:rPr>
              <a:t>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70" name="Google Shape;61;p6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71" name="Google Shape;62;p6"/>
          <p:cNvSpPr txBox="1"/>
          <p:nvPr/>
        </p:nvSpPr>
        <p:spPr>
          <a:xfrm>
            <a:off x="2286746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72" name="Google Shape;63;p6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73" name="Google Shape;64;p6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7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75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576" name="bullets"/>
          <p:cNvSpPr txBox="1"/>
          <p:nvPr/>
        </p:nvSpPr>
        <p:spPr>
          <a:xfrm>
            <a:off x="381660" y="1562944"/>
            <a:ext cx="7165165" cy="1849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const / val — запрет перезаписи переменной. Иммутабельность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запрет мутации самого значения.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Гарантия: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компилятором</a:t>
            </a:r>
            <a:r>
              <a:t> (OCaml let, Rust let) /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соглашением</a:t>
            </a:r>
            <a:r>
              <a:t> (Scala val) /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опционально</a:t>
            </a:r>
            <a:r>
              <a:t> (Python frozen=True, JS Object.freeze).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Persistent data structures: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structural sharing</a:t>
            </a:r>
            <a:r>
              <a:t>. Обновление поля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O(log n), не O(n).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79" name="Google Shape;61;p6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80" name="Google Shape;62;p6"/>
          <p:cNvSpPr txBox="1"/>
          <p:nvPr/>
        </p:nvSpPr>
        <p:spPr>
          <a:xfrm>
            <a:off x="2286746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81" name="Google Shape;63;p6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82" name="Google Shape;64;p6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8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84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58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586" name="lbl_0"/>
          <p:cNvSpPr txBox="1"/>
          <p:nvPr/>
        </p:nvSpPr>
        <p:spPr>
          <a:xfrm>
            <a:off x="355340" y="1810903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87" name="code_0"/>
          <p:cNvSpPr txBox="1"/>
          <p:nvPr/>
        </p:nvSpPr>
        <p:spPr>
          <a:xfrm>
            <a:off x="355342" y="2116975"/>
            <a:ext cx="2344137" cy="7737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 user = { name: string; age: int }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{ name = "Alice"; age = 30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{ user with age = 31 }</a:t>
            </a:r>
          </a:p>
        </p:txBody>
      </p:sp>
      <p:sp>
        <p:nvSpPr>
          <p:cNvPr id="588" name="lbl_1"/>
          <p:cNvSpPr txBox="1"/>
          <p:nvPr/>
        </p:nvSpPr>
        <p:spPr>
          <a:xfrm>
            <a:off x="2806660" y="1811091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89" name="code_1"/>
          <p:cNvSpPr txBox="1"/>
          <p:nvPr/>
        </p:nvSpPr>
        <p:spPr>
          <a:xfrm>
            <a:off x="2806660" y="2117163"/>
            <a:ext cx="2740002" cy="909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 User(name: String, age: Int)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older = user.copy(age = 31)</a:t>
            </a:r>
          </a:p>
        </p:txBody>
      </p:sp>
      <p:sp>
        <p:nvSpPr>
          <p:cNvPr id="590" name="lbl_2"/>
          <p:cNvSpPr txBox="1"/>
          <p:nvPr/>
        </p:nvSpPr>
        <p:spPr>
          <a:xfrm>
            <a:off x="5985766" y="1731434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91" name="code_2"/>
          <p:cNvSpPr txBox="1"/>
          <p:nvPr/>
        </p:nvSpPr>
        <p:spPr>
          <a:xfrm>
            <a:off x="5985766" y="2037506"/>
            <a:ext cx="3071318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 User { name: String, age: u32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User { name: "Alice".into(), age: 30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User { age: 31,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mut draft = User { name: "Bob".into(), age: 25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26;</a:t>
            </a:r>
          </a:p>
        </p:txBody>
      </p:sp>
      <p:sp>
        <p:nvSpPr>
          <p:cNvPr id="592" name="lbl_3"/>
          <p:cNvSpPr txBox="1"/>
          <p:nvPr/>
        </p:nvSpPr>
        <p:spPr>
          <a:xfrm>
            <a:off x="1863918" y="3420678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93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594" name="lbl_4"/>
          <p:cNvSpPr txBox="1"/>
          <p:nvPr/>
        </p:nvSpPr>
        <p:spPr>
          <a:xfrm>
            <a:off x="4849612" y="3404568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95" name="code_4"/>
          <p:cNvSpPr txBox="1"/>
          <p:nvPr/>
        </p:nvSpPr>
        <p:spPr>
          <a:xfrm>
            <a:off x="4849612" y="3710635"/>
            <a:ext cx="3072310" cy="11000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98" name="Google Shape;61;p6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99" name="Google Shape;62;p6"/>
          <p:cNvSpPr txBox="1"/>
          <p:nvPr/>
        </p:nvSpPr>
        <p:spPr>
          <a:xfrm>
            <a:off x="2286746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00" name="Google Shape;63;p6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01" name="Google Shape;64;p6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0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03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0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05" name="lbl_0"/>
          <p:cNvSpPr txBox="1"/>
          <p:nvPr/>
        </p:nvSpPr>
        <p:spPr>
          <a:xfrm>
            <a:off x="355340" y="1810903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06" name="code_0"/>
          <p:cNvSpPr txBox="1"/>
          <p:nvPr/>
        </p:nvSpPr>
        <p:spPr>
          <a:xfrm>
            <a:off x="355342" y="2116975"/>
            <a:ext cx="2344137" cy="7737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07" name="lbl_1"/>
          <p:cNvSpPr txBox="1"/>
          <p:nvPr/>
        </p:nvSpPr>
        <p:spPr>
          <a:xfrm>
            <a:off x="2806660" y="1811091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08" name="code_1"/>
          <p:cNvSpPr txBox="1"/>
          <p:nvPr/>
        </p:nvSpPr>
        <p:spPr>
          <a:xfrm>
            <a:off x="2806660" y="2117163"/>
            <a:ext cx="2740002" cy="909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 User(name: String, age: Int)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older = user.copy(age = 31)</a:t>
            </a:r>
          </a:p>
        </p:txBody>
      </p:sp>
      <p:sp>
        <p:nvSpPr>
          <p:cNvPr id="609" name="lbl_2"/>
          <p:cNvSpPr txBox="1"/>
          <p:nvPr/>
        </p:nvSpPr>
        <p:spPr>
          <a:xfrm>
            <a:off x="5985766" y="1731434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10" name="code_2"/>
          <p:cNvSpPr txBox="1"/>
          <p:nvPr/>
        </p:nvSpPr>
        <p:spPr>
          <a:xfrm>
            <a:off x="5985766" y="2037506"/>
            <a:ext cx="3071318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 User { name: String, age: u32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User { name: "Alice".into(), age: 30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User { age: 31,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mut draft = User { name: "Bob".into(), age: 25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26;</a:t>
            </a:r>
          </a:p>
        </p:txBody>
      </p:sp>
      <p:sp>
        <p:nvSpPr>
          <p:cNvPr id="611" name="lbl_3"/>
          <p:cNvSpPr txBox="1"/>
          <p:nvPr/>
        </p:nvSpPr>
        <p:spPr>
          <a:xfrm>
            <a:off x="1863918" y="3420678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12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613" name="lbl_4"/>
          <p:cNvSpPr txBox="1"/>
          <p:nvPr/>
        </p:nvSpPr>
        <p:spPr>
          <a:xfrm>
            <a:off x="4849612" y="3404568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14" name="code_4"/>
          <p:cNvSpPr txBox="1"/>
          <p:nvPr/>
        </p:nvSpPr>
        <p:spPr>
          <a:xfrm>
            <a:off x="4849612" y="3710635"/>
            <a:ext cx="3072310" cy="11000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17" name="Google Shape;61;p6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18" name="Google Shape;62;p6"/>
          <p:cNvSpPr txBox="1"/>
          <p:nvPr/>
        </p:nvSpPr>
        <p:spPr>
          <a:xfrm>
            <a:off x="2286746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19" name="Google Shape;63;p6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20" name="Google Shape;64;p6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2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22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2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24" name="lbl_0"/>
          <p:cNvSpPr txBox="1"/>
          <p:nvPr/>
        </p:nvSpPr>
        <p:spPr>
          <a:xfrm>
            <a:off x="355340" y="1810903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25" name="code_0"/>
          <p:cNvSpPr txBox="1"/>
          <p:nvPr/>
        </p:nvSpPr>
        <p:spPr>
          <a:xfrm>
            <a:off x="355342" y="2116975"/>
            <a:ext cx="2344137" cy="7737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26" name="lbl_1"/>
          <p:cNvSpPr txBox="1"/>
          <p:nvPr/>
        </p:nvSpPr>
        <p:spPr>
          <a:xfrm>
            <a:off x="2806660" y="1811091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27" name="code_1"/>
          <p:cNvSpPr txBox="1"/>
          <p:nvPr/>
        </p:nvSpPr>
        <p:spPr>
          <a:xfrm>
            <a:off x="2806660" y="2117163"/>
            <a:ext cx="2740002" cy="909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28" name="lbl_2"/>
          <p:cNvSpPr txBox="1"/>
          <p:nvPr/>
        </p:nvSpPr>
        <p:spPr>
          <a:xfrm>
            <a:off x="5985766" y="1731434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29" name="code_2"/>
          <p:cNvSpPr txBox="1"/>
          <p:nvPr/>
        </p:nvSpPr>
        <p:spPr>
          <a:xfrm>
            <a:off x="5985766" y="2037506"/>
            <a:ext cx="3071318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 User { name: String, age: u32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User { name: "Alice".into(), age: 30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User { age: 31,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mut draft = User { name: "Bob".into(), age: 25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26;</a:t>
            </a:r>
          </a:p>
        </p:txBody>
      </p:sp>
      <p:sp>
        <p:nvSpPr>
          <p:cNvPr id="630" name="lbl_3"/>
          <p:cNvSpPr txBox="1"/>
          <p:nvPr/>
        </p:nvSpPr>
        <p:spPr>
          <a:xfrm>
            <a:off x="1863918" y="3420678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31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632" name="lbl_4"/>
          <p:cNvSpPr txBox="1"/>
          <p:nvPr/>
        </p:nvSpPr>
        <p:spPr>
          <a:xfrm>
            <a:off x="4849612" y="3404568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33" name="code_4"/>
          <p:cNvSpPr txBox="1"/>
          <p:nvPr/>
        </p:nvSpPr>
        <p:spPr>
          <a:xfrm>
            <a:off x="4849612" y="3710635"/>
            <a:ext cx="3072310" cy="11000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36" name="Google Shape;61;p6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37" name="Google Shape;62;p6"/>
          <p:cNvSpPr txBox="1"/>
          <p:nvPr/>
        </p:nvSpPr>
        <p:spPr>
          <a:xfrm>
            <a:off x="2286746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38" name="Google Shape;63;p6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39" name="Google Shape;64;p6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4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4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4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43" name="lbl_0"/>
          <p:cNvSpPr txBox="1"/>
          <p:nvPr/>
        </p:nvSpPr>
        <p:spPr>
          <a:xfrm>
            <a:off x="355340" y="1810903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44" name="code_0"/>
          <p:cNvSpPr txBox="1"/>
          <p:nvPr/>
        </p:nvSpPr>
        <p:spPr>
          <a:xfrm>
            <a:off x="355342" y="2116975"/>
            <a:ext cx="2344137" cy="7737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45" name="lbl_1"/>
          <p:cNvSpPr txBox="1"/>
          <p:nvPr/>
        </p:nvSpPr>
        <p:spPr>
          <a:xfrm>
            <a:off x="2806660" y="1811091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46" name="code_1"/>
          <p:cNvSpPr txBox="1"/>
          <p:nvPr/>
        </p:nvSpPr>
        <p:spPr>
          <a:xfrm>
            <a:off x="2806660" y="2117163"/>
            <a:ext cx="2740002" cy="909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47" name="lbl_2"/>
          <p:cNvSpPr txBox="1"/>
          <p:nvPr/>
        </p:nvSpPr>
        <p:spPr>
          <a:xfrm>
            <a:off x="5985766" y="1731434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48" name="code_2"/>
          <p:cNvSpPr txBox="1"/>
          <p:nvPr/>
        </p:nvSpPr>
        <p:spPr>
          <a:xfrm>
            <a:off x="5985766" y="2037506"/>
            <a:ext cx="3071318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</a:t>
            </a:r>
            <a:r>
              <a:rPr>
                <a:solidFill>
                  <a:srgbClr val="D0D0D0"/>
                </a:solidFill>
              </a:rPr>
              <a:t> User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u32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User 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User {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draft = User { name: </a:t>
            </a:r>
            <a:r>
              <a:rPr>
                <a:solidFill>
                  <a:srgbClr val="E5C07B"/>
                </a:solidFill>
              </a:rPr>
              <a:t>"Bob"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25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</a:t>
            </a:r>
            <a:r>
              <a:rPr>
                <a:solidFill>
                  <a:srgbClr val="E5C07B"/>
                </a:solidFill>
              </a:rPr>
              <a:t>26</a:t>
            </a:r>
            <a:r>
              <a:t>;</a:t>
            </a:r>
          </a:p>
        </p:txBody>
      </p:sp>
      <p:sp>
        <p:nvSpPr>
          <p:cNvPr id="649" name="lbl_3"/>
          <p:cNvSpPr txBox="1"/>
          <p:nvPr/>
        </p:nvSpPr>
        <p:spPr>
          <a:xfrm>
            <a:off x="1863918" y="3420678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50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651" name="lbl_4"/>
          <p:cNvSpPr txBox="1"/>
          <p:nvPr/>
        </p:nvSpPr>
        <p:spPr>
          <a:xfrm>
            <a:off x="4849612" y="3404568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52" name="code_4"/>
          <p:cNvSpPr txBox="1"/>
          <p:nvPr/>
        </p:nvSpPr>
        <p:spPr>
          <a:xfrm>
            <a:off x="4849612" y="3710635"/>
            <a:ext cx="3072310" cy="11000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55" name="Google Shape;61;p6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56" name="Google Shape;62;p6"/>
          <p:cNvSpPr txBox="1"/>
          <p:nvPr/>
        </p:nvSpPr>
        <p:spPr>
          <a:xfrm>
            <a:off x="2286746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57" name="Google Shape;63;p6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58" name="Google Shape;64;p6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5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60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6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62" name="lbl_0"/>
          <p:cNvSpPr txBox="1"/>
          <p:nvPr/>
        </p:nvSpPr>
        <p:spPr>
          <a:xfrm>
            <a:off x="355340" y="1810903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63" name="code_0"/>
          <p:cNvSpPr txBox="1"/>
          <p:nvPr/>
        </p:nvSpPr>
        <p:spPr>
          <a:xfrm>
            <a:off x="355342" y="2116975"/>
            <a:ext cx="2344137" cy="7737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64" name="lbl_1"/>
          <p:cNvSpPr txBox="1"/>
          <p:nvPr/>
        </p:nvSpPr>
        <p:spPr>
          <a:xfrm>
            <a:off x="2806660" y="1811091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65" name="code_1"/>
          <p:cNvSpPr txBox="1"/>
          <p:nvPr/>
        </p:nvSpPr>
        <p:spPr>
          <a:xfrm>
            <a:off x="2806660" y="2117163"/>
            <a:ext cx="2740002" cy="909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66" name="lbl_2"/>
          <p:cNvSpPr txBox="1"/>
          <p:nvPr/>
        </p:nvSpPr>
        <p:spPr>
          <a:xfrm>
            <a:off x="5985766" y="1731434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67" name="code_2"/>
          <p:cNvSpPr txBox="1"/>
          <p:nvPr/>
        </p:nvSpPr>
        <p:spPr>
          <a:xfrm>
            <a:off x="5985766" y="2037506"/>
            <a:ext cx="3071318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</a:t>
            </a:r>
            <a:r>
              <a:rPr>
                <a:solidFill>
                  <a:srgbClr val="D0D0D0"/>
                </a:solidFill>
              </a:rPr>
              <a:t> User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u32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User 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User {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draft = User { name: </a:t>
            </a:r>
            <a:r>
              <a:rPr>
                <a:solidFill>
                  <a:srgbClr val="E5C07B"/>
                </a:solidFill>
              </a:rPr>
              <a:t>"Bob"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25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</a:t>
            </a:r>
            <a:r>
              <a:rPr>
                <a:solidFill>
                  <a:srgbClr val="E5C07B"/>
                </a:solidFill>
              </a:rPr>
              <a:t>26</a:t>
            </a:r>
            <a:r>
              <a:t>;</a:t>
            </a:r>
          </a:p>
        </p:txBody>
      </p:sp>
      <p:sp>
        <p:nvSpPr>
          <p:cNvPr id="668" name="lbl_3"/>
          <p:cNvSpPr txBox="1"/>
          <p:nvPr/>
        </p:nvSpPr>
        <p:spPr>
          <a:xfrm>
            <a:off x="1863918" y="3420678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69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dataclasses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dataclass, replace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</a:t>
            </a:r>
            <a:r>
              <a:rPr>
                <a:solidFill>
                  <a:srgbClr val="61AFEF"/>
                </a:solidFill>
              </a:rPr>
              <a:t>dataclass</a:t>
            </a:r>
            <a:r>
              <a:t>(frozen=</a:t>
            </a:r>
            <a:r>
              <a:rPr>
                <a:solidFill>
                  <a:srgbClr val="E06C75"/>
                </a:solidFill>
              </a:rPr>
              <a:t>True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</a:t>
            </a:r>
            <a:r>
              <a:rPr>
                <a:solidFill>
                  <a:srgbClr val="D0D0D0"/>
                </a:solidFill>
              </a:rPr>
              <a:t> User: name: </a:t>
            </a:r>
            <a:r>
              <a:rPr>
                <a:solidFill>
                  <a:srgbClr val="61AFEF"/>
                </a:solidFill>
              </a:rPr>
              <a:t>str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</a:t>
            </a:r>
            <a:r>
              <a:rPr>
                <a:solidFill>
                  <a:srgbClr val="E5C07B"/>
                </a:solidFill>
              </a:rPr>
              <a:t>31</a:t>
            </a:r>
            <a:r>
              <a:t>)</a:t>
            </a:r>
          </a:p>
        </p:txBody>
      </p:sp>
      <p:sp>
        <p:nvSpPr>
          <p:cNvPr id="670" name="lbl_4"/>
          <p:cNvSpPr txBox="1"/>
          <p:nvPr/>
        </p:nvSpPr>
        <p:spPr>
          <a:xfrm>
            <a:off x="4849612" y="3404568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71" name="code_4"/>
          <p:cNvSpPr txBox="1"/>
          <p:nvPr/>
        </p:nvSpPr>
        <p:spPr>
          <a:xfrm>
            <a:off x="4849612" y="3710635"/>
            <a:ext cx="3072310" cy="11000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74" name="Google Shape;61;p6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75" name="Google Shape;62;p6"/>
          <p:cNvSpPr txBox="1"/>
          <p:nvPr/>
        </p:nvSpPr>
        <p:spPr>
          <a:xfrm>
            <a:off x="2286746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76" name="Google Shape;63;p6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77" name="Google Shape;64;p6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7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79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80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81" name="lbl_0"/>
          <p:cNvSpPr txBox="1"/>
          <p:nvPr/>
        </p:nvSpPr>
        <p:spPr>
          <a:xfrm>
            <a:off x="355340" y="1810903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82" name="code_0"/>
          <p:cNvSpPr txBox="1"/>
          <p:nvPr/>
        </p:nvSpPr>
        <p:spPr>
          <a:xfrm>
            <a:off x="355342" y="2116975"/>
            <a:ext cx="2344137" cy="7737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83" name="lbl_1"/>
          <p:cNvSpPr txBox="1"/>
          <p:nvPr/>
        </p:nvSpPr>
        <p:spPr>
          <a:xfrm>
            <a:off x="2806660" y="1811091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84" name="code_1"/>
          <p:cNvSpPr txBox="1"/>
          <p:nvPr/>
        </p:nvSpPr>
        <p:spPr>
          <a:xfrm>
            <a:off x="2806660" y="2117163"/>
            <a:ext cx="2740002" cy="909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85" name="lbl_2"/>
          <p:cNvSpPr txBox="1"/>
          <p:nvPr/>
        </p:nvSpPr>
        <p:spPr>
          <a:xfrm>
            <a:off x="5985766" y="1731434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86" name="code_2"/>
          <p:cNvSpPr txBox="1"/>
          <p:nvPr/>
        </p:nvSpPr>
        <p:spPr>
          <a:xfrm>
            <a:off x="5985766" y="2037506"/>
            <a:ext cx="3071318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</a:t>
            </a:r>
            <a:r>
              <a:rPr>
                <a:solidFill>
                  <a:srgbClr val="D0D0D0"/>
                </a:solidFill>
              </a:rPr>
              <a:t> User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u32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User 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User {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draft = User { name: </a:t>
            </a:r>
            <a:r>
              <a:rPr>
                <a:solidFill>
                  <a:srgbClr val="E5C07B"/>
                </a:solidFill>
              </a:rPr>
              <a:t>"Bob"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25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</a:t>
            </a:r>
            <a:r>
              <a:rPr>
                <a:solidFill>
                  <a:srgbClr val="E5C07B"/>
                </a:solidFill>
              </a:rPr>
              <a:t>26</a:t>
            </a:r>
            <a:r>
              <a:t>;</a:t>
            </a:r>
          </a:p>
        </p:txBody>
      </p:sp>
      <p:sp>
        <p:nvSpPr>
          <p:cNvPr id="687" name="lbl_3"/>
          <p:cNvSpPr txBox="1"/>
          <p:nvPr/>
        </p:nvSpPr>
        <p:spPr>
          <a:xfrm>
            <a:off x="1863918" y="3420678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88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dataclasses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dataclass, replace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</a:t>
            </a:r>
            <a:r>
              <a:rPr>
                <a:solidFill>
                  <a:srgbClr val="61AFEF"/>
                </a:solidFill>
              </a:rPr>
              <a:t>dataclass</a:t>
            </a:r>
            <a:r>
              <a:t>(frozen=</a:t>
            </a:r>
            <a:r>
              <a:rPr>
                <a:solidFill>
                  <a:srgbClr val="E06C75"/>
                </a:solidFill>
              </a:rPr>
              <a:t>True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</a:t>
            </a:r>
            <a:r>
              <a:rPr>
                <a:solidFill>
                  <a:srgbClr val="D0D0D0"/>
                </a:solidFill>
              </a:rPr>
              <a:t> User: name: </a:t>
            </a:r>
            <a:r>
              <a:rPr>
                <a:solidFill>
                  <a:srgbClr val="61AFEF"/>
                </a:solidFill>
              </a:rPr>
              <a:t>str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</a:t>
            </a:r>
            <a:r>
              <a:rPr>
                <a:solidFill>
                  <a:srgbClr val="E5C07B"/>
                </a:solidFill>
              </a:rPr>
              <a:t>31</a:t>
            </a:r>
            <a:r>
              <a:t>)</a:t>
            </a:r>
          </a:p>
        </p:txBody>
      </p:sp>
      <p:sp>
        <p:nvSpPr>
          <p:cNvPr id="689" name="lbl_4"/>
          <p:cNvSpPr txBox="1"/>
          <p:nvPr/>
        </p:nvSpPr>
        <p:spPr>
          <a:xfrm>
            <a:off x="4849612" y="3404568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90" name="code_4"/>
          <p:cNvSpPr txBox="1"/>
          <p:nvPr/>
        </p:nvSpPr>
        <p:spPr>
          <a:xfrm>
            <a:off x="4849612" y="3710635"/>
            <a:ext cx="3072310" cy="11000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user = Object.freeze({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older = { ...user,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93" name="Google Shape;61;p6"/>
          <p:cNvSpPr/>
          <p:nvPr/>
        </p:nvSpPr>
        <p:spPr>
          <a:xfrm>
            <a:off x="2114550" y="442912"/>
            <a:ext cx="1101629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94" name="Google Shape;62;p6"/>
          <p:cNvSpPr txBox="1"/>
          <p:nvPr/>
        </p:nvSpPr>
        <p:spPr>
          <a:xfrm>
            <a:off x="2286746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95" name="Google Shape;63;p6"/>
          <p:cNvSpPr/>
          <p:nvPr/>
        </p:nvSpPr>
        <p:spPr>
          <a:xfrm>
            <a:off x="3319462" y="442912"/>
            <a:ext cx="1149265" cy="240083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96" name="Google Shape;64;p6"/>
          <p:cNvSpPr txBox="1"/>
          <p:nvPr/>
        </p:nvSpPr>
        <p:spPr>
          <a:xfrm>
            <a:off x="3491658" y="493093"/>
            <a:ext cx="804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9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98" name="title"/>
          <p:cNvSpPr txBox="1"/>
          <p:nvPr/>
        </p:nvSpPr>
        <p:spPr>
          <a:xfrm>
            <a:off x="508459" y="907440"/>
            <a:ext cx="8282424" cy="36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Итог: пять свойств × пять языков</a:t>
            </a:r>
          </a:p>
        </p:txBody>
      </p:sp>
      <p:graphicFrame>
        <p:nvGraphicFramePr>
          <p:cNvPr id="699" name="summary_table"/>
          <p:cNvGraphicFramePr/>
          <p:nvPr/>
        </p:nvGraphicFramePr>
        <p:xfrm>
          <a:off x="534871" y="1504949"/>
          <a:ext cx="8229601" cy="300000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700000"/>
                <a:gridCol w="1105920"/>
                <a:gridCol w="1105920"/>
                <a:gridCol w="1105920"/>
                <a:gridCol w="1105920"/>
                <a:gridCol w="1105920"/>
              </a:tblGrid>
              <a:tr h="439999">
                <a:tc>
                  <a:txBody>
                    <a:bodyPr/>
                    <a:lstStyle/>
                    <a:p>
                      <a:pPr/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OCaml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Scala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Rust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Python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JS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Декларативность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Выражения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Функции как значения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Чистота функций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Иммутабельность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</a:tr>
            </a:tbl>
          </a:graphicData>
        </a:graphic>
      </p:graphicFrame>
      <p:sp>
        <p:nvSpPr>
          <p:cNvPr id="700" name="legend"/>
          <p:cNvSpPr txBox="1"/>
          <p:nvPr/>
        </p:nvSpPr>
        <p:spPr>
          <a:xfrm>
            <a:off x="534870" y="4616788"/>
            <a:ext cx="822960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900">
                <a:solidFill>
                  <a:srgbClr val="E06C75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+++</a:t>
            </a:r>
            <a:r>
              <a:rPr>
                <a:solidFill>
                  <a:srgbClr val="606060"/>
                </a:solidFill>
              </a:rPr>
              <a:t> — в дизайне языка, идиоматично    </a:t>
            </a:r>
            <a:r>
              <a:rPr>
                <a:solidFill>
                  <a:srgbClr val="D0D0D0"/>
                </a:solidFill>
              </a:rPr>
              <a:t>++</a:t>
            </a:r>
            <a:r>
              <a:rPr>
                <a:solidFill>
                  <a:srgbClr val="606060"/>
                </a:solidFill>
              </a:rPr>
              <a:t> — поддерживается, требует дисциплины    + — возможно, но нетипично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